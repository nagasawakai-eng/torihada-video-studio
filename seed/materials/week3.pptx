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3.png"/><Relationship Id="rId4" Type="http://schemas.openxmlformats.org/officeDocument/2006/relationships/image" Target="../media/image-15-4.sv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7">
    <p:bg>
      <p:bgPr>
        <a:solidFill>
          <a:srgbClr val="FF4DB8"/>
        </a:solidFill>
      </p:bgPr>
    </p:bg>
    <p:spTree>
      <p:nvGrpSpPr>
        <p:cNvPr id="1" name=""/>
        <p:cNvGrpSpPr/>
        <p:nvPr/>
      </p:nvGrpSpPr>
      <p:grpSpPr>
        <a:xfrm>
          <a:off x="0" y="0"/>
          <a:ext cx="0" cy="0"/>
          <a:chOff x="0" y="0"/>
          <a:chExt cx="0" cy="0"/>
        </a:xfrm>
      </p:grpSpPr>
      <p:sp>
        <p:nvSpPr>
          <p:cNvPr id="2" name="Text 0"/>
          <p:cNvSpPr/>
          <p:nvPr/>
        </p:nvSpPr>
        <p:spPr>
          <a:xfrm>
            <a:off x="-274320" y="91440"/>
            <a:ext cx="4114800" cy="4937760"/>
          </a:xfrm>
          <a:prstGeom prst="rect">
            <a:avLst/>
          </a:prstGeom>
          <a:noFill/>
          <a:ln/>
        </p:spPr>
        <p:txBody>
          <a:bodyPr wrap="square" lIns="0" tIns="0" rIns="0" bIns="0" rtlCol="0" anchor="ctr"/>
          <a:lstStyle/>
          <a:p>
            <a:pPr algn="l" indent="0" marL="0">
              <a:buNone/>
            </a:pPr>
            <a:r>
              <a:rPr lang="en-US" sz="30000" b="1" dirty="0">
                <a:solidFill>
                  <a:srgbClr val="FFFFFF">
                    <a:alpha val="80000"/>
                  </a:srgbClr>
                </a:solidFill>
                <a:latin typeface="Meiryo" pitchFamily="34" charset="0"/>
                <a:ea typeface="Meiryo" pitchFamily="34" charset="-122"/>
                <a:cs typeface="Meiryo" pitchFamily="34" charset="-120"/>
              </a:rPr>
              <a:t>1</a:t>
            </a:r>
            <a:endParaRPr lang="en-US" sz="30000" dirty="0"/>
          </a:p>
        </p:txBody>
      </p:sp>
      <p:pic>
        <p:nvPicPr>
          <p:cNvPr id="3" name="Image 0" descr="C:\Users\長澤開\Downloads\pptx-editor\public\illustrations\megaphone.svg"/>
          <p:cNvPicPr>
            <a:picLocks noChangeAspect="1"/>
          </p:cNvPicPr>
          <p:nvPr/>
        </p:nvPicPr>
        <p:blipFill>
          <a:blip r:embed="rId1">
            <a:alphaModFix amt="90000"/>
            <a:extLst>
              <a:ext uri="{96DAC541-7B7A-43D3-8B79-37D633B846F1}">
                <asvg:svgBlip xmlns:asvg="http://schemas.microsoft.com/office/drawing/2016/SVG/main" r:embed="rId2"/>
              </a:ext>
            </a:extLst>
          </a:blip>
          <a:stretch>
            <a:fillRect/>
          </a:stretch>
        </p:blipFill>
        <p:spPr>
          <a:xfrm>
            <a:off x="6400800" y="91440"/>
            <a:ext cx="2468880" cy="2194560"/>
          </a:xfrm>
          <a:prstGeom prst="rect">
            <a:avLst/>
          </a:prstGeom>
        </p:spPr>
      </p:pic>
      <p:pic>
        <p:nvPicPr>
          <p:cNvPr id="4" name="Image 1" descr="C:\Users\長澤開\Downloads\pptx-editor\public\illustrations\warning-person.svg"/>
          <p:cNvPicPr>
            <a:picLocks noChangeAspect="1"/>
          </p:cNvPicPr>
          <p:nvPr/>
        </p:nvPicPr>
        <p:blipFill>
          <a:blip r:embed="rId3">
            <a:alphaModFix amt="90000"/>
            <a:extLst>
              <a:ext uri="{96DAC541-7B7A-43D3-8B79-37D633B846F1}">
                <asvg:svgBlip xmlns:asvg="http://schemas.microsoft.com/office/drawing/2016/SVG/main" r:embed="rId4"/>
              </a:ext>
            </a:extLst>
          </a:blip>
          <a:stretch>
            <a:fillRect/>
          </a:stretch>
        </p:blipFill>
        <p:spPr>
          <a:xfrm>
            <a:off x="6858000" y="3108960"/>
            <a:ext cx="2011680" cy="1920240"/>
          </a:xfrm>
          <a:prstGeom prst="rect">
            <a:avLst/>
          </a:prstGeom>
        </p:spPr>
      </p:pic>
      <p:pic>
        <p:nvPicPr>
          <p:cNvPr id="5" name="Image 2" descr="C:\Users\長澤開\Downloads\pptx-editor\public\illustrations\arrow.png"/>
          <p:cNvPicPr>
            <a:picLocks noChangeAspect="1"/>
          </p:cNvPicPr>
          <p:nvPr/>
        </p:nvPicPr>
        <p:blipFill>
          <a:blip r:embed="rId5">
            <a:alphaModFix amt="70000"/>
          </a:blip>
          <a:stretch>
            <a:fillRect/>
          </a:stretch>
        </p:blipFill>
        <p:spPr>
          <a:xfrm>
            <a:off x="182880" y="3474720"/>
            <a:ext cx="1645920" cy="1554480"/>
          </a:xfrm>
          <a:prstGeom prst="rect">
            <a:avLst/>
          </a:prstGeom>
        </p:spPr>
      </p:pic>
      <p:sp>
        <p:nvSpPr>
          <p:cNvPr id="6" name="Shape 1"/>
          <p:cNvSpPr/>
          <p:nvPr/>
        </p:nvSpPr>
        <p:spPr>
          <a:xfrm>
            <a:off x="2743200" y="1371600"/>
            <a:ext cx="5760720" cy="2377440"/>
          </a:xfrm>
          <a:prstGeom prst="roundRect">
            <a:avLst>
              <a:gd name="adj" fmla="val 6923"/>
            </a:avLst>
          </a:prstGeom>
          <a:solidFill>
            <a:srgbClr val="FFFFFF"/>
          </a:solidFill>
          <a:ln w="12700">
            <a:solidFill>
              <a:srgbClr val="FFFFFF"/>
            </a:solidFill>
            <a:prstDash val="solid"/>
          </a:ln>
        </p:spPr>
      </p:sp>
      <p:sp>
        <p:nvSpPr>
          <p:cNvPr id="7" name="Text 2"/>
          <p:cNvSpPr/>
          <p:nvPr/>
        </p:nvSpPr>
        <p:spPr>
          <a:xfrm>
            <a:off x="2926080" y="1600200"/>
            <a:ext cx="5394960" cy="1005840"/>
          </a:xfrm>
          <a:prstGeom prst="rect">
            <a:avLst/>
          </a:prstGeom>
          <a:noFill/>
          <a:ln/>
        </p:spPr>
        <p:txBody>
          <a:bodyPr wrap="square" rtlCol="0" anchor="ctr"/>
          <a:lstStyle/>
          <a:p>
            <a:pPr indent="0" marL="0">
              <a:buNone/>
            </a:pPr>
            <a:r>
              <a:rPr lang="en-US" sz="3800" b="1" dirty="0">
                <a:solidFill>
                  <a:srgbClr val="1A1A1A"/>
                </a:solidFill>
                <a:latin typeface="Meiryo" pitchFamily="34" charset="0"/>
                <a:ea typeface="Meiryo" pitchFamily="34" charset="-122"/>
                <a:cs typeface="Meiryo" pitchFamily="34" charset="-120"/>
              </a:rPr>
              <a:t>動画①</a:t>
            </a:r>
            <a:endParaRPr lang="en-US" sz="3800" dirty="0"/>
          </a:p>
        </p:txBody>
      </p:sp>
      <p:sp>
        <p:nvSpPr>
          <p:cNvPr id="8" name="Text 3"/>
          <p:cNvSpPr/>
          <p:nvPr/>
        </p:nvSpPr>
        <p:spPr>
          <a:xfrm>
            <a:off x="2926080" y="2606040"/>
            <a:ext cx="5394960" cy="594360"/>
          </a:xfrm>
          <a:prstGeom prst="rect">
            <a:avLst/>
          </a:prstGeom>
          <a:noFill/>
          <a:ln/>
        </p:spPr>
        <p:txBody>
          <a:bodyPr wrap="square" rtlCol="0" anchor="ctr"/>
          <a:lstStyle/>
          <a:p>
            <a:pPr indent="0" marL="0">
              <a:buNone/>
            </a:pPr>
            <a:r>
              <a:rPr lang="en-US" sz="1700" dirty="0">
                <a:solidFill>
                  <a:srgbClr val="555555"/>
                </a:solidFill>
                <a:latin typeface="Meiryo" pitchFamily="34" charset="0"/>
                <a:ea typeface="Meiryo" pitchFamily="34" charset="-122"/>
                <a:cs typeface="Meiryo" pitchFamily="34" charset="-120"/>
              </a:rPr>
              <a:t>事務手続きのキホン</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Text 55"/>
          <p:cNvSpPr/>
          <p:nvPr/>
        </p:nvSpPr>
        <p:spPr>
          <a:xfrm>
            <a:off x="457200" y="228600"/>
            <a:ext cx="8229600" cy="640080"/>
          </a:xfrm>
          <a:prstGeom prst="rect">
            <a:avLst/>
          </a:prstGeom>
          <a:noFill/>
          <a:ln/>
        </p:spPr>
        <p:txBody>
          <a:bodyPr wrap="square" rtlCol="0" anchor="ctr"/>
          <a:lstStyle/>
          <a:p>
            <a:pPr indent="0" marL="0">
              <a:buNone/>
            </a:pPr>
            <a:r>
              <a:rPr lang="en-US" sz="3200" b="1" dirty="0">
                <a:solidFill>
                  <a:srgbClr val="1A1A1A"/>
                </a:solidFill>
                <a:latin typeface="Meiryo" pitchFamily="34" charset="0"/>
                <a:ea typeface="Meiryo" pitchFamily="34" charset="-122"/>
                <a:cs typeface="Meiryo" pitchFamily="34" charset="-120"/>
              </a:rPr>
              <a:t>この動画で学ぶこと</a:t>
            </a:r>
            <a:endParaRPr lang="en-US" sz="3200" dirty="0"/>
          </a:p>
        </p:txBody>
      </p:sp>
      <p:sp>
        <p:nvSpPr>
          <p:cNvPr id="58" name="Shape 56"/>
          <p:cNvSpPr/>
          <p:nvPr/>
        </p:nvSpPr>
        <p:spPr>
          <a:xfrm>
            <a:off x="457200" y="850392"/>
            <a:ext cx="8229600" cy="36576"/>
          </a:xfrm>
          <a:prstGeom prst="rect">
            <a:avLst/>
          </a:prstGeom>
          <a:solidFill>
            <a:srgbClr val="FFB3E0"/>
          </a:solidFill>
          <a:ln w="12700">
            <a:solidFill>
              <a:srgbClr val="FFB3E0"/>
            </a:solidFill>
            <a:prstDash val="solid"/>
          </a:ln>
        </p:spPr>
      </p:sp>
      <p:sp>
        <p:nvSpPr>
          <p:cNvPr id="59" name="Shape 57"/>
          <p:cNvSpPr/>
          <p:nvPr/>
        </p:nvSpPr>
        <p:spPr>
          <a:xfrm>
            <a:off x="45720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60" name="Image 0" descr="C:\Users\長澤開\Downloads\pptx-editor\public\illustrations\handshake.png"/>
          <p:cNvPicPr>
            <a:picLocks noChangeAspect="1"/>
          </p:cNvPicPr>
          <p:nvPr/>
        </p:nvPicPr>
        <p:blipFill>
          <a:blip r:embed="rId1"/>
          <a:stretch>
            <a:fillRect/>
          </a:stretch>
        </p:blipFill>
        <p:spPr>
          <a:xfrm>
            <a:off x="868680" y="1051560"/>
            <a:ext cx="1828800" cy="1417320"/>
          </a:xfrm>
          <a:prstGeom prst="rect">
            <a:avLst/>
          </a:prstGeom>
        </p:spPr>
      </p:pic>
      <p:sp>
        <p:nvSpPr>
          <p:cNvPr id="61" name="Shape 58"/>
          <p:cNvSpPr/>
          <p:nvPr/>
        </p:nvSpPr>
        <p:spPr>
          <a:xfrm>
            <a:off x="566928" y="2578608"/>
            <a:ext cx="548640" cy="548640"/>
          </a:xfrm>
          <a:prstGeom prst="ellipse">
            <a:avLst/>
          </a:prstGeom>
          <a:solidFill>
            <a:srgbClr val="FF4DB8"/>
          </a:solidFill>
          <a:ln w="12700">
            <a:solidFill>
              <a:srgbClr val="FF4DB8"/>
            </a:solidFill>
            <a:prstDash val="solid"/>
          </a:ln>
        </p:spPr>
      </p:sp>
      <p:sp>
        <p:nvSpPr>
          <p:cNvPr id="62" name="Text 59"/>
          <p:cNvSpPr/>
          <p:nvPr/>
        </p:nvSpPr>
        <p:spPr>
          <a:xfrm>
            <a:off x="56692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01</a:t>
            </a:r>
            <a:endParaRPr lang="en-US" sz="1800" dirty="0"/>
          </a:p>
        </p:txBody>
      </p:sp>
      <p:sp>
        <p:nvSpPr>
          <p:cNvPr id="63" name="Text 60"/>
          <p:cNvSpPr/>
          <p:nvPr/>
        </p:nvSpPr>
        <p:spPr>
          <a:xfrm>
            <a:off x="59436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発注書・納品書 請求書の役割</a:t>
            </a:r>
            <a:endParaRPr lang="en-US" sz="1500" dirty="0"/>
          </a:p>
        </p:txBody>
      </p:sp>
      <p:sp>
        <p:nvSpPr>
          <p:cNvPr id="64" name="Text 61"/>
          <p:cNvSpPr/>
          <p:nvPr/>
        </p:nvSpPr>
        <p:spPr>
          <a:xfrm>
            <a:off x="59436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3種類の書類がそれぞれ</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何のためにあるか</a:t>
            </a:r>
            <a:endParaRPr lang="en-US" sz="1200" dirty="0"/>
          </a:p>
        </p:txBody>
      </p:sp>
      <p:sp>
        <p:nvSpPr>
          <p:cNvPr id="65" name="Shape 62"/>
          <p:cNvSpPr/>
          <p:nvPr/>
        </p:nvSpPr>
        <p:spPr>
          <a:xfrm>
            <a:off x="329184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66" name="Image 1" descr="C:\Users\長澤開\Downloads\pptx-editor\public\illustrations\star.png"/>
          <p:cNvPicPr>
            <a:picLocks noChangeAspect="1"/>
          </p:cNvPicPr>
          <p:nvPr/>
        </p:nvPicPr>
        <p:blipFill>
          <a:blip r:embed="rId2"/>
          <a:stretch>
            <a:fillRect/>
          </a:stretch>
        </p:blipFill>
        <p:spPr>
          <a:xfrm>
            <a:off x="3703320" y="1051560"/>
            <a:ext cx="1828800" cy="1417320"/>
          </a:xfrm>
          <a:prstGeom prst="rect">
            <a:avLst/>
          </a:prstGeom>
        </p:spPr>
      </p:pic>
      <p:sp>
        <p:nvSpPr>
          <p:cNvPr id="67" name="Shape 63"/>
          <p:cNvSpPr/>
          <p:nvPr/>
        </p:nvSpPr>
        <p:spPr>
          <a:xfrm>
            <a:off x="3401568" y="2578608"/>
            <a:ext cx="548640" cy="548640"/>
          </a:xfrm>
          <a:prstGeom prst="ellipse">
            <a:avLst/>
          </a:prstGeom>
          <a:solidFill>
            <a:srgbClr val="FF4DB8"/>
          </a:solidFill>
          <a:ln w="12700">
            <a:solidFill>
              <a:srgbClr val="FF4DB8"/>
            </a:solidFill>
            <a:prstDash val="solid"/>
          </a:ln>
        </p:spPr>
      </p:sp>
      <p:sp>
        <p:nvSpPr>
          <p:cNvPr id="68" name="Text 64"/>
          <p:cNvSpPr/>
          <p:nvPr/>
        </p:nvSpPr>
        <p:spPr>
          <a:xfrm>
            <a:off x="340156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02</a:t>
            </a:r>
            <a:endParaRPr lang="en-US" sz="1800" dirty="0"/>
          </a:p>
        </p:txBody>
      </p:sp>
      <p:sp>
        <p:nvSpPr>
          <p:cNvPr id="69" name="Text 65"/>
          <p:cNvSpPr/>
          <p:nvPr/>
        </p:nvSpPr>
        <p:spPr>
          <a:xfrm>
            <a:off x="342900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実施確定連絡で確認すべきこと</a:t>
            </a:r>
            <a:endParaRPr lang="en-US" sz="1500" dirty="0"/>
          </a:p>
        </p:txBody>
      </p:sp>
      <p:sp>
        <p:nvSpPr>
          <p:cNvPr id="70" name="Text 66"/>
          <p:cNvSpPr/>
          <p:nvPr/>
        </p:nvSpPr>
        <p:spPr>
          <a:xfrm>
            <a:off x="342900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届いたらまず何を見るべきか</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71" name="Shape 67"/>
          <p:cNvSpPr/>
          <p:nvPr/>
        </p:nvSpPr>
        <p:spPr>
          <a:xfrm>
            <a:off x="612648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72" name="Image 2" descr="C:\Users\長澤開\Downloads\pptx-editor\public\illustrations\lightbulb.png"/>
          <p:cNvPicPr>
            <a:picLocks noChangeAspect="1"/>
          </p:cNvPicPr>
          <p:nvPr/>
        </p:nvPicPr>
        <p:blipFill>
          <a:blip r:embed="rId3"/>
          <a:stretch>
            <a:fillRect/>
          </a:stretch>
        </p:blipFill>
        <p:spPr>
          <a:xfrm>
            <a:off x="6537960" y="1051560"/>
            <a:ext cx="1828800" cy="1417320"/>
          </a:xfrm>
          <a:prstGeom prst="rect">
            <a:avLst/>
          </a:prstGeom>
        </p:spPr>
      </p:pic>
      <p:sp>
        <p:nvSpPr>
          <p:cNvPr id="73" name="Shape 68"/>
          <p:cNvSpPr/>
          <p:nvPr/>
        </p:nvSpPr>
        <p:spPr>
          <a:xfrm>
            <a:off x="6236208" y="2578608"/>
            <a:ext cx="548640" cy="548640"/>
          </a:xfrm>
          <a:prstGeom prst="ellipse">
            <a:avLst/>
          </a:prstGeom>
          <a:solidFill>
            <a:srgbClr val="FF4DB8"/>
          </a:solidFill>
          <a:ln w="12700">
            <a:solidFill>
              <a:srgbClr val="FF4DB8"/>
            </a:solidFill>
            <a:prstDash val="solid"/>
          </a:ln>
        </p:spPr>
      </p:sp>
      <p:sp>
        <p:nvSpPr>
          <p:cNvPr id="74" name="Text 69"/>
          <p:cNvSpPr/>
          <p:nvPr/>
        </p:nvSpPr>
        <p:spPr>
          <a:xfrm>
            <a:off x="623620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03</a:t>
            </a:r>
            <a:endParaRPr lang="en-US" sz="1800" dirty="0"/>
          </a:p>
        </p:txBody>
      </p:sp>
      <p:sp>
        <p:nvSpPr>
          <p:cNvPr id="75" name="Text 70"/>
          <p:cNvSpPr/>
          <p:nvPr/>
        </p:nvSpPr>
        <p:spPr>
          <a:xfrm>
            <a:off x="626364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書類が遅れると何が起きるか</a:t>
            </a:r>
            <a:endParaRPr lang="en-US" sz="1500" dirty="0"/>
          </a:p>
        </p:txBody>
      </p:sp>
      <p:sp>
        <p:nvSpPr>
          <p:cNvPr id="76" name="Text 71"/>
          <p:cNvSpPr/>
          <p:nvPr/>
        </p:nvSpPr>
        <p:spPr>
          <a:xfrm>
            <a:off x="626364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報酬や信頼への影響を</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理解する</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9">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73075"/>
            <a:ext cx="8321040" cy="344729"/>
          </a:xfrm>
          <a:prstGeom prst="rect">
            <a:avLst/>
          </a:prstGeom>
          <a:solidFill>
            <a:srgbClr val="FFE455"/>
          </a:solidFill>
          <a:ln w="12700">
            <a:solidFill>
              <a:srgbClr val="FFE455"/>
            </a:solidFill>
            <a:prstDash val="solid"/>
          </a:ln>
        </p:spPr>
      </p:sp>
      <p:sp>
        <p:nvSpPr>
          <p:cNvPr id="58" name="Text 56"/>
          <p:cNvSpPr/>
          <p:nvPr/>
        </p:nvSpPr>
        <p:spPr>
          <a:xfrm>
            <a:off x="457200" y="182880"/>
            <a:ext cx="8229600" cy="594360"/>
          </a:xfrm>
          <a:prstGeom prst="rect">
            <a:avLst/>
          </a:prstGeom>
          <a:noFill/>
          <a:ln/>
        </p:spPr>
        <p:txBody>
          <a:bodyPr wrap="square" rtlCol="0" anchor="ctr"/>
          <a:lstStyle/>
          <a:p>
            <a:pPr indent="0" marL="0">
              <a:buNone/>
            </a:pPr>
            <a:r>
              <a:rPr lang="en-US" sz="2600" b="1" dirty="0">
                <a:solidFill>
                  <a:srgbClr val="1A1A1A"/>
                </a:solidFill>
                <a:latin typeface="Meiryo" pitchFamily="34" charset="0"/>
                <a:ea typeface="Meiryo" pitchFamily="34" charset="-122"/>
                <a:cs typeface="Meiryo" pitchFamily="34" charset="-120"/>
              </a:rPr>
              <a:t>3種類の書類、何のためにある？</a:t>
            </a:r>
            <a:endParaRPr lang="en-US" sz="2600" dirty="0"/>
          </a:p>
        </p:txBody>
      </p:sp>
      <p:sp>
        <p:nvSpPr>
          <p:cNvPr id="59" name="Shape 57"/>
          <p:cNvSpPr/>
          <p:nvPr/>
        </p:nvSpPr>
        <p:spPr>
          <a:xfrm>
            <a:off x="457200" y="758952"/>
            <a:ext cx="8229600" cy="36576"/>
          </a:xfrm>
          <a:prstGeom prst="rect">
            <a:avLst/>
          </a:prstGeom>
          <a:solidFill>
            <a:srgbClr val="FFB3E0"/>
          </a:solidFill>
          <a:ln w="12700">
            <a:solidFill>
              <a:srgbClr val="FFB3E0"/>
            </a:solidFill>
            <a:prstDash val="solid"/>
          </a:ln>
        </p:spPr>
      </p:sp>
      <p:sp>
        <p:nvSpPr>
          <p:cNvPr id="60" name="Shape 58"/>
          <p:cNvSpPr/>
          <p:nvPr/>
        </p:nvSpPr>
        <p:spPr>
          <a:xfrm>
            <a:off x="36576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1" name="Shape 59"/>
          <p:cNvSpPr/>
          <p:nvPr/>
        </p:nvSpPr>
        <p:spPr>
          <a:xfrm>
            <a:off x="457200" y="1143000"/>
            <a:ext cx="548640" cy="411480"/>
          </a:xfrm>
          <a:prstGeom prst="roundRect">
            <a:avLst>
              <a:gd name="adj" fmla="val 15556"/>
            </a:avLst>
          </a:prstGeom>
          <a:solidFill>
            <a:srgbClr val="E63946"/>
          </a:solidFill>
          <a:ln w="12700">
            <a:solidFill>
              <a:srgbClr val="E63946"/>
            </a:solidFill>
            <a:prstDash val="solid"/>
          </a:ln>
        </p:spPr>
      </p:sp>
      <p:sp>
        <p:nvSpPr>
          <p:cNvPr id="62" name="Text 60"/>
          <p:cNvSpPr/>
          <p:nvPr/>
        </p:nvSpPr>
        <p:spPr>
          <a:xfrm>
            <a:off x="45720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63" name="Shape 61"/>
          <p:cNvSpPr/>
          <p:nvPr/>
        </p:nvSpPr>
        <p:spPr>
          <a:xfrm>
            <a:off x="3749040" y="1143000"/>
            <a:ext cx="685800" cy="365760"/>
          </a:xfrm>
          <a:prstGeom prst="roundRect">
            <a:avLst>
              <a:gd name="adj" fmla="val 12500"/>
            </a:avLst>
          </a:prstGeom>
          <a:solidFill>
            <a:srgbClr val="FFE6F3"/>
          </a:solidFill>
          <a:ln w="12700">
            <a:solidFill>
              <a:srgbClr val="FF4DB8"/>
            </a:solidFill>
            <a:prstDash val="solid"/>
          </a:ln>
        </p:spPr>
      </p:sp>
      <p:sp>
        <p:nvSpPr>
          <p:cNvPr id="64" name="Text 62"/>
          <p:cNvSpPr/>
          <p:nvPr/>
        </p:nvSpPr>
        <p:spPr>
          <a:xfrm>
            <a:off x="374904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65" name="Text 63"/>
          <p:cNvSpPr/>
          <p:nvPr/>
        </p:nvSpPr>
        <p:spPr>
          <a:xfrm>
            <a:off x="109728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発注書・納品書・請求書の3点セットで、あなたの報酬が守られる</a:t>
            </a:r>
            <a:endParaRPr lang="en-US" sz="1300" dirty="0"/>
          </a:p>
        </p:txBody>
      </p:sp>
      <p:sp>
        <p:nvSpPr>
          <p:cNvPr id="66" name="Text 64"/>
          <p:cNvSpPr/>
          <p:nvPr/>
        </p:nvSpPr>
        <p:spPr>
          <a:xfrm>
            <a:off x="45720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67" name="Shape 65"/>
          <p:cNvSpPr/>
          <p:nvPr/>
        </p:nvSpPr>
        <p:spPr>
          <a:xfrm>
            <a:off x="475488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8" name="Shape 66"/>
          <p:cNvSpPr/>
          <p:nvPr/>
        </p:nvSpPr>
        <p:spPr>
          <a:xfrm>
            <a:off x="4846320" y="1143000"/>
            <a:ext cx="548640" cy="411480"/>
          </a:xfrm>
          <a:prstGeom prst="roundRect">
            <a:avLst>
              <a:gd name="adj" fmla="val 15556"/>
            </a:avLst>
          </a:prstGeom>
          <a:solidFill>
            <a:srgbClr val="E63946"/>
          </a:solidFill>
          <a:ln w="12700">
            <a:solidFill>
              <a:srgbClr val="E63946"/>
            </a:solidFill>
            <a:prstDash val="solid"/>
          </a:ln>
        </p:spPr>
      </p:sp>
      <p:sp>
        <p:nvSpPr>
          <p:cNvPr id="69" name="Text 67"/>
          <p:cNvSpPr/>
          <p:nvPr/>
        </p:nvSpPr>
        <p:spPr>
          <a:xfrm>
            <a:off x="484632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0" name="Shape 68"/>
          <p:cNvSpPr/>
          <p:nvPr/>
        </p:nvSpPr>
        <p:spPr>
          <a:xfrm>
            <a:off x="8138160" y="1143000"/>
            <a:ext cx="685800" cy="365760"/>
          </a:xfrm>
          <a:prstGeom prst="roundRect">
            <a:avLst>
              <a:gd name="adj" fmla="val 12500"/>
            </a:avLst>
          </a:prstGeom>
          <a:solidFill>
            <a:srgbClr val="FFE6F3"/>
          </a:solidFill>
          <a:ln w="12700">
            <a:solidFill>
              <a:srgbClr val="FF4DB8"/>
            </a:solidFill>
            <a:prstDash val="solid"/>
          </a:ln>
        </p:spPr>
      </p:sp>
      <p:sp>
        <p:nvSpPr>
          <p:cNvPr id="71" name="Text 69"/>
          <p:cNvSpPr/>
          <p:nvPr/>
        </p:nvSpPr>
        <p:spPr>
          <a:xfrm>
            <a:off x="813816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2" name="Text 70"/>
          <p:cNvSpPr/>
          <p:nvPr/>
        </p:nvSpPr>
        <p:spPr>
          <a:xfrm>
            <a:off x="548640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発注書：「この内容・この金額で仕事をお願いします」という正式な依頼書類</a:t>
            </a:r>
            <a:endParaRPr lang="en-US" sz="1300" dirty="0"/>
          </a:p>
        </p:txBody>
      </p:sp>
      <p:sp>
        <p:nvSpPr>
          <p:cNvPr id="73" name="Text 71"/>
          <p:cNvSpPr/>
          <p:nvPr/>
        </p:nvSpPr>
        <p:spPr>
          <a:xfrm>
            <a:off x="484632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74" name="Shape 72"/>
          <p:cNvSpPr/>
          <p:nvPr/>
        </p:nvSpPr>
        <p:spPr>
          <a:xfrm>
            <a:off x="36576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75" name="Shape 73"/>
          <p:cNvSpPr/>
          <p:nvPr/>
        </p:nvSpPr>
        <p:spPr>
          <a:xfrm>
            <a:off x="457200" y="3017520"/>
            <a:ext cx="548640" cy="411480"/>
          </a:xfrm>
          <a:prstGeom prst="roundRect">
            <a:avLst>
              <a:gd name="adj" fmla="val 15556"/>
            </a:avLst>
          </a:prstGeom>
          <a:solidFill>
            <a:srgbClr val="E63946"/>
          </a:solidFill>
          <a:ln w="12700">
            <a:solidFill>
              <a:srgbClr val="E63946"/>
            </a:solidFill>
            <a:prstDash val="solid"/>
          </a:ln>
        </p:spPr>
      </p:sp>
      <p:sp>
        <p:nvSpPr>
          <p:cNvPr id="76" name="Text 74"/>
          <p:cNvSpPr/>
          <p:nvPr/>
        </p:nvSpPr>
        <p:spPr>
          <a:xfrm>
            <a:off x="45720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7" name="Shape 75"/>
          <p:cNvSpPr/>
          <p:nvPr/>
        </p:nvSpPr>
        <p:spPr>
          <a:xfrm>
            <a:off x="3749040" y="3017520"/>
            <a:ext cx="685800" cy="365760"/>
          </a:xfrm>
          <a:prstGeom prst="roundRect">
            <a:avLst>
              <a:gd name="adj" fmla="val 12500"/>
            </a:avLst>
          </a:prstGeom>
          <a:solidFill>
            <a:srgbClr val="FFE6F3"/>
          </a:solidFill>
          <a:ln w="12700">
            <a:solidFill>
              <a:srgbClr val="FF4DB8"/>
            </a:solidFill>
            <a:prstDash val="solid"/>
          </a:ln>
        </p:spPr>
      </p:sp>
      <p:sp>
        <p:nvSpPr>
          <p:cNvPr id="78" name="Text 76"/>
          <p:cNvSpPr/>
          <p:nvPr/>
        </p:nvSpPr>
        <p:spPr>
          <a:xfrm>
            <a:off x="374904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9" name="Text 77"/>
          <p:cNvSpPr/>
          <p:nvPr/>
        </p:nvSpPr>
        <p:spPr>
          <a:xfrm>
            <a:off x="109728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納品書：「仕事を完成させてお渡ししました」という証明書類</a:t>
            </a:r>
            <a:endParaRPr lang="en-US" sz="1300" dirty="0"/>
          </a:p>
        </p:txBody>
      </p:sp>
      <p:sp>
        <p:nvSpPr>
          <p:cNvPr id="80" name="Text 78"/>
          <p:cNvSpPr/>
          <p:nvPr/>
        </p:nvSpPr>
        <p:spPr>
          <a:xfrm>
            <a:off x="45720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81" name="Shape 79"/>
          <p:cNvSpPr/>
          <p:nvPr/>
        </p:nvSpPr>
        <p:spPr>
          <a:xfrm>
            <a:off x="475488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82" name="Shape 80"/>
          <p:cNvSpPr/>
          <p:nvPr/>
        </p:nvSpPr>
        <p:spPr>
          <a:xfrm>
            <a:off x="4846320" y="3017520"/>
            <a:ext cx="548640" cy="411480"/>
          </a:xfrm>
          <a:prstGeom prst="roundRect">
            <a:avLst>
              <a:gd name="adj" fmla="val 15556"/>
            </a:avLst>
          </a:prstGeom>
          <a:solidFill>
            <a:srgbClr val="E63946"/>
          </a:solidFill>
          <a:ln w="12700">
            <a:solidFill>
              <a:srgbClr val="E63946"/>
            </a:solidFill>
            <a:prstDash val="solid"/>
          </a:ln>
        </p:spPr>
      </p:sp>
      <p:sp>
        <p:nvSpPr>
          <p:cNvPr id="83" name="Text 81"/>
          <p:cNvSpPr/>
          <p:nvPr/>
        </p:nvSpPr>
        <p:spPr>
          <a:xfrm>
            <a:off x="484632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84" name="Shape 82"/>
          <p:cNvSpPr/>
          <p:nvPr/>
        </p:nvSpPr>
        <p:spPr>
          <a:xfrm>
            <a:off x="8138160" y="3017520"/>
            <a:ext cx="685800" cy="365760"/>
          </a:xfrm>
          <a:prstGeom prst="roundRect">
            <a:avLst>
              <a:gd name="adj" fmla="val 12500"/>
            </a:avLst>
          </a:prstGeom>
          <a:solidFill>
            <a:srgbClr val="FFE6F3"/>
          </a:solidFill>
          <a:ln w="12700">
            <a:solidFill>
              <a:srgbClr val="FF4DB8"/>
            </a:solidFill>
            <a:prstDash val="solid"/>
          </a:ln>
        </p:spPr>
      </p:sp>
      <p:sp>
        <p:nvSpPr>
          <p:cNvPr id="85" name="Text 83"/>
          <p:cNvSpPr/>
          <p:nvPr/>
        </p:nvSpPr>
        <p:spPr>
          <a:xfrm>
            <a:off x="813816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86" name="Text 84"/>
          <p:cNvSpPr/>
          <p:nvPr/>
        </p:nvSpPr>
        <p:spPr>
          <a:xfrm>
            <a:off x="548640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請求書：「報酬をお支払いください」という正式な請求書類</a:t>
            </a:r>
            <a:endParaRPr lang="en-US" sz="1300" dirty="0"/>
          </a:p>
        </p:txBody>
      </p:sp>
      <p:sp>
        <p:nvSpPr>
          <p:cNvPr id="87" name="Text 85"/>
          <p:cNvSpPr/>
          <p:nvPr/>
        </p:nvSpPr>
        <p:spPr>
          <a:xfrm>
            <a:off x="484632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どれか一つ欠けても、支払いが遅れる原因になります</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8">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12725"/>
            <a:ext cx="8321040" cy="318211"/>
          </a:xfrm>
          <a:prstGeom prst="rect">
            <a:avLst/>
          </a:prstGeom>
          <a:solidFill>
            <a:srgbClr val="FFE455"/>
          </a:solidFill>
          <a:ln w="12700">
            <a:solidFill>
              <a:srgbClr val="FFE455"/>
            </a:solidFill>
            <a:prstDash val="solid"/>
          </a:ln>
        </p:spPr>
      </p:sp>
      <p:sp>
        <p:nvSpPr>
          <p:cNvPr id="58" name="Text 56"/>
          <p:cNvSpPr/>
          <p:nvPr/>
        </p:nvSpPr>
        <p:spPr>
          <a:xfrm>
            <a:off x="457200" y="137160"/>
            <a:ext cx="8229600" cy="548640"/>
          </a:xfrm>
          <a:prstGeom prst="rect">
            <a:avLst/>
          </a:prstGeom>
          <a:noFill/>
          <a:ln/>
        </p:spPr>
        <p:txBody>
          <a:bodyPr wrap="square" rtlCol="0" anchor="ctr"/>
          <a:lstStyle/>
          <a:p>
            <a:pPr indent="0" marL="0">
              <a:buNone/>
            </a:pPr>
            <a:r>
              <a:rPr lang="en-US" sz="2600" b="1" dirty="0">
                <a:solidFill>
                  <a:srgbClr val="1A1A1A"/>
                </a:solidFill>
                <a:latin typeface="Meiryo" pitchFamily="34" charset="0"/>
                <a:ea typeface="Meiryo" pitchFamily="34" charset="-122"/>
                <a:cs typeface="Meiryo" pitchFamily="34" charset="-120"/>
              </a:rPr>
              <a:t>実施確定連絡が届いたらまず確認！</a:t>
            </a:r>
            <a:endParaRPr lang="en-US" sz="2600" dirty="0"/>
          </a:p>
        </p:txBody>
      </p:sp>
      <p:sp>
        <p:nvSpPr>
          <p:cNvPr id="59" name="Shape 57"/>
          <p:cNvSpPr/>
          <p:nvPr/>
        </p:nvSpPr>
        <p:spPr>
          <a:xfrm>
            <a:off x="457200" y="667512"/>
            <a:ext cx="8229600" cy="36576"/>
          </a:xfrm>
          <a:prstGeom prst="rect">
            <a:avLst/>
          </a:prstGeom>
          <a:solidFill>
            <a:srgbClr val="FFB3E0"/>
          </a:solidFill>
          <a:ln w="12700">
            <a:solidFill>
              <a:srgbClr val="FFB3E0"/>
            </a:solidFill>
            <a:prstDash val="solid"/>
          </a:ln>
        </p:spPr>
      </p:sp>
      <p:sp>
        <p:nvSpPr>
          <p:cNvPr id="60" name="Text 58"/>
          <p:cNvSpPr/>
          <p:nvPr/>
        </p:nvSpPr>
        <p:spPr>
          <a:xfrm>
            <a:off x="457200" y="713232"/>
            <a:ext cx="8229600" cy="292608"/>
          </a:xfrm>
          <a:prstGeom prst="rect">
            <a:avLst/>
          </a:prstGeom>
          <a:noFill/>
          <a:ln/>
        </p:spPr>
        <p:txBody>
          <a:bodyPr wrap="square" rtlCol="0" anchor="ctr"/>
          <a:lstStyle/>
          <a:p>
            <a:pPr indent="0" marL="0">
              <a:buNone/>
            </a:pPr>
            <a:r>
              <a:rPr lang="en-US" sz="1300" dirty="0">
                <a:solidFill>
                  <a:srgbClr val="555555"/>
                </a:solidFill>
                <a:latin typeface="Meiryo" pitchFamily="34" charset="0"/>
                <a:ea typeface="Meiryo" pitchFamily="34" charset="-122"/>
                <a:cs typeface="Meiryo" pitchFamily="34" charset="-120"/>
              </a:rPr>
              <a:t>疑問点はこの段階で必ず確認しましょう</a:t>
            </a:r>
            <a:endParaRPr lang="en-US" sz="1300" dirty="0"/>
          </a:p>
        </p:txBody>
      </p:sp>
      <p:sp>
        <p:nvSpPr>
          <p:cNvPr id="61" name="Shape 59"/>
          <p:cNvSpPr/>
          <p:nvPr/>
        </p:nvSpPr>
        <p:spPr>
          <a:xfrm>
            <a:off x="365760" y="1097280"/>
            <a:ext cx="4206240" cy="347472"/>
          </a:xfrm>
          <a:prstGeom prst="roundRect">
            <a:avLst>
              <a:gd name="adj" fmla="val 18421"/>
            </a:avLst>
          </a:prstGeom>
          <a:solidFill>
            <a:srgbClr val="2A9D8F"/>
          </a:solidFill>
          <a:ln w="12700">
            <a:solidFill>
              <a:srgbClr val="2A9D8F"/>
            </a:solidFill>
            <a:prstDash val="solid"/>
          </a:ln>
        </p:spPr>
      </p:sp>
      <p:sp>
        <p:nvSpPr>
          <p:cNvPr id="62" name="Text 60"/>
          <p:cNvSpPr/>
          <p:nvPr/>
        </p:nvSpPr>
        <p:spPr>
          <a:xfrm>
            <a:off x="365760" y="1097280"/>
            <a:ext cx="4206240" cy="347472"/>
          </a:xfrm>
          <a:prstGeom prst="rect">
            <a:avLst/>
          </a:prstGeom>
          <a:noFill/>
          <a:ln/>
        </p:spPr>
        <p:txBody>
          <a:bodyPr wrap="square"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 確認すること</a:t>
            </a:r>
            <a:endParaRPr lang="en-US" sz="1200" dirty="0"/>
          </a:p>
        </p:txBody>
      </p:sp>
      <p:sp>
        <p:nvSpPr>
          <p:cNvPr id="63" name="Shape 61"/>
          <p:cNvSpPr/>
          <p:nvPr/>
        </p:nvSpPr>
        <p:spPr>
          <a:xfrm>
            <a:off x="365760" y="1490472"/>
            <a:ext cx="4206240" cy="429768"/>
          </a:xfrm>
          <a:prstGeom prst="rect">
            <a:avLst/>
          </a:prstGeom>
          <a:solidFill>
            <a:srgbClr val="FFFFFF"/>
          </a:solidFill>
          <a:ln w="6350">
            <a:solidFill>
              <a:srgbClr val="C8E6C9"/>
            </a:solidFill>
            <a:prstDash val="solid"/>
          </a:ln>
        </p:spPr>
      </p:sp>
      <p:sp>
        <p:nvSpPr>
          <p:cNvPr id="64" name="Text 62"/>
          <p:cNvSpPr/>
          <p:nvPr/>
        </p:nvSpPr>
        <p:spPr>
          <a:xfrm>
            <a:off x="475488" y="1499616"/>
            <a:ext cx="3977640" cy="402336"/>
          </a:xfrm>
          <a:prstGeom prst="rect">
            <a:avLst/>
          </a:prstGeom>
          <a:noFill/>
          <a:ln/>
        </p:spPr>
        <p:txBody>
          <a:bodyPr wrap="square" rtlCol="0" anchor="ctr"/>
          <a:lstStyle/>
          <a:p>
            <a:pPr indent="0" marL="0">
              <a:buNone/>
            </a:pPr>
            <a:r>
              <a:rPr lang="en-US" sz="1000" dirty="0">
                <a:solidFill>
                  <a:srgbClr val="1A1A1A"/>
                </a:solidFill>
                <a:latin typeface="Meiryo" pitchFamily="34" charset="0"/>
                <a:ea typeface="Meiryo" pitchFamily="34" charset="-122"/>
                <a:cs typeface="Meiryo" pitchFamily="34" charset="-120"/>
              </a:rPr>
              <a:t>✓  案件内容・PR商品に間違いはないか</a:t>
            </a:r>
            <a:endParaRPr lang="en-US" sz="1000" dirty="0"/>
          </a:p>
        </p:txBody>
      </p:sp>
      <p:sp>
        <p:nvSpPr>
          <p:cNvPr id="65" name="Shape 63"/>
          <p:cNvSpPr/>
          <p:nvPr/>
        </p:nvSpPr>
        <p:spPr>
          <a:xfrm>
            <a:off x="365760" y="1965960"/>
            <a:ext cx="4206240" cy="429768"/>
          </a:xfrm>
          <a:prstGeom prst="rect">
            <a:avLst/>
          </a:prstGeom>
          <a:solidFill>
            <a:srgbClr val="F5FFF7"/>
          </a:solidFill>
          <a:ln w="6350">
            <a:solidFill>
              <a:srgbClr val="C8E6C9"/>
            </a:solidFill>
            <a:prstDash val="solid"/>
          </a:ln>
        </p:spPr>
      </p:sp>
      <p:sp>
        <p:nvSpPr>
          <p:cNvPr id="66" name="Text 64"/>
          <p:cNvSpPr/>
          <p:nvPr/>
        </p:nvSpPr>
        <p:spPr>
          <a:xfrm>
            <a:off x="475488" y="1975104"/>
            <a:ext cx="3977640" cy="402336"/>
          </a:xfrm>
          <a:prstGeom prst="rect">
            <a:avLst/>
          </a:prstGeom>
          <a:noFill/>
          <a:ln/>
        </p:spPr>
        <p:txBody>
          <a:bodyPr wrap="square" rtlCol="0" anchor="ctr"/>
          <a:lstStyle/>
          <a:p>
            <a:pPr indent="0" marL="0">
              <a:buNone/>
            </a:pPr>
            <a:r>
              <a:rPr lang="en-US" sz="1000" dirty="0">
                <a:solidFill>
                  <a:srgbClr val="1A1A1A"/>
                </a:solidFill>
                <a:latin typeface="Meiryo" pitchFamily="34" charset="0"/>
                <a:ea typeface="Meiryo" pitchFamily="34" charset="-122"/>
                <a:cs typeface="Meiryo" pitchFamily="34" charset="-120"/>
              </a:rPr>
              <a:t>✓  報酬金額は想定通りか</a:t>
            </a:r>
            <a:endParaRPr lang="en-US" sz="1000" dirty="0"/>
          </a:p>
        </p:txBody>
      </p:sp>
      <p:sp>
        <p:nvSpPr>
          <p:cNvPr id="67" name="Shape 65"/>
          <p:cNvSpPr/>
          <p:nvPr/>
        </p:nvSpPr>
        <p:spPr>
          <a:xfrm>
            <a:off x="365760" y="2441448"/>
            <a:ext cx="4206240" cy="429768"/>
          </a:xfrm>
          <a:prstGeom prst="rect">
            <a:avLst/>
          </a:prstGeom>
          <a:solidFill>
            <a:srgbClr val="FFFFFF"/>
          </a:solidFill>
          <a:ln w="6350">
            <a:solidFill>
              <a:srgbClr val="C8E6C9"/>
            </a:solidFill>
            <a:prstDash val="solid"/>
          </a:ln>
        </p:spPr>
      </p:sp>
      <p:sp>
        <p:nvSpPr>
          <p:cNvPr id="68" name="Text 66"/>
          <p:cNvSpPr/>
          <p:nvPr/>
        </p:nvSpPr>
        <p:spPr>
          <a:xfrm>
            <a:off x="475488" y="2450592"/>
            <a:ext cx="3977640" cy="402336"/>
          </a:xfrm>
          <a:prstGeom prst="rect">
            <a:avLst/>
          </a:prstGeom>
          <a:noFill/>
          <a:ln/>
        </p:spPr>
        <p:txBody>
          <a:bodyPr wrap="square" rtlCol="0" anchor="ctr"/>
          <a:lstStyle/>
          <a:p>
            <a:pPr indent="0" marL="0">
              <a:buNone/>
            </a:pPr>
            <a:r>
              <a:rPr lang="en-US" sz="1000" dirty="0">
                <a:solidFill>
                  <a:srgbClr val="1A1A1A"/>
                </a:solidFill>
                <a:latin typeface="Meiryo" pitchFamily="34" charset="0"/>
                <a:ea typeface="Meiryo" pitchFamily="34" charset="-122"/>
                <a:cs typeface="Meiryo" pitchFamily="34" charset="-120"/>
              </a:rPr>
              <a:t>✓  納品物（本数・形式）は正しいか（例：TikTok1本、Instagram Reels1本）</a:t>
            </a:r>
            <a:endParaRPr lang="en-US" sz="1000" dirty="0"/>
          </a:p>
        </p:txBody>
      </p:sp>
      <p:sp>
        <p:nvSpPr>
          <p:cNvPr id="69" name="Shape 67"/>
          <p:cNvSpPr/>
          <p:nvPr/>
        </p:nvSpPr>
        <p:spPr>
          <a:xfrm>
            <a:off x="365760" y="2916936"/>
            <a:ext cx="4206240" cy="429768"/>
          </a:xfrm>
          <a:prstGeom prst="rect">
            <a:avLst/>
          </a:prstGeom>
          <a:solidFill>
            <a:srgbClr val="F5FFF7"/>
          </a:solidFill>
          <a:ln w="6350">
            <a:solidFill>
              <a:srgbClr val="C8E6C9"/>
            </a:solidFill>
            <a:prstDash val="solid"/>
          </a:ln>
        </p:spPr>
      </p:sp>
      <p:sp>
        <p:nvSpPr>
          <p:cNvPr id="70" name="Text 68"/>
          <p:cNvSpPr/>
          <p:nvPr/>
        </p:nvSpPr>
        <p:spPr>
          <a:xfrm>
            <a:off x="475488" y="2926080"/>
            <a:ext cx="3977640" cy="402336"/>
          </a:xfrm>
          <a:prstGeom prst="rect">
            <a:avLst/>
          </a:prstGeom>
          <a:noFill/>
          <a:ln/>
        </p:spPr>
        <p:txBody>
          <a:bodyPr wrap="square" rtlCol="0" anchor="ctr"/>
          <a:lstStyle/>
          <a:p>
            <a:pPr indent="0" marL="0">
              <a:buNone/>
            </a:pPr>
            <a:r>
              <a:rPr lang="en-US" sz="1000" dirty="0">
                <a:solidFill>
                  <a:srgbClr val="1A1A1A"/>
                </a:solidFill>
                <a:latin typeface="Meiryo" pitchFamily="34" charset="0"/>
                <a:ea typeface="Meiryo" pitchFamily="34" charset="-122"/>
                <a:cs typeface="Meiryo" pitchFamily="34" charset="-120"/>
              </a:rPr>
              <a:t>✓  納期・スケジュールに無理はないか</a:t>
            </a:r>
            <a:endParaRPr lang="en-US" sz="1000" dirty="0"/>
          </a:p>
        </p:txBody>
      </p:sp>
      <p:sp>
        <p:nvSpPr>
          <p:cNvPr id="71" name="Shape 69"/>
          <p:cNvSpPr/>
          <p:nvPr/>
        </p:nvSpPr>
        <p:spPr>
          <a:xfrm>
            <a:off x="4754880" y="1097280"/>
            <a:ext cx="4023360" cy="347472"/>
          </a:xfrm>
          <a:prstGeom prst="roundRect">
            <a:avLst>
              <a:gd name="adj" fmla="val 18421"/>
            </a:avLst>
          </a:prstGeom>
          <a:solidFill>
            <a:srgbClr val="E63946"/>
          </a:solidFill>
          <a:ln w="12700">
            <a:solidFill>
              <a:srgbClr val="E63946"/>
            </a:solidFill>
            <a:prstDash val="solid"/>
          </a:ln>
        </p:spPr>
      </p:sp>
      <p:sp>
        <p:nvSpPr>
          <p:cNvPr id="72" name="Text 70"/>
          <p:cNvSpPr/>
          <p:nvPr/>
        </p:nvSpPr>
        <p:spPr>
          <a:xfrm>
            <a:off x="4754880" y="1097280"/>
            <a:ext cx="4023360" cy="347472"/>
          </a:xfrm>
          <a:prstGeom prst="rect">
            <a:avLst/>
          </a:prstGeom>
          <a:noFill/>
          <a:ln/>
        </p:spPr>
        <p:txBody>
          <a:bodyPr wrap="square"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 注意</a:t>
            </a:r>
            <a:endParaRPr lang="en-US" sz="1200" dirty="0"/>
          </a:p>
        </p:txBody>
      </p:sp>
      <p:sp>
        <p:nvSpPr>
          <p:cNvPr id="73" name="Shape 71"/>
          <p:cNvSpPr/>
          <p:nvPr/>
        </p:nvSpPr>
        <p:spPr>
          <a:xfrm>
            <a:off x="4754880" y="1490472"/>
            <a:ext cx="4023360" cy="429768"/>
          </a:xfrm>
          <a:prstGeom prst="rect">
            <a:avLst/>
          </a:prstGeom>
          <a:solidFill>
            <a:srgbClr val="FFFFFF"/>
          </a:solidFill>
          <a:ln w="6350">
            <a:solidFill>
              <a:srgbClr val="FFCCCC"/>
            </a:solidFill>
            <a:prstDash val="solid"/>
          </a:ln>
        </p:spPr>
      </p:sp>
      <p:sp>
        <p:nvSpPr>
          <p:cNvPr id="74" name="Text 72"/>
          <p:cNvSpPr/>
          <p:nvPr/>
        </p:nvSpPr>
        <p:spPr>
          <a:xfrm>
            <a:off x="4864608" y="1499616"/>
            <a:ext cx="3822192" cy="402336"/>
          </a:xfrm>
          <a:prstGeom prst="rect">
            <a:avLst/>
          </a:prstGeom>
          <a:noFill/>
          <a:ln/>
        </p:spPr>
        <p:txBody>
          <a:bodyPr wrap="square" rtlCol="0" anchor="ctr"/>
          <a:lstStyle/>
          <a:p>
            <a:pPr indent="0" marL="0">
              <a:buNone/>
            </a:pPr>
            <a:r>
              <a:rPr lang="en-US" sz="1000" dirty="0">
                <a:solidFill>
                  <a:srgbClr val="E63946"/>
                </a:solidFill>
                <a:latin typeface="Meiryo" pitchFamily="34" charset="0"/>
                <a:ea typeface="Meiryo" pitchFamily="34" charset="-122"/>
                <a:cs typeface="Meiryo" pitchFamily="34" charset="-120"/>
              </a:rPr>
              <a:t>⚠️ 疑問点はこの段階で必ず確認！撮影が終わってからの「話が違う」は防げません</a:t>
            </a:r>
            <a:endParaRPr lang="en-US" sz="1000" dirty="0"/>
          </a:p>
        </p:txBody>
      </p:sp>
      <p:sp>
        <p:nvSpPr>
          <p:cNvPr id="75" name="Shape 73"/>
          <p:cNvSpPr/>
          <p:nvPr/>
        </p:nvSpPr>
        <p:spPr>
          <a:xfrm>
            <a:off x="4754880" y="1965960"/>
            <a:ext cx="4023360" cy="429768"/>
          </a:xfrm>
          <a:prstGeom prst="rect">
            <a:avLst/>
          </a:prstGeom>
          <a:solidFill>
            <a:srgbClr val="FFF5F5"/>
          </a:solidFill>
          <a:ln w="6350">
            <a:solidFill>
              <a:srgbClr val="FFCCCC"/>
            </a:solidFill>
            <a:prstDash val="solid"/>
          </a:ln>
        </p:spPr>
      </p:sp>
      <p:sp>
        <p:nvSpPr>
          <p:cNvPr id="76" name="Text 74"/>
          <p:cNvSpPr/>
          <p:nvPr/>
        </p:nvSpPr>
        <p:spPr>
          <a:xfrm>
            <a:off x="4864608" y="1975104"/>
            <a:ext cx="3822192" cy="402336"/>
          </a:xfrm>
          <a:prstGeom prst="rect">
            <a:avLst/>
          </a:prstGeom>
          <a:noFill/>
          <a:ln/>
        </p:spPr>
        <p:txBody>
          <a:bodyPr wrap="square" rtlCol="0" anchor="ctr"/>
          <a:lstStyle/>
          <a:p>
            <a:pPr indent="0" marL="0">
              <a:buNone/>
            </a:pPr>
            <a:r>
              <a:rPr lang="en-US" sz="1000" dirty="0">
                <a:solidFill>
                  <a:srgbClr val="E63946"/>
                </a:solidFill>
                <a:latin typeface="Meiryo" pitchFamily="34" charset="0"/>
                <a:ea typeface="Meiryo" pitchFamily="34" charset="-122"/>
                <a:cs typeface="Meiryo" pitchFamily="34" charset="-120"/>
              </a:rPr>
              <a:t/>
            </a:r>
            <a:endParaRPr lang="en-US" sz="1000" dirty="0"/>
          </a:p>
        </p:txBody>
      </p:sp>
      <p:sp>
        <p:nvSpPr>
          <p:cNvPr id="77" name="Shape 75"/>
          <p:cNvSpPr/>
          <p:nvPr/>
        </p:nvSpPr>
        <p:spPr>
          <a:xfrm>
            <a:off x="4754880" y="2441448"/>
            <a:ext cx="4023360" cy="429768"/>
          </a:xfrm>
          <a:prstGeom prst="rect">
            <a:avLst/>
          </a:prstGeom>
          <a:solidFill>
            <a:srgbClr val="FFFFFF"/>
          </a:solidFill>
          <a:ln w="6350">
            <a:solidFill>
              <a:srgbClr val="FFCCCC"/>
            </a:solidFill>
            <a:prstDash val="solid"/>
          </a:ln>
        </p:spPr>
      </p:sp>
      <p:sp>
        <p:nvSpPr>
          <p:cNvPr id="78" name="Text 76"/>
          <p:cNvSpPr/>
          <p:nvPr/>
        </p:nvSpPr>
        <p:spPr>
          <a:xfrm>
            <a:off x="4864608" y="2450592"/>
            <a:ext cx="3822192" cy="402336"/>
          </a:xfrm>
          <a:prstGeom prst="rect">
            <a:avLst/>
          </a:prstGeom>
          <a:noFill/>
          <a:ln/>
        </p:spPr>
        <p:txBody>
          <a:bodyPr wrap="square" rtlCol="0" anchor="ctr"/>
          <a:lstStyle/>
          <a:p>
            <a:pPr indent="0" marL="0">
              <a:buNone/>
            </a:pPr>
            <a:r>
              <a:rPr lang="en-US" sz="1000" dirty="0">
                <a:solidFill>
                  <a:srgbClr val="E63946"/>
                </a:solidFill>
                <a:latin typeface="Meiryo" pitchFamily="34" charset="0"/>
                <a:ea typeface="Meiryo" pitchFamily="34" charset="-122"/>
                <a:cs typeface="Meiryo" pitchFamily="34" charset="-120"/>
              </a:rPr>
              <a:t/>
            </a:r>
            <a:endParaRPr lang="en-US" sz="1000" dirty="0"/>
          </a:p>
        </p:txBody>
      </p:sp>
      <p:sp>
        <p:nvSpPr>
          <p:cNvPr id="79" name="Shape 77"/>
          <p:cNvSpPr/>
          <p:nvPr/>
        </p:nvSpPr>
        <p:spPr>
          <a:xfrm>
            <a:off x="365760" y="3520440"/>
            <a:ext cx="8412480" cy="749808"/>
          </a:xfrm>
          <a:prstGeom prst="roundRect">
            <a:avLst>
              <a:gd name="adj" fmla="val 12195"/>
            </a:avLst>
          </a:prstGeom>
          <a:solidFill>
            <a:srgbClr val="FFE6F3"/>
          </a:solidFill>
          <a:ln w="19050">
            <a:solidFill>
              <a:srgbClr val="FF4DB8"/>
            </a:solidFill>
            <a:prstDash val="solid"/>
          </a:ln>
        </p:spPr>
      </p:sp>
      <p:sp>
        <p:nvSpPr>
          <p:cNvPr id="80" name="Shape 78"/>
          <p:cNvSpPr/>
          <p:nvPr/>
        </p:nvSpPr>
        <p:spPr>
          <a:xfrm>
            <a:off x="502920" y="3776838"/>
            <a:ext cx="8138160" cy="381853"/>
          </a:xfrm>
          <a:prstGeom prst="rect">
            <a:avLst/>
          </a:prstGeom>
          <a:solidFill>
            <a:srgbClr val="FFE455"/>
          </a:solidFill>
          <a:ln w="12700">
            <a:solidFill>
              <a:srgbClr val="FFE455"/>
            </a:solidFill>
            <a:prstDash val="solid"/>
          </a:ln>
        </p:spPr>
      </p:sp>
      <p:sp>
        <p:nvSpPr>
          <p:cNvPr id="81" name="Text 79"/>
          <p:cNvSpPr/>
          <p:nvPr/>
        </p:nvSpPr>
        <p:spPr>
          <a:xfrm>
            <a:off x="548640" y="3566160"/>
            <a:ext cx="8046720" cy="658368"/>
          </a:xfrm>
          <a:prstGeom prst="rect">
            <a:avLst/>
          </a:prstGeom>
          <a:noFill/>
          <a:ln/>
        </p:spPr>
        <p:txBody>
          <a:bodyPr wrap="square" rtlCol="0" anchor="ctr"/>
          <a:lstStyle/>
          <a:p>
            <a:pPr algn="ctr" indent="0" marL="0">
              <a:buNone/>
            </a:pPr>
            <a:r>
              <a:rPr lang="en-US" sz="1600" b="1" dirty="0">
                <a:solidFill>
                  <a:srgbClr val="FF4DB8"/>
                </a:solidFill>
                <a:latin typeface="Meiryo" pitchFamily="34" charset="0"/>
                <a:ea typeface="Meiryo" pitchFamily="34" charset="-122"/>
                <a:cs typeface="Meiryo" pitchFamily="34" charset="-120"/>
              </a:rPr>
              <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73075"/>
            <a:ext cx="8321040" cy="344729"/>
          </a:xfrm>
          <a:prstGeom prst="rect">
            <a:avLst/>
          </a:prstGeom>
          <a:solidFill>
            <a:srgbClr val="FFE455"/>
          </a:solidFill>
          <a:ln w="12700">
            <a:solidFill>
              <a:srgbClr val="FFE455"/>
            </a:solidFill>
            <a:prstDash val="solid"/>
          </a:ln>
        </p:spPr>
      </p:sp>
      <p:sp>
        <p:nvSpPr>
          <p:cNvPr id="58" name="Text 56"/>
          <p:cNvSpPr/>
          <p:nvPr/>
        </p:nvSpPr>
        <p:spPr>
          <a:xfrm>
            <a:off x="457200" y="182880"/>
            <a:ext cx="8229600" cy="594360"/>
          </a:xfrm>
          <a:prstGeom prst="rect">
            <a:avLst/>
          </a:prstGeom>
          <a:noFill/>
          <a:ln/>
        </p:spPr>
        <p:txBody>
          <a:bodyPr wrap="square" rtlCol="0" anchor="ctr"/>
          <a:lstStyle/>
          <a:p>
            <a:pPr indent="0" marL="0">
              <a:buNone/>
            </a:pPr>
            <a:r>
              <a:rPr lang="en-US" sz="2600" b="1" dirty="0">
                <a:solidFill>
                  <a:srgbClr val="1A1A1A"/>
                </a:solidFill>
                <a:latin typeface="Meiryo" pitchFamily="34" charset="0"/>
                <a:ea typeface="Meiryo" pitchFamily="34" charset="-122"/>
                <a:cs typeface="Meiryo" pitchFamily="34" charset="-120"/>
              </a:rPr>
              <a:t>書類提出が遅れると…</a:t>
            </a:r>
            <a:endParaRPr lang="en-US" sz="2600" dirty="0"/>
          </a:p>
        </p:txBody>
      </p:sp>
      <p:sp>
        <p:nvSpPr>
          <p:cNvPr id="59" name="Shape 57"/>
          <p:cNvSpPr/>
          <p:nvPr/>
        </p:nvSpPr>
        <p:spPr>
          <a:xfrm>
            <a:off x="457200" y="758952"/>
            <a:ext cx="8229600" cy="36576"/>
          </a:xfrm>
          <a:prstGeom prst="rect">
            <a:avLst/>
          </a:prstGeom>
          <a:solidFill>
            <a:srgbClr val="FFB3E0"/>
          </a:solidFill>
          <a:ln w="12700">
            <a:solidFill>
              <a:srgbClr val="FFB3E0"/>
            </a:solidFill>
            <a:prstDash val="solid"/>
          </a:ln>
        </p:spPr>
      </p:sp>
      <p:sp>
        <p:nvSpPr>
          <p:cNvPr id="60" name="Shape 58"/>
          <p:cNvSpPr/>
          <p:nvPr/>
        </p:nvSpPr>
        <p:spPr>
          <a:xfrm>
            <a:off x="36576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1" name="Shape 59"/>
          <p:cNvSpPr/>
          <p:nvPr/>
        </p:nvSpPr>
        <p:spPr>
          <a:xfrm>
            <a:off x="457200" y="1143000"/>
            <a:ext cx="548640" cy="411480"/>
          </a:xfrm>
          <a:prstGeom prst="roundRect">
            <a:avLst>
              <a:gd name="adj" fmla="val 15556"/>
            </a:avLst>
          </a:prstGeom>
          <a:solidFill>
            <a:srgbClr val="E63946"/>
          </a:solidFill>
          <a:ln w="12700">
            <a:solidFill>
              <a:srgbClr val="E63946"/>
            </a:solidFill>
            <a:prstDash val="solid"/>
          </a:ln>
        </p:spPr>
      </p:sp>
      <p:sp>
        <p:nvSpPr>
          <p:cNvPr id="62" name="Text 60"/>
          <p:cNvSpPr/>
          <p:nvPr/>
        </p:nvSpPr>
        <p:spPr>
          <a:xfrm>
            <a:off x="45720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63" name="Shape 61"/>
          <p:cNvSpPr/>
          <p:nvPr/>
        </p:nvSpPr>
        <p:spPr>
          <a:xfrm>
            <a:off x="3749040" y="1143000"/>
            <a:ext cx="685800" cy="365760"/>
          </a:xfrm>
          <a:prstGeom prst="roundRect">
            <a:avLst>
              <a:gd name="adj" fmla="val 12500"/>
            </a:avLst>
          </a:prstGeom>
          <a:solidFill>
            <a:srgbClr val="FFE6F3"/>
          </a:solidFill>
          <a:ln w="12700">
            <a:solidFill>
              <a:srgbClr val="FF4DB8"/>
            </a:solidFill>
            <a:prstDash val="solid"/>
          </a:ln>
        </p:spPr>
      </p:sp>
      <p:sp>
        <p:nvSpPr>
          <p:cNvPr id="64" name="Text 62"/>
          <p:cNvSpPr/>
          <p:nvPr/>
        </p:nvSpPr>
        <p:spPr>
          <a:xfrm>
            <a:off x="374904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65" name="Text 63"/>
          <p:cNvSpPr/>
          <p:nvPr/>
        </p:nvSpPr>
        <p:spPr>
          <a:xfrm>
            <a:off x="109728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書類はスピードが命。受け取ったらすぐ確認・提出！</a:t>
            </a:r>
            <a:endParaRPr lang="en-US" sz="1300" dirty="0"/>
          </a:p>
        </p:txBody>
      </p:sp>
      <p:sp>
        <p:nvSpPr>
          <p:cNvPr id="66" name="Text 64"/>
          <p:cNvSpPr/>
          <p:nvPr/>
        </p:nvSpPr>
        <p:spPr>
          <a:xfrm>
            <a:off x="45720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67" name="Shape 65"/>
          <p:cNvSpPr/>
          <p:nvPr/>
        </p:nvSpPr>
        <p:spPr>
          <a:xfrm>
            <a:off x="475488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8" name="Shape 66"/>
          <p:cNvSpPr/>
          <p:nvPr/>
        </p:nvSpPr>
        <p:spPr>
          <a:xfrm>
            <a:off x="4846320" y="1143000"/>
            <a:ext cx="548640" cy="411480"/>
          </a:xfrm>
          <a:prstGeom prst="roundRect">
            <a:avLst>
              <a:gd name="adj" fmla="val 15556"/>
            </a:avLst>
          </a:prstGeom>
          <a:solidFill>
            <a:srgbClr val="E63946"/>
          </a:solidFill>
          <a:ln w="12700">
            <a:solidFill>
              <a:srgbClr val="E63946"/>
            </a:solidFill>
            <a:prstDash val="solid"/>
          </a:ln>
        </p:spPr>
      </p:sp>
      <p:sp>
        <p:nvSpPr>
          <p:cNvPr id="69" name="Text 67"/>
          <p:cNvSpPr/>
          <p:nvPr/>
        </p:nvSpPr>
        <p:spPr>
          <a:xfrm>
            <a:off x="484632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0" name="Shape 68"/>
          <p:cNvSpPr/>
          <p:nvPr/>
        </p:nvSpPr>
        <p:spPr>
          <a:xfrm>
            <a:off x="8138160" y="1143000"/>
            <a:ext cx="685800" cy="365760"/>
          </a:xfrm>
          <a:prstGeom prst="roundRect">
            <a:avLst>
              <a:gd name="adj" fmla="val 12500"/>
            </a:avLst>
          </a:prstGeom>
          <a:solidFill>
            <a:srgbClr val="FFE6F3"/>
          </a:solidFill>
          <a:ln w="12700">
            <a:solidFill>
              <a:srgbClr val="FF4DB8"/>
            </a:solidFill>
            <a:prstDash val="solid"/>
          </a:ln>
        </p:spPr>
      </p:sp>
      <p:sp>
        <p:nvSpPr>
          <p:cNvPr id="71" name="Text 69"/>
          <p:cNvSpPr/>
          <p:nvPr/>
        </p:nvSpPr>
        <p:spPr>
          <a:xfrm>
            <a:off x="813816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2" name="Text 70"/>
          <p:cNvSpPr/>
          <p:nvPr/>
        </p:nvSpPr>
        <p:spPr>
          <a:xfrm>
            <a:off x="548640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報酬の支払い日が後ろ倒しになる（最悪、翌月回しになる）</a:t>
            </a:r>
            <a:endParaRPr lang="en-US" sz="1300" dirty="0"/>
          </a:p>
        </p:txBody>
      </p:sp>
      <p:sp>
        <p:nvSpPr>
          <p:cNvPr id="73" name="Text 71"/>
          <p:cNvSpPr/>
          <p:nvPr/>
        </p:nvSpPr>
        <p:spPr>
          <a:xfrm>
            <a:off x="484632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74" name="Shape 72"/>
          <p:cNvSpPr/>
          <p:nvPr/>
        </p:nvSpPr>
        <p:spPr>
          <a:xfrm>
            <a:off x="36576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75" name="Shape 73"/>
          <p:cNvSpPr/>
          <p:nvPr/>
        </p:nvSpPr>
        <p:spPr>
          <a:xfrm>
            <a:off x="457200" y="3017520"/>
            <a:ext cx="548640" cy="411480"/>
          </a:xfrm>
          <a:prstGeom prst="roundRect">
            <a:avLst>
              <a:gd name="adj" fmla="val 15556"/>
            </a:avLst>
          </a:prstGeom>
          <a:solidFill>
            <a:srgbClr val="E63946"/>
          </a:solidFill>
          <a:ln w="12700">
            <a:solidFill>
              <a:srgbClr val="E63946"/>
            </a:solidFill>
            <a:prstDash val="solid"/>
          </a:ln>
        </p:spPr>
      </p:sp>
      <p:sp>
        <p:nvSpPr>
          <p:cNvPr id="76" name="Text 74"/>
          <p:cNvSpPr/>
          <p:nvPr/>
        </p:nvSpPr>
        <p:spPr>
          <a:xfrm>
            <a:off x="45720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7" name="Shape 75"/>
          <p:cNvSpPr/>
          <p:nvPr/>
        </p:nvSpPr>
        <p:spPr>
          <a:xfrm>
            <a:off x="3749040" y="3017520"/>
            <a:ext cx="685800" cy="365760"/>
          </a:xfrm>
          <a:prstGeom prst="roundRect">
            <a:avLst>
              <a:gd name="adj" fmla="val 12500"/>
            </a:avLst>
          </a:prstGeom>
          <a:solidFill>
            <a:srgbClr val="FFE6F3"/>
          </a:solidFill>
          <a:ln w="12700">
            <a:solidFill>
              <a:srgbClr val="FF4DB8"/>
            </a:solidFill>
            <a:prstDash val="solid"/>
          </a:ln>
        </p:spPr>
      </p:sp>
      <p:sp>
        <p:nvSpPr>
          <p:cNvPr id="78" name="Text 76"/>
          <p:cNvSpPr/>
          <p:nvPr/>
        </p:nvSpPr>
        <p:spPr>
          <a:xfrm>
            <a:off x="374904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9" name="Text 77"/>
          <p:cNvSpPr/>
          <p:nvPr/>
        </p:nvSpPr>
        <p:spPr>
          <a:xfrm>
            <a:off x="109728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次の案件オファーの優先度が下がる可能性がある</a:t>
            </a:r>
            <a:endParaRPr lang="en-US" sz="1300" dirty="0"/>
          </a:p>
        </p:txBody>
      </p:sp>
      <p:sp>
        <p:nvSpPr>
          <p:cNvPr id="80" name="Text 78"/>
          <p:cNvSpPr/>
          <p:nvPr/>
        </p:nvSpPr>
        <p:spPr>
          <a:xfrm>
            <a:off x="45720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81" name="Shape 79"/>
          <p:cNvSpPr/>
          <p:nvPr/>
        </p:nvSpPr>
        <p:spPr>
          <a:xfrm>
            <a:off x="475488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82" name="Shape 80"/>
          <p:cNvSpPr/>
          <p:nvPr/>
        </p:nvSpPr>
        <p:spPr>
          <a:xfrm>
            <a:off x="4846320" y="3017520"/>
            <a:ext cx="548640" cy="411480"/>
          </a:xfrm>
          <a:prstGeom prst="roundRect">
            <a:avLst>
              <a:gd name="adj" fmla="val 15556"/>
            </a:avLst>
          </a:prstGeom>
          <a:solidFill>
            <a:srgbClr val="E63946"/>
          </a:solidFill>
          <a:ln w="12700">
            <a:solidFill>
              <a:srgbClr val="E63946"/>
            </a:solidFill>
            <a:prstDash val="solid"/>
          </a:ln>
        </p:spPr>
      </p:sp>
      <p:sp>
        <p:nvSpPr>
          <p:cNvPr id="83" name="Text 81"/>
          <p:cNvSpPr/>
          <p:nvPr/>
        </p:nvSpPr>
        <p:spPr>
          <a:xfrm>
            <a:off x="484632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84" name="Shape 82"/>
          <p:cNvSpPr/>
          <p:nvPr/>
        </p:nvSpPr>
        <p:spPr>
          <a:xfrm>
            <a:off x="8138160" y="3017520"/>
            <a:ext cx="685800" cy="365760"/>
          </a:xfrm>
          <a:prstGeom prst="roundRect">
            <a:avLst>
              <a:gd name="adj" fmla="val 12500"/>
            </a:avLst>
          </a:prstGeom>
          <a:solidFill>
            <a:srgbClr val="FFE6F3"/>
          </a:solidFill>
          <a:ln w="12700">
            <a:solidFill>
              <a:srgbClr val="FF4DB8"/>
            </a:solidFill>
            <a:prstDash val="solid"/>
          </a:ln>
        </p:spPr>
      </p:sp>
      <p:sp>
        <p:nvSpPr>
          <p:cNvPr id="85" name="Text 83"/>
          <p:cNvSpPr/>
          <p:nvPr/>
        </p:nvSpPr>
        <p:spPr>
          <a:xfrm>
            <a:off x="813816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86" name="Text 84"/>
          <p:cNvSpPr/>
          <p:nvPr/>
        </p:nvSpPr>
        <p:spPr>
          <a:xfrm>
            <a:off x="548640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TORIHADAの経理処理が止まり、会社全体に影響が出る</a:t>
            </a:r>
            <a:endParaRPr lang="en-US" sz="1300" dirty="0"/>
          </a:p>
        </p:txBody>
      </p:sp>
      <p:sp>
        <p:nvSpPr>
          <p:cNvPr id="87" name="Text 85"/>
          <p:cNvSpPr/>
          <p:nvPr/>
        </p:nvSpPr>
        <p:spPr>
          <a:xfrm>
            <a:off x="484632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書類対応のスピードは、あなたの「プロ度」のバロメーターです</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0" y="0"/>
            <a:ext cx="9144000" cy="713232"/>
          </a:xfrm>
          <a:prstGeom prst="rect">
            <a:avLst/>
          </a:prstGeom>
          <a:solidFill>
            <a:srgbClr val="FF4DB8"/>
          </a:solidFill>
          <a:ln w="12700">
            <a:solidFill>
              <a:srgbClr val="FF4DB8"/>
            </a:solidFill>
            <a:prstDash val="solid"/>
          </a:ln>
        </p:spPr>
      </p:sp>
      <p:sp>
        <p:nvSpPr>
          <p:cNvPr id="58" name="Text 56"/>
          <p:cNvSpPr/>
          <p:nvPr/>
        </p:nvSpPr>
        <p:spPr>
          <a:xfrm>
            <a:off x="365760" y="73152"/>
            <a:ext cx="7315200" cy="566928"/>
          </a:xfrm>
          <a:prstGeom prst="rect">
            <a:avLst/>
          </a:prstGeom>
          <a:noFill/>
          <a:ln/>
        </p:spPr>
        <p:txBody>
          <a:bodyPr wrap="square"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まとめ　動画①</a:t>
            </a:r>
            <a:endParaRPr lang="en-US" sz="2200" dirty="0"/>
          </a:p>
        </p:txBody>
      </p:sp>
      <p:sp>
        <p:nvSpPr>
          <p:cNvPr id="59" name="Shape 57"/>
          <p:cNvSpPr/>
          <p:nvPr/>
        </p:nvSpPr>
        <p:spPr>
          <a:xfrm>
            <a:off x="457200" y="1005840"/>
            <a:ext cx="594360" cy="594360"/>
          </a:xfrm>
          <a:prstGeom prst="ellipse">
            <a:avLst/>
          </a:prstGeom>
          <a:solidFill>
            <a:srgbClr val="FF4DB8"/>
          </a:solidFill>
          <a:ln w="12700">
            <a:solidFill>
              <a:srgbClr val="FF4DB8"/>
            </a:solidFill>
            <a:prstDash val="solid"/>
          </a:ln>
        </p:spPr>
      </p:sp>
      <p:sp>
        <p:nvSpPr>
          <p:cNvPr id="60" name="Text 58"/>
          <p:cNvSpPr/>
          <p:nvPr/>
        </p:nvSpPr>
        <p:spPr>
          <a:xfrm>
            <a:off x="457200" y="1005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1</a:t>
            </a:r>
            <a:endParaRPr lang="en-US" sz="1800" dirty="0"/>
          </a:p>
        </p:txBody>
      </p:sp>
      <p:sp>
        <p:nvSpPr>
          <p:cNvPr id="61" name="Shape 59"/>
          <p:cNvSpPr/>
          <p:nvPr/>
        </p:nvSpPr>
        <p:spPr>
          <a:xfrm>
            <a:off x="1188720" y="914400"/>
            <a:ext cx="7498080" cy="822960"/>
          </a:xfrm>
          <a:prstGeom prst="roundRect">
            <a:avLst>
              <a:gd name="adj" fmla="val 7778"/>
            </a:avLst>
          </a:prstGeom>
          <a:solidFill>
            <a:srgbClr val="FFFFFF"/>
          </a:solidFill>
          <a:ln w="12700">
            <a:solidFill>
              <a:srgbClr val="E8C0DA"/>
            </a:solidFill>
            <a:prstDash val="solid"/>
          </a:ln>
        </p:spPr>
      </p:sp>
      <p:sp>
        <p:nvSpPr>
          <p:cNvPr id="62" name="Text 60"/>
          <p:cNvSpPr/>
          <p:nvPr/>
        </p:nvSpPr>
        <p:spPr>
          <a:xfrm>
            <a:off x="1371600" y="987552"/>
            <a:ext cx="7132320" cy="685800"/>
          </a:xfrm>
          <a:prstGeom prst="rect">
            <a:avLst/>
          </a:prstGeom>
          <a:noFill/>
          <a:ln/>
        </p:spPr>
        <p:txBody>
          <a:bodyPr wrap="square" rtlCol="0" anchor="ctr"/>
          <a:lstStyle/>
          <a:p>
            <a:pPr indent="0" marL="0">
              <a:buNone/>
            </a:pPr>
            <a:r>
              <a:rPr lang="en-US" sz="1600" dirty="0">
                <a:solidFill>
                  <a:srgbClr val="1A1A1A"/>
                </a:solidFill>
                <a:latin typeface="Meiryo" pitchFamily="34" charset="0"/>
                <a:ea typeface="Meiryo" pitchFamily="34" charset="-122"/>
                <a:cs typeface="Meiryo" pitchFamily="34" charset="-120"/>
              </a:rPr>
              <a:t>発注書・納品書・請求書は報酬を守る3点セット</a:t>
            </a:r>
            <a:endParaRPr lang="en-US" sz="1600" dirty="0"/>
          </a:p>
        </p:txBody>
      </p:sp>
      <p:sp>
        <p:nvSpPr>
          <p:cNvPr id="63" name="Shape 61"/>
          <p:cNvSpPr/>
          <p:nvPr/>
        </p:nvSpPr>
        <p:spPr>
          <a:xfrm>
            <a:off x="457200" y="2148840"/>
            <a:ext cx="594360" cy="594360"/>
          </a:xfrm>
          <a:prstGeom prst="ellipse">
            <a:avLst/>
          </a:prstGeom>
          <a:solidFill>
            <a:srgbClr val="FF4DB8"/>
          </a:solidFill>
          <a:ln w="12700">
            <a:solidFill>
              <a:srgbClr val="FF4DB8"/>
            </a:solidFill>
            <a:prstDash val="solid"/>
          </a:ln>
        </p:spPr>
      </p:sp>
      <p:sp>
        <p:nvSpPr>
          <p:cNvPr id="64" name="Text 62"/>
          <p:cNvSpPr/>
          <p:nvPr/>
        </p:nvSpPr>
        <p:spPr>
          <a:xfrm>
            <a:off x="457200" y="2148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2</a:t>
            </a:r>
            <a:endParaRPr lang="en-US" sz="1800" dirty="0"/>
          </a:p>
        </p:txBody>
      </p:sp>
      <p:sp>
        <p:nvSpPr>
          <p:cNvPr id="65" name="Shape 63"/>
          <p:cNvSpPr/>
          <p:nvPr/>
        </p:nvSpPr>
        <p:spPr>
          <a:xfrm>
            <a:off x="1188720" y="2057400"/>
            <a:ext cx="7498080" cy="822960"/>
          </a:xfrm>
          <a:prstGeom prst="roundRect">
            <a:avLst>
              <a:gd name="adj" fmla="val 7778"/>
            </a:avLst>
          </a:prstGeom>
          <a:solidFill>
            <a:srgbClr val="FFFFFF"/>
          </a:solidFill>
          <a:ln w="12700">
            <a:solidFill>
              <a:srgbClr val="E8C0DA"/>
            </a:solidFill>
            <a:prstDash val="solid"/>
          </a:ln>
        </p:spPr>
      </p:sp>
      <p:sp>
        <p:nvSpPr>
          <p:cNvPr id="66" name="Text 64"/>
          <p:cNvSpPr/>
          <p:nvPr/>
        </p:nvSpPr>
        <p:spPr>
          <a:xfrm>
            <a:off x="1371600" y="2130552"/>
            <a:ext cx="7132320" cy="685800"/>
          </a:xfrm>
          <a:prstGeom prst="rect">
            <a:avLst/>
          </a:prstGeom>
          <a:noFill/>
          <a:ln/>
        </p:spPr>
        <p:txBody>
          <a:bodyPr wrap="square" rtlCol="0" anchor="ctr"/>
          <a:lstStyle/>
          <a:p>
            <a:pPr indent="0" marL="0">
              <a:buNone/>
            </a:pPr>
            <a:r>
              <a:rPr lang="en-US" sz="1600" dirty="0">
                <a:solidFill>
                  <a:srgbClr val="1A1A1A"/>
                </a:solidFill>
                <a:latin typeface="Meiryo" pitchFamily="34" charset="0"/>
                <a:ea typeface="Meiryo" pitchFamily="34" charset="-122"/>
                <a:cs typeface="Meiryo" pitchFamily="34" charset="-120"/>
              </a:rPr>
              <a:t>実施確定連絡は「金額・納品物・スケジュール」を必ず確認</a:t>
            </a:r>
            <a:endParaRPr lang="en-US" sz="1600" dirty="0"/>
          </a:p>
        </p:txBody>
      </p:sp>
      <p:sp>
        <p:nvSpPr>
          <p:cNvPr id="67" name="Shape 65"/>
          <p:cNvSpPr/>
          <p:nvPr/>
        </p:nvSpPr>
        <p:spPr>
          <a:xfrm>
            <a:off x="457200" y="3291840"/>
            <a:ext cx="594360" cy="594360"/>
          </a:xfrm>
          <a:prstGeom prst="ellipse">
            <a:avLst/>
          </a:prstGeom>
          <a:solidFill>
            <a:srgbClr val="FF4DB8"/>
          </a:solidFill>
          <a:ln w="12700">
            <a:solidFill>
              <a:srgbClr val="FF4DB8"/>
            </a:solidFill>
            <a:prstDash val="solid"/>
          </a:ln>
        </p:spPr>
      </p:sp>
      <p:sp>
        <p:nvSpPr>
          <p:cNvPr id="68" name="Text 66"/>
          <p:cNvSpPr/>
          <p:nvPr/>
        </p:nvSpPr>
        <p:spPr>
          <a:xfrm>
            <a:off x="457200" y="3291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3</a:t>
            </a:r>
            <a:endParaRPr lang="en-US" sz="1800" dirty="0"/>
          </a:p>
        </p:txBody>
      </p:sp>
      <p:sp>
        <p:nvSpPr>
          <p:cNvPr id="69" name="Shape 67"/>
          <p:cNvSpPr/>
          <p:nvPr/>
        </p:nvSpPr>
        <p:spPr>
          <a:xfrm>
            <a:off x="1188720" y="3200400"/>
            <a:ext cx="7498080" cy="822960"/>
          </a:xfrm>
          <a:prstGeom prst="roundRect">
            <a:avLst>
              <a:gd name="adj" fmla="val 7778"/>
            </a:avLst>
          </a:prstGeom>
          <a:solidFill>
            <a:srgbClr val="FFFFFF"/>
          </a:solidFill>
          <a:ln w="12700">
            <a:solidFill>
              <a:srgbClr val="E8C0DA"/>
            </a:solidFill>
            <a:prstDash val="solid"/>
          </a:ln>
        </p:spPr>
      </p:sp>
      <p:sp>
        <p:nvSpPr>
          <p:cNvPr id="70" name="Text 68"/>
          <p:cNvSpPr/>
          <p:nvPr/>
        </p:nvSpPr>
        <p:spPr>
          <a:xfrm>
            <a:off x="1371600" y="3273552"/>
            <a:ext cx="7132320" cy="685800"/>
          </a:xfrm>
          <a:prstGeom prst="rect">
            <a:avLst/>
          </a:prstGeom>
          <a:noFill/>
          <a:ln/>
        </p:spPr>
        <p:txBody>
          <a:bodyPr wrap="square" rtlCol="0" anchor="ctr"/>
          <a:lstStyle/>
          <a:p>
            <a:pPr indent="0" marL="0">
              <a:buNone/>
            </a:pPr>
            <a:r>
              <a:rPr lang="en-US" sz="1600" dirty="0">
                <a:solidFill>
                  <a:srgbClr val="1A1A1A"/>
                </a:solidFill>
                <a:latin typeface="Meiryo" pitchFamily="34" charset="0"/>
                <a:ea typeface="Meiryo" pitchFamily="34" charset="-122"/>
                <a:cs typeface="Meiryo" pitchFamily="34" charset="-120"/>
              </a:rPr>
              <a:t>書類はスピード命！遅れると報酬が遅れる</a:t>
            </a:r>
            <a:endParaRPr lang="en-US" sz="1600" dirty="0"/>
          </a:p>
        </p:txBody>
      </p:sp>
      <p:pic>
        <p:nvPicPr>
          <p:cNvPr id="71" name="Image 0" descr="C:\Users\長澤開\Downloads\pptx-editor\public\illustrations\star.png"/>
          <p:cNvPicPr>
            <a:picLocks noChangeAspect="1"/>
          </p:cNvPicPr>
          <p:nvPr/>
        </p:nvPicPr>
        <p:blipFill>
          <a:blip r:embed="rId1">
            <a:alphaModFix amt="80000"/>
          </a:blip>
          <a:stretch>
            <a:fillRect/>
          </a:stretch>
        </p:blipFill>
        <p:spPr>
          <a:xfrm>
            <a:off x="7406640" y="3200400"/>
            <a:ext cx="1280160" cy="1005840"/>
          </a:xfrm>
          <a:prstGeom prst="rect">
            <a:avLst/>
          </a:prstGeom>
        </p:spPr>
      </p:pic>
      <p:sp>
        <p:nvSpPr>
          <p:cNvPr id="72" name="Shape 69"/>
          <p:cNvSpPr/>
          <p:nvPr/>
        </p:nvSpPr>
        <p:spPr>
          <a:xfrm>
            <a:off x="365760" y="4370832"/>
            <a:ext cx="8412480" cy="548640"/>
          </a:xfrm>
          <a:prstGeom prst="roundRect">
            <a:avLst>
              <a:gd name="adj" fmla="val 11667"/>
            </a:avLst>
          </a:prstGeom>
          <a:solidFill>
            <a:srgbClr val="FFF0F5"/>
          </a:solidFill>
          <a:ln w="12700">
            <a:solidFill>
              <a:srgbClr val="FF4DB8"/>
            </a:solidFill>
            <a:prstDash val="solid"/>
          </a:ln>
        </p:spPr>
      </p:sp>
      <p:sp>
        <p:nvSpPr>
          <p:cNvPr id="73" name="Text 70"/>
          <p:cNvSpPr/>
          <p:nvPr/>
        </p:nvSpPr>
        <p:spPr>
          <a:xfrm>
            <a:off x="502920" y="4416552"/>
            <a:ext cx="8046720" cy="457200"/>
          </a:xfrm>
          <a:prstGeom prst="rect">
            <a:avLst/>
          </a:prstGeom>
          <a:noFill/>
          <a:ln/>
        </p:spPr>
        <p:txBody>
          <a:bodyPr wrap="square" rtlCol="0" anchor="ctr"/>
          <a:lstStyle/>
          <a:p>
            <a:pPr indent="0" marL="0">
              <a:buNone/>
            </a:pPr>
            <a:r>
              <a:rPr lang="en-US" sz="1400" dirty="0">
                <a:solidFill>
                  <a:srgbClr val="FF4DB8"/>
                </a:solidFill>
                <a:latin typeface="Meiryo" pitchFamily="34" charset="0"/>
                <a:ea typeface="Meiryo" pitchFamily="34" charset="-122"/>
                <a:cs typeface="Meiryo" pitchFamily="34" charset="-120"/>
              </a:rPr>
              <a:t>▶  Next  |  動画②：企画の設計図「字コンテ」</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4DB8"/>
        </a:solidFill>
      </p:bgPr>
    </p:bg>
    <p:spTree>
      <p:nvGrpSpPr>
        <p:cNvPr id="1" name=""/>
        <p:cNvGrpSpPr/>
        <p:nvPr/>
      </p:nvGrpSpPr>
      <p:grpSpPr>
        <a:xfrm>
          <a:off x="0" y="0"/>
          <a:ext cx="0" cy="0"/>
          <a:chOff x="0" y="0"/>
          <a:chExt cx="0" cy="0"/>
        </a:xfrm>
      </p:grpSpPr>
      <p:sp>
        <p:nvSpPr>
          <p:cNvPr id="2" name="Text 0"/>
          <p:cNvSpPr/>
          <p:nvPr/>
        </p:nvSpPr>
        <p:spPr>
          <a:xfrm>
            <a:off x="-274320" y="91440"/>
            <a:ext cx="4114800" cy="4937760"/>
          </a:xfrm>
          <a:prstGeom prst="rect">
            <a:avLst/>
          </a:prstGeom>
          <a:noFill/>
          <a:ln/>
        </p:spPr>
        <p:txBody>
          <a:bodyPr wrap="square" lIns="0" tIns="0" rIns="0" bIns="0" rtlCol="0" anchor="ctr"/>
          <a:lstStyle/>
          <a:p>
            <a:pPr algn="l" indent="0" marL="0">
              <a:buNone/>
            </a:pPr>
            <a:r>
              <a:rPr lang="en-US" sz="30000" b="1" dirty="0">
                <a:solidFill>
                  <a:srgbClr val="FFFFFF">
                    <a:alpha val="80000"/>
                  </a:srgbClr>
                </a:solidFill>
                <a:latin typeface="Meiryo" pitchFamily="34" charset="0"/>
                <a:ea typeface="Meiryo" pitchFamily="34" charset="-122"/>
                <a:cs typeface="Meiryo" pitchFamily="34" charset="-120"/>
              </a:rPr>
              <a:t>2</a:t>
            </a:r>
            <a:endParaRPr lang="en-US" sz="30000" dirty="0"/>
          </a:p>
        </p:txBody>
      </p:sp>
      <p:pic>
        <p:nvPicPr>
          <p:cNvPr id="3" name="Image 0" descr="C:\Users\長澤開\Downloads\pptx-editor\public\illustrations\megaphone.svg"/>
          <p:cNvPicPr>
            <a:picLocks noChangeAspect="1"/>
          </p:cNvPicPr>
          <p:nvPr/>
        </p:nvPicPr>
        <p:blipFill>
          <a:blip r:embed="rId1">
            <a:alphaModFix amt="90000"/>
            <a:extLst>
              <a:ext uri="{96DAC541-7B7A-43D3-8B79-37D633B846F1}">
                <asvg:svgBlip xmlns:asvg="http://schemas.microsoft.com/office/drawing/2016/SVG/main" r:embed="rId2"/>
              </a:ext>
            </a:extLst>
          </a:blip>
          <a:stretch>
            <a:fillRect/>
          </a:stretch>
        </p:blipFill>
        <p:spPr>
          <a:xfrm>
            <a:off x="6400800" y="91440"/>
            <a:ext cx="2468880" cy="2194560"/>
          </a:xfrm>
          <a:prstGeom prst="rect">
            <a:avLst/>
          </a:prstGeom>
        </p:spPr>
      </p:pic>
      <p:pic>
        <p:nvPicPr>
          <p:cNvPr id="4" name="Image 1" descr="C:\Users\長澤開\Downloads\pptx-editor\public\illustrations\warning-person.svg"/>
          <p:cNvPicPr>
            <a:picLocks noChangeAspect="1"/>
          </p:cNvPicPr>
          <p:nvPr/>
        </p:nvPicPr>
        <p:blipFill>
          <a:blip r:embed="rId3">
            <a:alphaModFix amt="90000"/>
            <a:extLst>
              <a:ext uri="{96DAC541-7B7A-43D3-8B79-37D633B846F1}">
                <asvg:svgBlip xmlns:asvg="http://schemas.microsoft.com/office/drawing/2016/SVG/main" r:embed="rId4"/>
              </a:ext>
            </a:extLst>
          </a:blip>
          <a:stretch>
            <a:fillRect/>
          </a:stretch>
        </p:blipFill>
        <p:spPr>
          <a:xfrm>
            <a:off x="6858000" y="3108960"/>
            <a:ext cx="2011680" cy="1920240"/>
          </a:xfrm>
          <a:prstGeom prst="rect">
            <a:avLst/>
          </a:prstGeom>
        </p:spPr>
      </p:pic>
      <p:pic>
        <p:nvPicPr>
          <p:cNvPr id="5" name="Image 2" descr="C:\Users\長澤開\Downloads\pptx-editor\public\illustrations\arrow.png"/>
          <p:cNvPicPr>
            <a:picLocks noChangeAspect="1"/>
          </p:cNvPicPr>
          <p:nvPr/>
        </p:nvPicPr>
        <p:blipFill>
          <a:blip r:embed="rId5">
            <a:alphaModFix amt="70000"/>
          </a:blip>
          <a:stretch>
            <a:fillRect/>
          </a:stretch>
        </p:blipFill>
        <p:spPr>
          <a:xfrm>
            <a:off x="182880" y="3474720"/>
            <a:ext cx="1645920" cy="1554480"/>
          </a:xfrm>
          <a:prstGeom prst="rect">
            <a:avLst/>
          </a:prstGeom>
        </p:spPr>
      </p:pic>
      <p:sp>
        <p:nvSpPr>
          <p:cNvPr id="6" name="Shape 1"/>
          <p:cNvSpPr/>
          <p:nvPr/>
        </p:nvSpPr>
        <p:spPr>
          <a:xfrm>
            <a:off x="2743200" y="1371600"/>
            <a:ext cx="5760720" cy="2377440"/>
          </a:xfrm>
          <a:prstGeom prst="roundRect">
            <a:avLst>
              <a:gd name="adj" fmla="val 6923"/>
            </a:avLst>
          </a:prstGeom>
          <a:solidFill>
            <a:srgbClr val="FFFFFF"/>
          </a:solidFill>
          <a:ln w="12700">
            <a:solidFill>
              <a:srgbClr val="FFFFFF"/>
            </a:solidFill>
            <a:prstDash val="solid"/>
          </a:ln>
        </p:spPr>
      </p:sp>
      <p:sp>
        <p:nvSpPr>
          <p:cNvPr id="7" name="Text 2"/>
          <p:cNvSpPr/>
          <p:nvPr/>
        </p:nvSpPr>
        <p:spPr>
          <a:xfrm>
            <a:off x="2926080" y="1600200"/>
            <a:ext cx="5394960" cy="1005840"/>
          </a:xfrm>
          <a:prstGeom prst="rect">
            <a:avLst/>
          </a:prstGeom>
          <a:noFill/>
          <a:ln/>
        </p:spPr>
        <p:txBody>
          <a:bodyPr wrap="square" rtlCol="0" anchor="ctr"/>
          <a:lstStyle/>
          <a:p>
            <a:pPr indent="0" marL="0">
              <a:buNone/>
            </a:pPr>
            <a:r>
              <a:rPr lang="en-US" sz="3800" b="1" dirty="0">
                <a:solidFill>
                  <a:srgbClr val="1A1A1A"/>
                </a:solidFill>
                <a:latin typeface="Meiryo" pitchFamily="34" charset="0"/>
                <a:ea typeface="Meiryo" pitchFamily="34" charset="-122"/>
                <a:cs typeface="Meiryo" pitchFamily="34" charset="-120"/>
              </a:rPr>
              <a:t>動画②</a:t>
            </a:r>
            <a:endParaRPr lang="en-US" sz="3800" dirty="0"/>
          </a:p>
        </p:txBody>
      </p:sp>
      <p:sp>
        <p:nvSpPr>
          <p:cNvPr id="8" name="Text 3"/>
          <p:cNvSpPr/>
          <p:nvPr/>
        </p:nvSpPr>
        <p:spPr>
          <a:xfrm>
            <a:off x="2926080" y="2606040"/>
            <a:ext cx="5394960" cy="594360"/>
          </a:xfrm>
          <a:prstGeom prst="rect">
            <a:avLst/>
          </a:prstGeom>
          <a:noFill/>
          <a:ln/>
        </p:spPr>
        <p:txBody>
          <a:bodyPr wrap="square" rtlCol="0" anchor="ctr"/>
          <a:lstStyle/>
          <a:p>
            <a:pPr indent="0" marL="0">
              <a:buNone/>
            </a:pPr>
            <a:r>
              <a:rPr lang="en-US" sz="1700" dirty="0">
                <a:solidFill>
                  <a:srgbClr val="555555"/>
                </a:solidFill>
                <a:latin typeface="Meiryo" pitchFamily="34" charset="0"/>
                <a:ea typeface="Meiryo" pitchFamily="34" charset="-122"/>
                <a:cs typeface="Meiryo" pitchFamily="34" charset="-120"/>
              </a:rPr>
              <a:t>企画の設計図「字コンテ」</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Text 55"/>
          <p:cNvSpPr/>
          <p:nvPr/>
        </p:nvSpPr>
        <p:spPr>
          <a:xfrm>
            <a:off x="457200" y="228600"/>
            <a:ext cx="8229600" cy="640080"/>
          </a:xfrm>
          <a:prstGeom prst="rect">
            <a:avLst/>
          </a:prstGeom>
          <a:noFill/>
          <a:ln/>
        </p:spPr>
        <p:txBody>
          <a:bodyPr wrap="square" rtlCol="0" anchor="ctr"/>
          <a:lstStyle/>
          <a:p>
            <a:pPr indent="0" marL="0">
              <a:buNone/>
            </a:pPr>
            <a:r>
              <a:rPr lang="en-US" sz="3200" b="1" dirty="0">
                <a:solidFill>
                  <a:srgbClr val="1A1A1A"/>
                </a:solidFill>
                <a:latin typeface="Meiryo" pitchFamily="34" charset="0"/>
                <a:ea typeface="Meiryo" pitchFamily="34" charset="-122"/>
                <a:cs typeface="Meiryo" pitchFamily="34" charset="-120"/>
              </a:rPr>
              <a:t>この動画で学ぶこと</a:t>
            </a:r>
            <a:endParaRPr lang="en-US" sz="3200" dirty="0"/>
          </a:p>
        </p:txBody>
      </p:sp>
      <p:sp>
        <p:nvSpPr>
          <p:cNvPr id="58" name="Shape 56"/>
          <p:cNvSpPr/>
          <p:nvPr/>
        </p:nvSpPr>
        <p:spPr>
          <a:xfrm>
            <a:off x="457200" y="850392"/>
            <a:ext cx="8229600" cy="36576"/>
          </a:xfrm>
          <a:prstGeom prst="rect">
            <a:avLst/>
          </a:prstGeom>
          <a:solidFill>
            <a:srgbClr val="FFB3E0"/>
          </a:solidFill>
          <a:ln w="12700">
            <a:solidFill>
              <a:srgbClr val="FFB3E0"/>
            </a:solidFill>
            <a:prstDash val="solid"/>
          </a:ln>
        </p:spPr>
      </p:sp>
      <p:sp>
        <p:nvSpPr>
          <p:cNvPr id="59" name="Shape 57"/>
          <p:cNvSpPr/>
          <p:nvPr/>
        </p:nvSpPr>
        <p:spPr>
          <a:xfrm>
            <a:off x="45720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60" name="Image 0" descr="C:\Users\長澤開\Downloads\pptx-editor\public\illustrations\warning-person.sv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8680" y="1051560"/>
            <a:ext cx="1828800" cy="1417320"/>
          </a:xfrm>
          <a:prstGeom prst="rect">
            <a:avLst/>
          </a:prstGeom>
        </p:spPr>
      </p:pic>
      <p:sp>
        <p:nvSpPr>
          <p:cNvPr id="61" name="Shape 58"/>
          <p:cNvSpPr/>
          <p:nvPr/>
        </p:nvSpPr>
        <p:spPr>
          <a:xfrm>
            <a:off x="566928" y="2578608"/>
            <a:ext cx="548640" cy="548640"/>
          </a:xfrm>
          <a:prstGeom prst="ellipse">
            <a:avLst/>
          </a:prstGeom>
          <a:solidFill>
            <a:srgbClr val="FF4DB8"/>
          </a:solidFill>
          <a:ln w="12700">
            <a:solidFill>
              <a:srgbClr val="FF4DB8"/>
            </a:solidFill>
            <a:prstDash val="solid"/>
          </a:ln>
        </p:spPr>
      </p:sp>
      <p:sp>
        <p:nvSpPr>
          <p:cNvPr id="62" name="Text 59"/>
          <p:cNvSpPr/>
          <p:nvPr/>
        </p:nvSpPr>
        <p:spPr>
          <a:xfrm>
            <a:off x="56692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01</a:t>
            </a:r>
            <a:endParaRPr lang="en-US" sz="1800" dirty="0"/>
          </a:p>
        </p:txBody>
      </p:sp>
      <p:sp>
        <p:nvSpPr>
          <p:cNvPr id="63" name="Text 60"/>
          <p:cNvSpPr/>
          <p:nvPr/>
        </p:nvSpPr>
        <p:spPr>
          <a:xfrm>
            <a:off x="59436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字コンテとは何か</a:t>
            </a:r>
            <a:endParaRPr lang="en-US" sz="1500" dirty="0"/>
          </a:p>
        </p:txBody>
      </p:sp>
      <p:sp>
        <p:nvSpPr>
          <p:cNvPr id="64" name="Text 61"/>
          <p:cNvSpPr/>
          <p:nvPr/>
        </p:nvSpPr>
        <p:spPr>
          <a:xfrm>
            <a:off x="59436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撮影前に必要な設計図の</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意味を理解する</a:t>
            </a:r>
            <a:endParaRPr lang="en-US" sz="1200" dirty="0"/>
          </a:p>
        </p:txBody>
      </p:sp>
      <p:sp>
        <p:nvSpPr>
          <p:cNvPr id="65" name="Shape 62"/>
          <p:cNvSpPr/>
          <p:nvPr/>
        </p:nvSpPr>
        <p:spPr>
          <a:xfrm>
            <a:off x="329184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66" name="Image 1" descr="C:\Users\長澤開\Downloads\pptx-editor\public\illustrations\shield-lock.sv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03320" y="1051560"/>
            <a:ext cx="1828800" cy="1417320"/>
          </a:xfrm>
          <a:prstGeom prst="rect">
            <a:avLst/>
          </a:prstGeom>
        </p:spPr>
      </p:pic>
      <p:sp>
        <p:nvSpPr>
          <p:cNvPr id="67" name="Shape 63"/>
          <p:cNvSpPr/>
          <p:nvPr/>
        </p:nvSpPr>
        <p:spPr>
          <a:xfrm>
            <a:off x="3401568" y="2578608"/>
            <a:ext cx="548640" cy="548640"/>
          </a:xfrm>
          <a:prstGeom prst="ellipse">
            <a:avLst/>
          </a:prstGeom>
          <a:solidFill>
            <a:srgbClr val="FF4DB8"/>
          </a:solidFill>
          <a:ln w="12700">
            <a:solidFill>
              <a:srgbClr val="FF4DB8"/>
            </a:solidFill>
            <a:prstDash val="solid"/>
          </a:ln>
        </p:spPr>
      </p:sp>
      <p:sp>
        <p:nvSpPr>
          <p:cNvPr id="68" name="Text 64"/>
          <p:cNvSpPr/>
          <p:nvPr/>
        </p:nvSpPr>
        <p:spPr>
          <a:xfrm>
            <a:off x="340156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02</a:t>
            </a:r>
            <a:endParaRPr lang="en-US" sz="1800" dirty="0"/>
          </a:p>
        </p:txBody>
      </p:sp>
      <p:sp>
        <p:nvSpPr>
          <p:cNvPr id="69" name="Text 65"/>
          <p:cNvSpPr/>
          <p:nvPr/>
        </p:nvSpPr>
        <p:spPr>
          <a:xfrm>
            <a:off x="342900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なぜ字コンテが必要なのか</a:t>
            </a:r>
            <a:endParaRPr lang="en-US" sz="1500" dirty="0"/>
          </a:p>
        </p:txBody>
      </p:sp>
      <p:sp>
        <p:nvSpPr>
          <p:cNvPr id="70" name="Text 66"/>
          <p:cNvSpPr/>
          <p:nvPr/>
        </p:nvSpPr>
        <p:spPr>
          <a:xfrm>
            <a:off x="342900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字コンテなしで進む</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リスクを知る</a:t>
            </a:r>
            <a:endParaRPr lang="en-US" sz="1200" dirty="0"/>
          </a:p>
        </p:txBody>
      </p:sp>
      <p:sp>
        <p:nvSpPr>
          <p:cNvPr id="71" name="Shape 67"/>
          <p:cNvSpPr/>
          <p:nvPr/>
        </p:nvSpPr>
        <p:spPr>
          <a:xfrm>
            <a:off x="612648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72" name="Image 2" descr="C:\Users\長澤開\Downloads\pptx-editor\public\illustrations\contract-pen.sv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37960" y="1051560"/>
            <a:ext cx="1828800" cy="1417320"/>
          </a:xfrm>
          <a:prstGeom prst="rect">
            <a:avLst/>
          </a:prstGeom>
        </p:spPr>
      </p:pic>
      <p:sp>
        <p:nvSpPr>
          <p:cNvPr id="73" name="Shape 68"/>
          <p:cNvSpPr/>
          <p:nvPr/>
        </p:nvSpPr>
        <p:spPr>
          <a:xfrm>
            <a:off x="6236208" y="2578608"/>
            <a:ext cx="548640" cy="548640"/>
          </a:xfrm>
          <a:prstGeom prst="ellipse">
            <a:avLst/>
          </a:prstGeom>
          <a:solidFill>
            <a:srgbClr val="FF4DB8"/>
          </a:solidFill>
          <a:ln w="12700">
            <a:solidFill>
              <a:srgbClr val="FF4DB8"/>
            </a:solidFill>
            <a:prstDash val="solid"/>
          </a:ln>
        </p:spPr>
      </p:sp>
      <p:sp>
        <p:nvSpPr>
          <p:cNvPr id="74" name="Text 69"/>
          <p:cNvSpPr/>
          <p:nvPr/>
        </p:nvSpPr>
        <p:spPr>
          <a:xfrm>
            <a:off x="623620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03</a:t>
            </a:r>
            <a:endParaRPr lang="en-US" sz="1800" dirty="0"/>
          </a:p>
        </p:txBody>
      </p:sp>
      <p:sp>
        <p:nvSpPr>
          <p:cNvPr id="75" name="Text 70"/>
          <p:cNvSpPr/>
          <p:nvPr/>
        </p:nvSpPr>
        <p:spPr>
          <a:xfrm>
            <a:off x="626364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字コンテ提出のルール</a:t>
            </a:r>
            <a:endParaRPr lang="en-US" sz="1500" dirty="0"/>
          </a:p>
        </p:txBody>
      </p:sp>
      <p:sp>
        <p:nvSpPr>
          <p:cNvPr id="76" name="Text 71"/>
          <p:cNvSpPr/>
          <p:nvPr/>
        </p:nvSpPr>
        <p:spPr>
          <a:xfrm>
            <a:off x="626364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テンプレート・期限・</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具体的な書き方のポイント</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73075"/>
            <a:ext cx="8321040" cy="344729"/>
          </a:xfrm>
          <a:prstGeom prst="rect">
            <a:avLst/>
          </a:prstGeom>
          <a:solidFill>
            <a:srgbClr val="FFE455"/>
          </a:solidFill>
          <a:ln w="12700">
            <a:solidFill>
              <a:srgbClr val="FFE455"/>
            </a:solidFill>
            <a:prstDash val="solid"/>
          </a:ln>
        </p:spPr>
      </p:sp>
      <p:sp>
        <p:nvSpPr>
          <p:cNvPr id="58" name="Text 56"/>
          <p:cNvSpPr/>
          <p:nvPr/>
        </p:nvSpPr>
        <p:spPr>
          <a:xfrm>
            <a:off x="457200" y="182880"/>
            <a:ext cx="8229600" cy="594360"/>
          </a:xfrm>
          <a:prstGeom prst="rect">
            <a:avLst/>
          </a:prstGeom>
          <a:noFill/>
          <a:ln/>
        </p:spPr>
        <p:txBody>
          <a:bodyPr wrap="square" rtlCol="0" anchor="ctr"/>
          <a:lstStyle/>
          <a:p>
            <a:pPr indent="0" marL="0">
              <a:buNone/>
            </a:pPr>
            <a:r>
              <a:rPr lang="en-US" sz="2600" b="1" dirty="0">
                <a:solidFill>
                  <a:srgbClr val="1A1A1A"/>
                </a:solidFill>
                <a:latin typeface="Meiryo" pitchFamily="34" charset="0"/>
                <a:ea typeface="Meiryo" pitchFamily="34" charset="-122"/>
                <a:cs typeface="Meiryo" pitchFamily="34" charset="-120"/>
              </a:rPr>
              <a:t>字コンテとは？</a:t>
            </a:r>
            <a:endParaRPr lang="en-US" sz="2600" dirty="0"/>
          </a:p>
        </p:txBody>
      </p:sp>
      <p:sp>
        <p:nvSpPr>
          <p:cNvPr id="59" name="Shape 57"/>
          <p:cNvSpPr/>
          <p:nvPr/>
        </p:nvSpPr>
        <p:spPr>
          <a:xfrm>
            <a:off x="457200" y="758952"/>
            <a:ext cx="8229600" cy="36576"/>
          </a:xfrm>
          <a:prstGeom prst="rect">
            <a:avLst/>
          </a:prstGeom>
          <a:solidFill>
            <a:srgbClr val="FFB3E0"/>
          </a:solidFill>
          <a:ln w="12700">
            <a:solidFill>
              <a:srgbClr val="FFB3E0"/>
            </a:solidFill>
            <a:prstDash val="solid"/>
          </a:ln>
        </p:spPr>
      </p:sp>
      <p:sp>
        <p:nvSpPr>
          <p:cNvPr id="60" name="Shape 58"/>
          <p:cNvSpPr/>
          <p:nvPr/>
        </p:nvSpPr>
        <p:spPr>
          <a:xfrm>
            <a:off x="36576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1" name="Shape 59"/>
          <p:cNvSpPr/>
          <p:nvPr/>
        </p:nvSpPr>
        <p:spPr>
          <a:xfrm>
            <a:off x="457200" y="1143000"/>
            <a:ext cx="548640" cy="411480"/>
          </a:xfrm>
          <a:prstGeom prst="roundRect">
            <a:avLst>
              <a:gd name="adj" fmla="val 15556"/>
            </a:avLst>
          </a:prstGeom>
          <a:solidFill>
            <a:srgbClr val="E63946"/>
          </a:solidFill>
          <a:ln w="12700">
            <a:solidFill>
              <a:srgbClr val="E63946"/>
            </a:solidFill>
            <a:prstDash val="solid"/>
          </a:ln>
        </p:spPr>
      </p:sp>
      <p:sp>
        <p:nvSpPr>
          <p:cNvPr id="62" name="Text 60"/>
          <p:cNvSpPr/>
          <p:nvPr/>
        </p:nvSpPr>
        <p:spPr>
          <a:xfrm>
            <a:off x="45720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63" name="Shape 61"/>
          <p:cNvSpPr/>
          <p:nvPr/>
        </p:nvSpPr>
        <p:spPr>
          <a:xfrm>
            <a:off x="3749040" y="1143000"/>
            <a:ext cx="685800" cy="365760"/>
          </a:xfrm>
          <a:prstGeom prst="roundRect">
            <a:avLst>
              <a:gd name="adj" fmla="val 12500"/>
            </a:avLst>
          </a:prstGeom>
          <a:solidFill>
            <a:srgbClr val="FFE6F3"/>
          </a:solidFill>
          <a:ln w="12700">
            <a:solidFill>
              <a:srgbClr val="FF4DB8"/>
            </a:solidFill>
            <a:prstDash val="solid"/>
          </a:ln>
        </p:spPr>
      </p:sp>
      <p:sp>
        <p:nvSpPr>
          <p:cNvPr id="64" name="Text 62"/>
          <p:cNvSpPr/>
          <p:nvPr/>
        </p:nvSpPr>
        <p:spPr>
          <a:xfrm>
            <a:off x="374904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65" name="Text 63"/>
          <p:cNvSpPr/>
          <p:nvPr/>
        </p:nvSpPr>
        <p:spPr>
          <a:xfrm>
            <a:off x="109728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動画を撮る前に「どんなセリフ・どんな動き・どんな流れ」を文字で書いた設計図</a:t>
            </a:r>
            <a:endParaRPr lang="en-US" sz="1300" dirty="0"/>
          </a:p>
        </p:txBody>
      </p:sp>
      <p:sp>
        <p:nvSpPr>
          <p:cNvPr id="66" name="Text 64"/>
          <p:cNvSpPr/>
          <p:nvPr/>
        </p:nvSpPr>
        <p:spPr>
          <a:xfrm>
            <a:off x="45720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67" name="Shape 65"/>
          <p:cNvSpPr/>
          <p:nvPr/>
        </p:nvSpPr>
        <p:spPr>
          <a:xfrm>
            <a:off x="475488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8" name="Shape 66"/>
          <p:cNvSpPr/>
          <p:nvPr/>
        </p:nvSpPr>
        <p:spPr>
          <a:xfrm>
            <a:off x="4846320" y="1143000"/>
            <a:ext cx="548640" cy="411480"/>
          </a:xfrm>
          <a:prstGeom prst="roundRect">
            <a:avLst>
              <a:gd name="adj" fmla="val 15556"/>
            </a:avLst>
          </a:prstGeom>
          <a:solidFill>
            <a:srgbClr val="E63946"/>
          </a:solidFill>
          <a:ln w="12700">
            <a:solidFill>
              <a:srgbClr val="E63946"/>
            </a:solidFill>
            <a:prstDash val="solid"/>
          </a:ln>
        </p:spPr>
      </p:sp>
      <p:sp>
        <p:nvSpPr>
          <p:cNvPr id="69" name="Text 67"/>
          <p:cNvSpPr/>
          <p:nvPr/>
        </p:nvSpPr>
        <p:spPr>
          <a:xfrm>
            <a:off x="484632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0" name="Shape 68"/>
          <p:cNvSpPr/>
          <p:nvPr/>
        </p:nvSpPr>
        <p:spPr>
          <a:xfrm>
            <a:off x="8138160" y="1143000"/>
            <a:ext cx="685800" cy="365760"/>
          </a:xfrm>
          <a:prstGeom prst="roundRect">
            <a:avLst>
              <a:gd name="adj" fmla="val 12500"/>
            </a:avLst>
          </a:prstGeom>
          <a:solidFill>
            <a:srgbClr val="FFE6F3"/>
          </a:solidFill>
          <a:ln w="12700">
            <a:solidFill>
              <a:srgbClr val="FF4DB8"/>
            </a:solidFill>
            <a:prstDash val="solid"/>
          </a:ln>
        </p:spPr>
      </p:sp>
      <p:sp>
        <p:nvSpPr>
          <p:cNvPr id="71" name="Text 69"/>
          <p:cNvSpPr/>
          <p:nvPr/>
        </p:nvSpPr>
        <p:spPr>
          <a:xfrm>
            <a:off x="813816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2" name="Text 70"/>
          <p:cNvSpPr/>
          <p:nvPr/>
        </p:nvSpPr>
        <p:spPr>
          <a:xfrm>
            <a:off x="548640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話すセリフや内容を文章で書く（「最初に商品を手に取りながら…」）</a:t>
            </a:r>
            <a:endParaRPr lang="en-US" sz="1300" dirty="0"/>
          </a:p>
        </p:txBody>
      </p:sp>
      <p:sp>
        <p:nvSpPr>
          <p:cNvPr id="73" name="Text 71"/>
          <p:cNvSpPr/>
          <p:nvPr/>
        </p:nvSpPr>
        <p:spPr>
          <a:xfrm>
            <a:off x="484632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74" name="Shape 72"/>
          <p:cNvSpPr/>
          <p:nvPr/>
        </p:nvSpPr>
        <p:spPr>
          <a:xfrm>
            <a:off x="36576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75" name="Shape 73"/>
          <p:cNvSpPr/>
          <p:nvPr/>
        </p:nvSpPr>
        <p:spPr>
          <a:xfrm>
            <a:off x="457200" y="3017520"/>
            <a:ext cx="548640" cy="411480"/>
          </a:xfrm>
          <a:prstGeom prst="roundRect">
            <a:avLst>
              <a:gd name="adj" fmla="val 15556"/>
            </a:avLst>
          </a:prstGeom>
          <a:solidFill>
            <a:srgbClr val="E63946"/>
          </a:solidFill>
          <a:ln w="12700">
            <a:solidFill>
              <a:srgbClr val="E63946"/>
            </a:solidFill>
            <a:prstDash val="solid"/>
          </a:ln>
        </p:spPr>
      </p:sp>
      <p:sp>
        <p:nvSpPr>
          <p:cNvPr id="76" name="Text 74"/>
          <p:cNvSpPr/>
          <p:nvPr/>
        </p:nvSpPr>
        <p:spPr>
          <a:xfrm>
            <a:off x="45720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7" name="Shape 75"/>
          <p:cNvSpPr/>
          <p:nvPr/>
        </p:nvSpPr>
        <p:spPr>
          <a:xfrm>
            <a:off x="3749040" y="3017520"/>
            <a:ext cx="685800" cy="365760"/>
          </a:xfrm>
          <a:prstGeom prst="roundRect">
            <a:avLst>
              <a:gd name="adj" fmla="val 12500"/>
            </a:avLst>
          </a:prstGeom>
          <a:solidFill>
            <a:srgbClr val="FFE6F3"/>
          </a:solidFill>
          <a:ln w="12700">
            <a:solidFill>
              <a:srgbClr val="FF4DB8"/>
            </a:solidFill>
            <a:prstDash val="solid"/>
          </a:ln>
        </p:spPr>
      </p:sp>
      <p:sp>
        <p:nvSpPr>
          <p:cNvPr id="78" name="Text 76"/>
          <p:cNvSpPr/>
          <p:nvPr/>
        </p:nvSpPr>
        <p:spPr>
          <a:xfrm>
            <a:off x="374904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9" name="Text 77"/>
          <p:cNvSpPr/>
          <p:nvPr/>
        </p:nvSpPr>
        <p:spPr>
          <a:xfrm>
            <a:off x="109728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シーンの流れを整理する（冒頭フック → 本題 → CTA）</a:t>
            </a:r>
            <a:endParaRPr lang="en-US" sz="1300" dirty="0"/>
          </a:p>
        </p:txBody>
      </p:sp>
      <p:sp>
        <p:nvSpPr>
          <p:cNvPr id="80" name="Text 78"/>
          <p:cNvSpPr/>
          <p:nvPr/>
        </p:nvSpPr>
        <p:spPr>
          <a:xfrm>
            <a:off x="45720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81" name="Shape 79"/>
          <p:cNvSpPr/>
          <p:nvPr/>
        </p:nvSpPr>
        <p:spPr>
          <a:xfrm>
            <a:off x="475488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82" name="Shape 80"/>
          <p:cNvSpPr/>
          <p:nvPr/>
        </p:nvSpPr>
        <p:spPr>
          <a:xfrm>
            <a:off x="4846320" y="3017520"/>
            <a:ext cx="548640" cy="411480"/>
          </a:xfrm>
          <a:prstGeom prst="roundRect">
            <a:avLst>
              <a:gd name="adj" fmla="val 15556"/>
            </a:avLst>
          </a:prstGeom>
          <a:solidFill>
            <a:srgbClr val="E63946"/>
          </a:solidFill>
          <a:ln w="12700">
            <a:solidFill>
              <a:srgbClr val="E63946"/>
            </a:solidFill>
            <a:prstDash val="solid"/>
          </a:ln>
        </p:spPr>
      </p:sp>
      <p:sp>
        <p:nvSpPr>
          <p:cNvPr id="83" name="Text 81"/>
          <p:cNvSpPr/>
          <p:nvPr/>
        </p:nvSpPr>
        <p:spPr>
          <a:xfrm>
            <a:off x="484632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84" name="Shape 82"/>
          <p:cNvSpPr/>
          <p:nvPr/>
        </p:nvSpPr>
        <p:spPr>
          <a:xfrm>
            <a:off x="8138160" y="3017520"/>
            <a:ext cx="685800" cy="365760"/>
          </a:xfrm>
          <a:prstGeom prst="roundRect">
            <a:avLst>
              <a:gd name="adj" fmla="val 12500"/>
            </a:avLst>
          </a:prstGeom>
          <a:solidFill>
            <a:srgbClr val="FFE6F3"/>
          </a:solidFill>
          <a:ln w="12700">
            <a:solidFill>
              <a:srgbClr val="FF4DB8"/>
            </a:solidFill>
            <a:prstDash val="solid"/>
          </a:ln>
        </p:spPr>
      </p:sp>
      <p:sp>
        <p:nvSpPr>
          <p:cNvPr id="85" name="Text 83"/>
          <p:cNvSpPr/>
          <p:nvPr/>
        </p:nvSpPr>
        <p:spPr>
          <a:xfrm>
            <a:off x="813816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86" name="Text 84"/>
          <p:cNvSpPr/>
          <p:nvPr/>
        </p:nvSpPr>
        <p:spPr>
          <a:xfrm>
            <a:off x="548640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テロップや見せ方のイメージを具体的に記載する</a:t>
            </a:r>
            <a:endParaRPr lang="en-US" sz="1300" dirty="0"/>
          </a:p>
        </p:txBody>
      </p:sp>
      <p:sp>
        <p:nvSpPr>
          <p:cNvPr id="87" name="Text 85"/>
          <p:cNvSpPr/>
          <p:nvPr/>
        </p:nvSpPr>
        <p:spPr>
          <a:xfrm>
            <a:off x="484632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建物の設計図と同じ。設計図なしに工事（撮影）は始められない！</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73075"/>
            <a:ext cx="8321040" cy="344729"/>
          </a:xfrm>
          <a:prstGeom prst="rect">
            <a:avLst/>
          </a:prstGeom>
          <a:solidFill>
            <a:srgbClr val="FFE455"/>
          </a:solidFill>
          <a:ln w="12700">
            <a:solidFill>
              <a:srgbClr val="FFE455"/>
            </a:solidFill>
            <a:prstDash val="solid"/>
          </a:ln>
        </p:spPr>
      </p:sp>
      <p:sp>
        <p:nvSpPr>
          <p:cNvPr id="58" name="Text 56"/>
          <p:cNvSpPr/>
          <p:nvPr/>
        </p:nvSpPr>
        <p:spPr>
          <a:xfrm>
            <a:off x="457200" y="182880"/>
            <a:ext cx="8229600" cy="594360"/>
          </a:xfrm>
          <a:prstGeom prst="rect">
            <a:avLst/>
          </a:prstGeom>
          <a:noFill/>
          <a:ln/>
        </p:spPr>
        <p:txBody>
          <a:bodyPr wrap="square" rtlCol="0" anchor="ctr"/>
          <a:lstStyle/>
          <a:p>
            <a:pPr indent="0" marL="0">
              <a:buNone/>
            </a:pPr>
            <a:r>
              <a:rPr lang="en-US" sz="2200" b="1" dirty="0">
                <a:solidFill>
                  <a:srgbClr val="1A1A1A"/>
                </a:solidFill>
                <a:latin typeface="Meiryo" pitchFamily="34" charset="0"/>
                <a:ea typeface="Meiryo" pitchFamily="34" charset="-122"/>
                <a:cs typeface="Meiryo" pitchFamily="34" charset="-120"/>
              </a:rPr>
              <a:t>字コンテなしで撮ると何が起きる？</a:t>
            </a:r>
            <a:endParaRPr lang="en-US" sz="2200" dirty="0"/>
          </a:p>
        </p:txBody>
      </p:sp>
      <p:sp>
        <p:nvSpPr>
          <p:cNvPr id="59" name="Shape 57"/>
          <p:cNvSpPr/>
          <p:nvPr/>
        </p:nvSpPr>
        <p:spPr>
          <a:xfrm>
            <a:off x="457200" y="758952"/>
            <a:ext cx="8229600" cy="36576"/>
          </a:xfrm>
          <a:prstGeom prst="rect">
            <a:avLst/>
          </a:prstGeom>
          <a:solidFill>
            <a:srgbClr val="FFB3E0"/>
          </a:solidFill>
          <a:ln w="12700">
            <a:solidFill>
              <a:srgbClr val="FFB3E0"/>
            </a:solidFill>
            <a:prstDash val="solid"/>
          </a:ln>
        </p:spPr>
      </p:sp>
      <p:sp>
        <p:nvSpPr>
          <p:cNvPr id="60" name="Shape 58"/>
          <p:cNvSpPr/>
          <p:nvPr/>
        </p:nvSpPr>
        <p:spPr>
          <a:xfrm>
            <a:off x="365760" y="960120"/>
            <a:ext cx="3840480" cy="3749040"/>
          </a:xfrm>
          <a:prstGeom prst="roundRect">
            <a:avLst>
              <a:gd name="adj" fmla="val 2439"/>
            </a:avLst>
          </a:prstGeom>
          <a:solidFill>
            <a:srgbClr val="F9F9F9"/>
          </a:solidFill>
          <a:ln w="12700">
            <a:solidFill>
              <a:srgbClr val="DDDDDD"/>
            </a:solidFill>
            <a:prstDash val="solid"/>
          </a:ln>
        </p:spPr>
      </p:sp>
      <p:sp>
        <p:nvSpPr>
          <p:cNvPr id="61" name="Shape 59"/>
          <p:cNvSpPr/>
          <p:nvPr/>
        </p:nvSpPr>
        <p:spPr>
          <a:xfrm>
            <a:off x="365760" y="960120"/>
            <a:ext cx="3840480" cy="548640"/>
          </a:xfrm>
          <a:prstGeom prst="roundRect">
            <a:avLst>
              <a:gd name="adj" fmla="val 16667"/>
            </a:avLst>
          </a:prstGeom>
          <a:solidFill>
            <a:srgbClr val="CCCCCC"/>
          </a:solidFill>
          <a:ln w="12700">
            <a:solidFill>
              <a:srgbClr val="CCCCCC"/>
            </a:solidFill>
            <a:prstDash val="solid"/>
          </a:ln>
        </p:spPr>
      </p:sp>
      <p:sp>
        <p:nvSpPr>
          <p:cNvPr id="62" name="Text 60"/>
          <p:cNvSpPr/>
          <p:nvPr/>
        </p:nvSpPr>
        <p:spPr>
          <a:xfrm>
            <a:off x="365760" y="960120"/>
            <a:ext cx="3840480" cy="548640"/>
          </a:xfrm>
          <a:prstGeom prst="rect">
            <a:avLst/>
          </a:prstGeom>
          <a:noFill/>
          <a:ln/>
        </p:spPr>
        <p:txBody>
          <a:bodyPr wrap="square"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 字コンテなし</a:t>
            </a:r>
            <a:endParaRPr lang="en-US" sz="1700" dirty="0"/>
          </a:p>
        </p:txBody>
      </p:sp>
      <p:sp>
        <p:nvSpPr>
          <p:cNvPr id="63" name="Text 61"/>
          <p:cNvSpPr/>
          <p:nvPr/>
        </p:nvSpPr>
        <p:spPr>
          <a:xfrm>
            <a:off x="548640" y="1664208"/>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 撮影後「イメージと違う」と言われる</a:t>
            </a:r>
            <a:endParaRPr lang="en-US" sz="1300" dirty="0"/>
          </a:p>
        </p:txBody>
      </p:sp>
      <p:sp>
        <p:nvSpPr>
          <p:cNvPr id="64" name="Text 62"/>
          <p:cNvSpPr/>
          <p:nvPr/>
        </p:nvSpPr>
        <p:spPr>
          <a:xfrm>
            <a:off x="548640" y="2322576"/>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 撮り直しで時間もコストもムダに</a:t>
            </a:r>
            <a:endParaRPr lang="en-US" sz="1300" dirty="0"/>
          </a:p>
        </p:txBody>
      </p:sp>
      <p:sp>
        <p:nvSpPr>
          <p:cNvPr id="65" name="Text 63"/>
          <p:cNvSpPr/>
          <p:nvPr/>
        </p:nvSpPr>
        <p:spPr>
          <a:xfrm>
            <a:off x="548640" y="2980944"/>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 期待値が不明なまま作業が進む</a:t>
            </a:r>
            <a:endParaRPr lang="en-US" sz="1300" dirty="0"/>
          </a:p>
        </p:txBody>
      </p:sp>
      <p:sp>
        <p:nvSpPr>
          <p:cNvPr id="66" name="Text 64"/>
          <p:cNvSpPr/>
          <p:nvPr/>
        </p:nvSpPr>
        <p:spPr>
          <a:xfrm>
            <a:off x="548640" y="3639312"/>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
            </a:r>
            <a:endParaRPr lang="en-US" sz="1300" dirty="0"/>
          </a:p>
        </p:txBody>
      </p:sp>
      <p:sp>
        <p:nvSpPr>
          <p:cNvPr id="67" name="Shape 65"/>
          <p:cNvSpPr/>
          <p:nvPr/>
        </p:nvSpPr>
        <p:spPr>
          <a:xfrm>
            <a:off x="4251960" y="2286000"/>
            <a:ext cx="640080" cy="640080"/>
          </a:xfrm>
          <a:prstGeom prst="ellipse">
            <a:avLst/>
          </a:prstGeom>
          <a:solidFill>
            <a:srgbClr val="FF4DB8"/>
          </a:solidFill>
          <a:ln w="12700">
            <a:solidFill>
              <a:srgbClr val="FF4DB8"/>
            </a:solidFill>
            <a:prstDash val="solid"/>
          </a:ln>
        </p:spPr>
      </p:sp>
      <p:sp>
        <p:nvSpPr>
          <p:cNvPr id="68" name="Text 66"/>
          <p:cNvSpPr/>
          <p:nvPr/>
        </p:nvSpPr>
        <p:spPr>
          <a:xfrm>
            <a:off x="4251960" y="2313432"/>
            <a:ext cx="640080" cy="6400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VS</a:t>
            </a:r>
            <a:endParaRPr lang="en-US" sz="1300" dirty="0"/>
          </a:p>
        </p:txBody>
      </p:sp>
      <p:sp>
        <p:nvSpPr>
          <p:cNvPr id="69" name="Shape 67"/>
          <p:cNvSpPr/>
          <p:nvPr/>
        </p:nvSpPr>
        <p:spPr>
          <a:xfrm>
            <a:off x="4937760" y="960120"/>
            <a:ext cx="3840480" cy="3749040"/>
          </a:xfrm>
          <a:prstGeom prst="roundRect">
            <a:avLst>
              <a:gd name="adj" fmla="val 2439"/>
            </a:avLst>
          </a:prstGeom>
          <a:solidFill>
            <a:srgbClr val="FFF5FB"/>
          </a:solidFill>
          <a:ln w="19050">
            <a:solidFill>
              <a:srgbClr val="FF4DB8"/>
            </a:solidFill>
            <a:prstDash val="solid"/>
          </a:ln>
        </p:spPr>
      </p:sp>
      <p:sp>
        <p:nvSpPr>
          <p:cNvPr id="70" name="Shape 68"/>
          <p:cNvSpPr/>
          <p:nvPr/>
        </p:nvSpPr>
        <p:spPr>
          <a:xfrm>
            <a:off x="4937760" y="960120"/>
            <a:ext cx="3840480" cy="548640"/>
          </a:xfrm>
          <a:prstGeom prst="roundRect">
            <a:avLst>
              <a:gd name="adj" fmla="val 16667"/>
            </a:avLst>
          </a:prstGeom>
          <a:solidFill>
            <a:srgbClr val="FF4DB8"/>
          </a:solidFill>
          <a:ln w="12700">
            <a:solidFill>
              <a:srgbClr val="FF4DB8"/>
            </a:solidFill>
            <a:prstDash val="solid"/>
          </a:ln>
        </p:spPr>
      </p:sp>
      <p:sp>
        <p:nvSpPr>
          <p:cNvPr id="71" name="Text 69"/>
          <p:cNvSpPr/>
          <p:nvPr/>
        </p:nvSpPr>
        <p:spPr>
          <a:xfrm>
            <a:off x="4937760" y="960120"/>
            <a:ext cx="3840480" cy="548640"/>
          </a:xfrm>
          <a:prstGeom prst="rect">
            <a:avLst/>
          </a:prstGeom>
          <a:noFill/>
          <a:ln/>
        </p:spPr>
        <p:txBody>
          <a:bodyPr wrap="square"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 字コンテあり</a:t>
            </a:r>
            <a:endParaRPr lang="en-US" sz="1700" dirty="0"/>
          </a:p>
        </p:txBody>
      </p:sp>
      <p:sp>
        <p:nvSpPr>
          <p:cNvPr id="72" name="Text 70"/>
          <p:cNvSpPr/>
          <p:nvPr/>
        </p:nvSpPr>
        <p:spPr>
          <a:xfrm>
            <a:off x="5120640" y="1664208"/>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 撮影前にクライアントと合意を取れる</a:t>
            </a:r>
            <a:endParaRPr lang="en-US" sz="1300" dirty="0"/>
          </a:p>
        </p:txBody>
      </p:sp>
      <p:sp>
        <p:nvSpPr>
          <p:cNvPr id="73" name="Text 71"/>
          <p:cNvSpPr/>
          <p:nvPr/>
        </p:nvSpPr>
        <p:spPr>
          <a:xfrm>
            <a:off x="5120640" y="2322576"/>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 修正は文字の段階で完結（最小コスト）</a:t>
            </a:r>
            <a:endParaRPr lang="en-US" sz="1300" dirty="0"/>
          </a:p>
        </p:txBody>
      </p:sp>
      <p:sp>
        <p:nvSpPr>
          <p:cNvPr id="74" name="Text 72"/>
          <p:cNvSpPr/>
          <p:nvPr/>
        </p:nvSpPr>
        <p:spPr>
          <a:xfrm>
            <a:off x="5120640" y="2980944"/>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 一発OKが狙えて信頼感もアップ</a:t>
            </a:r>
            <a:endParaRPr lang="en-US" sz="1300" dirty="0"/>
          </a:p>
        </p:txBody>
      </p:sp>
      <p:sp>
        <p:nvSpPr>
          <p:cNvPr id="75" name="Text 73"/>
          <p:cNvSpPr/>
          <p:nvPr/>
        </p:nvSpPr>
        <p:spPr>
          <a:xfrm>
            <a:off x="5120640" y="3639312"/>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
            </a:r>
            <a:endParaRPr lang="en-US" sz="1300" dirty="0"/>
          </a:p>
        </p:txBody>
      </p:sp>
      <p:pic>
        <p:nvPicPr>
          <p:cNvPr id="76" name="Image 0" descr="C:\Users\長澤開\Downloads\pptx-editor\public\illustrations\trophy-badge.svg"/>
          <p:cNvPicPr>
            <a:picLocks noChangeAspect="1"/>
          </p:cNvPicPr>
          <p:nvPr/>
        </p:nvPicPr>
        <p:blipFill>
          <a:blip r:embed="rId1">
            <a:alphaModFix amt="90000"/>
            <a:extLst>
              <a:ext uri="{96DAC541-7B7A-43D3-8B79-37D633B846F1}">
                <asvg:svgBlip xmlns:asvg="http://schemas.microsoft.com/office/drawing/2016/SVG/main" r:embed="rId2"/>
              </a:ext>
            </a:extLst>
          </a:blip>
          <a:stretch>
            <a:fillRect/>
          </a:stretch>
        </p:blipFill>
        <p:spPr>
          <a:xfrm>
            <a:off x="6492240" y="4160520"/>
            <a:ext cx="1371600" cy="914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0" y="0"/>
            <a:ext cx="9144000" cy="713232"/>
          </a:xfrm>
          <a:prstGeom prst="rect">
            <a:avLst/>
          </a:prstGeom>
          <a:solidFill>
            <a:srgbClr val="264653"/>
          </a:solidFill>
          <a:ln w="12700">
            <a:solidFill>
              <a:srgbClr val="264653"/>
            </a:solidFill>
            <a:prstDash val="solid"/>
          </a:ln>
        </p:spPr>
      </p:sp>
      <p:sp>
        <p:nvSpPr>
          <p:cNvPr id="58" name="Text 56"/>
          <p:cNvSpPr/>
          <p:nvPr/>
        </p:nvSpPr>
        <p:spPr>
          <a:xfrm>
            <a:off x="365760" y="91440"/>
            <a:ext cx="8412480" cy="530352"/>
          </a:xfrm>
          <a:prstGeom prst="rect">
            <a:avLst/>
          </a:prstGeom>
          <a:noFill/>
          <a:ln/>
        </p:spPr>
        <p:txBody>
          <a:bodyPr wrap="square" rtlCol="0" anchor="ctr"/>
          <a:lstStyle/>
          <a:p>
            <a:pPr indent="0" marL="0">
              <a:buNone/>
            </a:pPr>
            <a:r>
              <a:rPr lang="en-US" sz="2000" b="1" dirty="0">
                <a:solidFill>
                  <a:srgbClr val="FFFFFF"/>
                </a:solidFill>
                <a:latin typeface="Meiryo" pitchFamily="34" charset="0"/>
                <a:ea typeface="Meiryo" pitchFamily="34" charset="-122"/>
                <a:cs typeface="Meiryo" pitchFamily="34" charset="-120"/>
              </a:rPr>
              <a:t>字コンテ提出のルール</a:t>
            </a:r>
            <a:endParaRPr lang="en-US" sz="2000" dirty="0"/>
          </a:p>
        </p:txBody>
      </p:sp>
      <p:sp>
        <p:nvSpPr>
          <p:cNvPr id="59" name="Shape 57"/>
          <p:cNvSpPr/>
          <p:nvPr/>
        </p:nvSpPr>
        <p:spPr>
          <a:xfrm>
            <a:off x="274320" y="850392"/>
            <a:ext cx="4206240" cy="1261872"/>
          </a:xfrm>
          <a:prstGeom prst="roundRect">
            <a:avLst>
              <a:gd name="adj" fmla="val 7246"/>
            </a:avLst>
          </a:prstGeom>
          <a:solidFill>
            <a:srgbClr val="FFFFFF"/>
          </a:solidFill>
          <a:ln w="12700">
            <a:solidFill>
              <a:srgbClr val="E0E0E0"/>
            </a:solidFill>
            <a:prstDash val="solid"/>
          </a:ln>
          <a:effectLst>
            <a:outerShdw sx="100000" sy="100000" kx="0" ky="0" algn="bl" rotWithShape="0" blurRad="63500" dist="12700" dir="8100000">
              <a:srgbClr val="000000">
                <a:alpha val="8000"/>
              </a:srgbClr>
            </a:outerShdw>
          </a:effectLst>
        </p:spPr>
      </p:sp>
      <p:sp>
        <p:nvSpPr>
          <p:cNvPr id="60" name="Shape 58"/>
          <p:cNvSpPr/>
          <p:nvPr/>
        </p:nvSpPr>
        <p:spPr>
          <a:xfrm>
            <a:off x="274320" y="850392"/>
            <a:ext cx="128016" cy="1261872"/>
          </a:xfrm>
          <a:prstGeom prst="rect">
            <a:avLst/>
          </a:prstGeom>
          <a:solidFill>
            <a:srgbClr val="E63946"/>
          </a:solidFill>
          <a:ln w="12700">
            <a:solidFill>
              <a:srgbClr val="E63946"/>
            </a:solidFill>
            <a:prstDash val="solid"/>
          </a:ln>
        </p:spPr>
      </p:sp>
      <p:pic>
        <p:nvPicPr>
          <p:cNvPr id="61" name="Image 0" descr="C:\Users\長澤開\Downloads\pptx-editor\public\illustrations\calendar.png"/>
          <p:cNvPicPr>
            <a:picLocks noChangeAspect="1"/>
          </p:cNvPicPr>
          <p:nvPr/>
        </p:nvPicPr>
        <p:blipFill>
          <a:blip r:embed="rId1"/>
          <a:stretch>
            <a:fillRect/>
          </a:stretch>
        </p:blipFill>
        <p:spPr>
          <a:xfrm>
            <a:off x="475488" y="1069848"/>
            <a:ext cx="777240" cy="777240"/>
          </a:xfrm>
          <a:prstGeom prst="rect">
            <a:avLst/>
          </a:prstGeom>
        </p:spPr>
      </p:pic>
      <p:sp>
        <p:nvSpPr>
          <p:cNvPr id="62" name="Shape 59"/>
          <p:cNvSpPr/>
          <p:nvPr/>
        </p:nvSpPr>
        <p:spPr>
          <a:xfrm>
            <a:off x="3712464" y="969264"/>
            <a:ext cx="658368" cy="320040"/>
          </a:xfrm>
          <a:prstGeom prst="roundRect">
            <a:avLst>
              <a:gd name="adj" fmla="val 14286"/>
            </a:avLst>
          </a:prstGeom>
          <a:solidFill>
            <a:srgbClr val="E63946"/>
          </a:solidFill>
          <a:ln w="12700">
            <a:solidFill>
              <a:srgbClr val="E63946"/>
            </a:solidFill>
            <a:prstDash val="solid"/>
          </a:ln>
        </p:spPr>
      </p:sp>
      <p:sp>
        <p:nvSpPr>
          <p:cNvPr id="63" name="Text 60"/>
          <p:cNvSpPr/>
          <p:nvPr/>
        </p:nvSpPr>
        <p:spPr>
          <a:xfrm>
            <a:off x="3712464" y="969264"/>
            <a:ext cx="658368" cy="320040"/>
          </a:xfrm>
          <a:prstGeom prst="rect">
            <a:avLst/>
          </a:prstGeom>
          <a:noFill/>
          <a:ln/>
        </p:spPr>
        <p:txBody>
          <a:bodyPr wrap="square"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t>
            </a:r>
            <a:endParaRPr lang="en-US" sz="1200" dirty="0"/>
          </a:p>
        </p:txBody>
      </p:sp>
      <p:sp>
        <p:nvSpPr>
          <p:cNvPr id="64" name="Text 61"/>
          <p:cNvSpPr/>
          <p:nvPr/>
        </p:nvSpPr>
        <p:spPr>
          <a:xfrm>
            <a:off x="1325880" y="1014984"/>
            <a:ext cx="2331720" cy="384048"/>
          </a:xfrm>
          <a:prstGeom prst="rect">
            <a:avLst/>
          </a:prstGeom>
          <a:noFill/>
          <a:ln/>
        </p:spPr>
        <p:txBody>
          <a:bodyPr wrap="square" rtlCol="0" anchor="ctr"/>
          <a:lstStyle/>
          <a:p>
            <a:pPr indent="0" marL="0">
              <a:buNone/>
            </a:pPr>
            <a:r>
              <a:rPr lang="en-US" sz="1300" b="1" dirty="0">
                <a:solidFill>
                  <a:srgbClr val="1A1A1A"/>
                </a:solidFill>
                <a:latin typeface="Meiryo" pitchFamily="34" charset="0"/>
                <a:ea typeface="Meiryo" pitchFamily="34" charset="-122"/>
                <a:cs typeface="Meiryo" pitchFamily="34" charset="-120"/>
              </a:rPr>
              <a:t>TORIHADAが指定したテンプレートを必ず使用する（★Notionリンク参照）</a:t>
            </a:r>
            <a:endParaRPr lang="en-US" sz="1300" dirty="0"/>
          </a:p>
        </p:txBody>
      </p:sp>
      <p:sp>
        <p:nvSpPr>
          <p:cNvPr id="65" name="Text 62"/>
          <p:cNvSpPr/>
          <p:nvPr/>
        </p:nvSpPr>
        <p:spPr>
          <a:xfrm>
            <a:off x="1325880" y="1426464"/>
            <a:ext cx="2514600" cy="612648"/>
          </a:xfrm>
          <a:prstGeom prst="rect">
            <a:avLst/>
          </a:prstGeom>
          <a:noFill/>
          <a:ln/>
        </p:spPr>
        <p:txBody>
          <a:bodyPr wrap="square" rtlCol="0" anchor="ctr"/>
          <a:lstStyle/>
          <a:p>
            <a:pPr indent="0" marL="0">
              <a:buNone/>
            </a:pPr>
            <a:r>
              <a:rPr lang="en-US" sz="1000" dirty="0">
                <a:solidFill>
                  <a:srgbClr val="555555"/>
                </a:solidFill>
                <a:latin typeface="Meiryo" pitchFamily="34" charset="0"/>
                <a:ea typeface="Meiryo" pitchFamily="34" charset="-122"/>
                <a:cs typeface="Meiryo" pitchFamily="34" charset="-120"/>
              </a:rPr>
              <a:t/>
            </a:r>
            <a:endParaRPr lang="en-US" sz="1000" dirty="0"/>
          </a:p>
          <a:p>
            <a:pPr indent="0" marL="0">
              <a:buNone/>
            </a:pPr>
            <a:r>
              <a:rPr lang="en-US" sz="1000" dirty="0">
                <a:solidFill>
                  <a:srgbClr val="555555"/>
                </a:solidFill>
                <a:latin typeface="Meiryo" pitchFamily="34" charset="0"/>
                <a:ea typeface="Meiryo" pitchFamily="34" charset="-122"/>
                <a:cs typeface="Meiryo" pitchFamily="34" charset="-120"/>
              </a:rPr>
              <a:t/>
            </a:r>
            <a:endParaRPr lang="en-US" sz="1000" dirty="0"/>
          </a:p>
        </p:txBody>
      </p:sp>
      <p:sp>
        <p:nvSpPr>
          <p:cNvPr id="66" name="Shape 63"/>
          <p:cNvSpPr/>
          <p:nvPr/>
        </p:nvSpPr>
        <p:spPr>
          <a:xfrm>
            <a:off x="4709160" y="850392"/>
            <a:ext cx="4206240" cy="1261872"/>
          </a:xfrm>
          <a:prstGeom prst="roundRect">
            <a:avLst>
              <a:gd name="adj" fmla="val 7246"/>
            </a:avLst>
          </a:prstGeom>
          <a:solidFill>
            <a:srgbClr val="FFFFFF"/>
          </a:solidFill>
          <a:ln w="12700">
            <a:solidFill>
              <a:srgbClr val="E0E0E0"/>
            </a:solidFill>
            <a:prstDash val="solid"/>
          </a:ln>
          <a:effectLst>
            <a:outerShdw sx="100000" sy="100000" kx="0" ky="0" algn="bl" rotWithShape="0" blurRad="63500" dist="12700" dir="8100000">
              <a:srgbClr val="000000">
                <a:alpha val="8000"/>
              </a:srgbClr>
            </a:outerShdw>
          </a:effectLst>
        </p:spPr>
      </p:sp>
      <p:sp>
        <p:nvSpPr>
          <p:cNvPr id="67" name="Shape 64"/>
          <p:cNvSpPr/>
          <p:nvPr/>
        </p:nvSpPr>
        <p:spPr>
          <a:xfrm>
            <a:off x="4709160" y="850392"/>
            <a:ext cx="128016" cy="1261872"/>
          </a:xfrm>
          <a:prstGeom prst="rect">
            <a:avLst/>
          </a:prstGeom>
          <a:solidFill>
            <a:srgbClr val="FF4DB8"/>
          </a:solidFill>
          <a:ln w="12700">
            <a:solidFill>
              <a:srgbClr val="FF4DB8"/>
            </a:solidFill>
            <a:prstDash val="solid"/>
          </a:ln>
        </p:spPr>
      </p:sp>
      <p:pic>
        <p:nvPicPr>
          <p:cNvPr id="68" name="Image 1" descr="C:\Users\長澤開\Downloads\pptx-editor\public\illustrations\document.png"/>
          <p:cNvPicPr>
            <a:picLocks noChangeAspect="1"/>
          </p:cNvPicPr>
          <p:nvPr/>
        </p:nvPicPr>
        <p:blipFill>
          <a:blip r:embed="rId2"/>
          <a:stretch>
            <a:fillRect/>
          </a:stretch>
        </p:blipFill>
        <p:spPr>
          <a:xfrm>
            <a:off x="4910328" y="1069848"/>
            <a:ext cx="777240" cy="777240"/>
          </a:xfrm>
          <a:prstGeom prst="rect">
            <a:avLst/>
          </a:prstGeom>
        </p:spPr>
      </p:pic>
      <p:sp>
        <p:nvSpPr>
          <p:cNvPr id="69" name="Shape 65"/>
          <p:cNvSpPr/>
          <p:nvPr/>
        </p:nvSpPr>
        <p:spPr>
          <a:xfrm>
            <a:off x="8147304" y="969264"/>
            <a:ext cx="658368" cy="320040"/>
          </a:xfrm>
          <a:prstGeom prst="roundRect">
            <a:avLst>
              <a:gd name="adj" fmla="val 14286"/>
            </a:avLst>
          </a:prstGeom>
          <a:solidFill>
            <a:srgbClr val="E63946"/>
          </a:solidFill>
          <a:ln w="12700">
            <a:solidFill>
              <a:srgbClr val="E63946"/>
            </a:solidFill>
            <a:prstDash val="solid"/>
          </a:ln>
        </p:spPr>
      </p:sp>
      <p:sp>
        <p:nvSpPr>
          <p:cNvPr id="70" name="Text 66"/>
          <p:cNvSpPr/>
          <p:nvPr/>
        </p:nvSpPr>
        <p:spPr>
          <a:xfrm>
            <a:off x="8147304" y="969264"/>
            <a:ext cx="658368" cy="320040"/>
          </a:xfrm>
          <a:prstGeom prst="rect">
            <a:avLst/>
          </a:prstGeom>
          <a:noFill/>
          <a:ln/>
        </p:spPr>
        <p:txBody>
          <a:bodyPr wrap="square"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t>
            </a:r>
            <a:endParaRPr lang="en-US" sz="1200" dirty="0"/>
          </a:p>
        </p:txBody>
      </p:sp>
      <p:sp>
        <p:nvSpPr>
          <p:cNvPr id="71" name="Text 67"/>
          <p:cNvSpPr/>
          <p:nvPr/>
        </p:nvSpPr>
        <p:spPr>
          <a:xfrm>
            <a:off x="5760720" y="1014984"/>
            <a:ext cx="2331720" cy="384048"/>
          </a:xfrm>
          <a:prstGeom prst="rect">
            <a:avLst/>
          </a:prstGeom>
          <a:noFill/>
          <a:ln/>
        </p:spPr>
        <p:txBody>
          <a:bodyPr wrap="square" rtlCol="0" anchor="ctr"/>
          <a:lstStyle/>
          <a:p>
            <a:pPr indent="0" marL="0">
              <a:buNone/>
            </a:pPr>
            <a:r>
              <a:rPr lang="en-US" sz="1300" b="1" dirty="0">
                <a:solidFill>
                  <a:srgbClr val="1A1A1A"/>
                </a:solidFill>
                <a:latin typeface="Meiryo" pitchFamily="34" charset="0"/>
                <a:ea typeface="Meiryo" pitchFamily="34" charset="-122"/>
                <a:cs typeface="Meiryo" pitchFamily="34" charset="-120"/>
              </a:rPr>
              <a:t>冒頭フック・本題・CTA（行動促進）の3構成で書く</a:t>
            </a:r>
            <a:endParaRPr lang="en-US" sz="1300" dirty="0"/>
          </a:p>
        </p:txBody>
      </p:sp>
      <p:sp>
        <p:nvSpPr>
          <p:cNvPr id="72" name="Text 68"/>
          <p:cNvSpPr/>
          <p:nvPr/>
        </p:nvSpPr>
        <p:spPr>
          <a:xfrm>
            <a:off x="5760720" y="1426464"/>
            <a:ext cx="2514600" cy="612648"/>
          </a:xfrm>
          <a:prstGeom prst="rect">
            <a:avLst/>
          </a:prstGeom>
          <a:noFill/>
          <a:ln/>
        </p:spPr>
        <p:txBody>
          <a:bodyPr wrap="square" rtlCol="0" anchor="ctr"/>
          <a:lstStyle/>
          <a:p>
            <a:pPr indent="0" marL="0">
              <a:buNone/>
            </a:pPr>
            <a:r>
              <a:rPr lang="en-US" sz="1000" dirty="0">
                <a:solidFill>
                  <a:srgbClr val="555555"/>
                </a:solidFill>
                <a:latin typeface="Meiryo" pitchFamily="34" charset="0"/>
                <a:ea typeface="Meiryo" pitchFamily="34" charset="-122"/>
                <a:cs typeface="Meiryo" pitchFamily="34" charset="-120"/>
              </a:rPr>
              <a:t/>
            </a:r>
            <a:endParaRPr lang="en-US" sz="1000" dirty="0"/>
          </a:p>
          <a:p>
            <a:pPr indent="0" marL="0">
              <a:buNone/>
            </a:pPr>
            <a:r>
              <a:rPr lang="en-US" sz="1000" dirty="0">
                <a:solidFill>
                  <a:srgbClr val="555555"/>
                </a:solidFill>
                <a:latin typeface="Meiryo" pitchFamily="34" charset="0"/>
                <a:ea typeface="Meiryo" pitchFamily="34" charset="-122"/>
                <a:cs typeface="Meiryo" pitchFamily="34" charset="-120"/>
              </a:rPr>
              <a:t/>
            </a:r>
            <a:endParaRPr lang="en-US" sz="1000" dirty="0"/>
          </a:p>
        </p:txBody>
      </p:sp>
      <p:sp>
        <p:nvSpPr>
          <p:cNvPr id="73" name="Shape 69"/>
          <p:cNvSpPr/>
          <p:nvPr/>
        </p:nvSpPr>
        <p:spPr>
          <a:xfrm>
            <a:off x="274320" y="2240280"/>
            <a:ext cx="4206240" cy="1261872"/>
          </a:xfrm>
          <a:prstGeom prst="roundRect">
            <a:avLst>
              <a:gd name="adj" fmla="val 7246"/>
            </a:avLst>
          </a:prstGeom>
          <a:solidFill>
            <a:srgbClr val="FFFFFF"/>
          </a:solidFill>
          <a:ln w="12700">
            <a:solidFill>
              <a:srgbClr val="E0E0E0"/>
            </a:solidFill>
            <a:prstDash val="solid"/>
          </a:ln>
          <a:effectLst>
            <a:outerShdw sx="100000" sy="100000" kx="0" ky="0" algn="bl" rotWithShape="0" blurRad="63500" dist="12700" dir="8100000">
              <a:srgbClr val="000000">
                <a:alpha val="8000"/>
              </a:srgbClr>
            </a:outerShdw>
          </a:effectLst>
        </p:spPr>
      </p:sp>
      <p:sp>
        <p:nvSpPr>
          <p:cNvPr id="74" name="Shape 70"/>
          <p:cNvSpPr/>
          <p:nvPr/>
        </p:nvSpPr>
        <p:spPr>
          <a:xfrm>
            <a:off x="274320" y="2240280"/>
            <a:ext cx="128016" cy="1261872"/>
          </a:xfrm>
          <a:prstGeom prst="rect">
            <a:avLst/>
          </a:prstGeom>
          <a:solidFill>
            <a:srgbClr val="2A9D8F"/>
          </a:solidFill>
          <a:ln w="12700">
            <a:solidFill>
              <a:srgbClr val="2A9D8F"/>
            </a:solidFill>
            <a:prstDash val="solid"/>
          </a:ln>
        </p:spPr>
      </p:sp>
      <p:pic>
        <p:nvPicPr>
          <p:cNvPr id="75" name="Image 2" descr="C:\Users\長澤開\Downloads\pptx-editor\public\illustrations\speech-bubble.png"/>
          <p:cNvPicPr>
            <a:picLocks noChangeAspect="1"/>
          </p:cNvPicPr>
          <p:nvPr/>
        </p:nvPicPr>
        <p:blipFill>
          <a:blip r:embed="rId3"/>
          <a:stretch>
            <a:fillRect/>
          </a:stretch>
        </p:blipFill>
        <p:spPr>
          <a:xfrm>
            <a:off x="475488" y="2459736"/>
            <a:ext cx="777240" cy="777240"/>
          </a:xfrm>
          <a:prstGeom prst="rect">
            <a:avLst/>
          </a:prstGeom>
        </p:spPr>
      </p:pic>
      <p:sp>
        <p:nvSpPr>
          <p:cNvPr id="76" name="Shape 71"/>
          <p:cNvSpPr/>
          <p:nvPr/>
        </p:nvSpPr>
        <p:spPr>
          <a:xfrm>
            <a:off x="3712464" y="2359152"/>
            <a:ext cx="658368" cy="320040"/>
          </a:xfrm>
          <a:prstGeom prst="roundRect">
            <a:avLst>
              <a:gd name="adj" fmla="val 14286"/>
            </a:avLst>
          </a:prstGeom>
          <a:solidFill>
            <a:srgbClr val="E63946"/>
          </a:solidFill>
          <a:ln w="12700">
            <a:solidFill>
              <a:srgbClr val="E63946"/>
            </a:solidFill>
            <a:prstDash val="solid"/>
          </a:ln>
        </p:spPr>
      </p:sp>
      <p:sp>
        <p:nvSpPr>
          <p:cNvPr id="77" name="Text 72"/>
          <p:cNvSpPr/>
          <p:nvPr/>
        </p:nvSpPr>
        <p:spPr>
          <a:xfrm>
            <a:off x="3712464" y="2359152"/>
            <a:ext cx="658368" cy="320040"/>
          </a:xfrm>
          <a:prstGeom prst="rect">
            <a:avLst/>
          </a:prstGeom>
          <a:noFill/>
          <a:ln/>
        </p:spPr>
        <p:txBody>
          <a:bodyPr wrap="square"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t>
            </a:r>
            <a:endParaRPr lang="en-US" sz="1200" dirty="0"/>
          </a:p>
        </p:txBody>
      </p:sp>
      <p:sp>
        <p:nvSpPr>
          <p:cNvPr id="78" name="Text 73"/>
          <p:cNvSpPr/>
          <p:nvPr/>
        </p:nvSpPr>
        <p:spPr>
          <a:xfrm>
            <a:off x="1325880" y="2404872"/>
            <a:ext cx="2331720" cy="384048"/>
          </a:xfrm>
          <a:prstGeom prst="rect">
            <a:avLst/>
          </a:prstGeom>
          <a:noFill/>
          <a:ln/>
        </p:spPr>
        <p:txBody>
          <a:bodyPr wrap="square" rtlCol="0" anchor="ctr"/>
          <a:lstStyle/>
          <a:p>
            <a:pPr indent="0" marL="0">
              <a:buNone/>
            </a:pPr>
            <a:r>
              <a:rPr lang="en-US" sz="1300" b="1" dirty="0">
                <a:solidFill>
                  <a:srgbClr val="1A1A1A"/>
                </a:solidFill>
                <a:latin typeface="Meiryo" pitchFamily="34" charset="0"/>
                <a:ea typeface="Meiryo" pitchFamily="34" charset="-122"/>
                <a:cs typeface="Meiryo" pitchFamily="34" charset="-120"/>
              </a:rPr>
              <a:t>曖昧な表現を避ける（「楽しい感じで」→「笑顔でテンポよく話す」）</a:t>
            </a:r>
            <a:endParaRPr lang="en-US" sz="1300" dirty="0"/>
          </a:p>
        </p:txBody>
      </p:sp>
      <p:sp>
        <p:nvSpPr>
          <p:cNvPr id="79" name="Text 74"/>
          <p:cNvSpPr/>
          <p:nvPr/>
        </p:nvSpPr>
        <p:spPr>
          <a:xfrm>
            <a:off x="1325880" y="2816352"/>
            <a:ext cx="2514600" cy="612648"/>
          </a:xfrm>
          <a:prstGeom prst="rect">
            <a:avLst/>
          </a:prstGeom>
          <a:noFill/>
          <a:ln/>
        </p:spPr>
        <p:txBody>
          <a:bodyPr wrap="square" rtlCol="0" anchor="ctr"/>
          <a:lstStyle/>
          <a:p>
            <a:pPr indent="0" marL="0">
              <a:buNone/>
            </a:pPr>
            <a:r>
              <a:rPr lang="en-US" sz="1000" dirty="0">
                <a:solidFill>
                  <a:srgbClr val="555555"/>
                </a:solidFill>
                <a:latin typeface="Meiryo" pitchFamily="34" charset="0"/>
                <a:ea typeface="Meiryo" pitchFamily="34" charset="-122"/>
                <a:cs typeface="Meiryo" pitchFamily="34" charset="-120"/>
              </a:rPr>
              <a:t/>
            </a:r>
            <a:endParaRPr lang="en-US" sz="1000" dirty="0"/>
          </a:p>
          <a:p>
            <a:pPr indent="0" marL="0">
              <a:buNone/>
            </a:pPr>
            <a:r>
              <a:rPr lang="en-US" sz="1000" dirty="0">
                <a:solidFill>
                  <a:srgbClr val="555555"/>
                </a:solidFill>
                <a:latin typeface="Meiryo" pitchFamily="34" charset="0"/>
                <a:ea typeface="Meiryo" pitchFamily="34" charset="-122"/>
                <a:cs typeface="Meiryo" pitchFamily="34" charset="-120"/>
              </a:rPr>
              <a:t/>
            </a:r>
            <a:endParaRPr lang="en-US" sz="1000" dirty="0"/>
          </a:p>
        </p:txBody>
      </p:sp>
      <p:sp>
        <p:nvSpPr>
          <p:cNvPr id="80" name="Shape 75"/>
          <p:cNvSpPr/>
          <p:nvPr/>
        </p:nvSpPr>
        <p:spPr>
          <a:xfrm>
            <a:off x="4709160" y="2240280"/>
            <a:ext cx="4206240" cy="1261872"/>
          </a:xfrm>
          <a:prstGeom prst="roundRect">
            <a:avLst>
              <a:gd name="adj" fmla="val 7246"/>
            </a:avLst>
          </a:prstGeom>
          <a:solidFill>
            <a:srgbClr val="FFFFFF"/>
          </a:solidFill>
          <a:ln w="12700">
            <a:solidFill>
              <a:srgbClr val="E0E0E0"/>
            </a:solidFill>
            <a:prstDash val="solid"/>
          </a:ln>
          <a:effectLst>
            <a:outerShdw sx="100000" sy="100000" kx="0" ky="0" algn="bl" rotWithShape="0" blurRad="63500" dist="12700" dir="8100000">
              <a:srgbClr val="000000">
                <a:alpha val="8000"/>
              </a:srgbClr>
            </a:outerShdw>
          </a:effectLst>
        </p:spPr>
      </p:sp>
      <p:sp>
        <p:nvSpPr>
          <p:cNvPr id="81" name="Shape 76"/>
          <p:cNvSpPr/>
          <p:nvPr/>
        </p:nvSpPr>
        <p:spPr>
          <a:xfrm>
            <a:off x="4709160" y="2240280"/>
            <a:ext cx="128016" cy="1261872"/>
          </a:xfrm>
          <a:prstGeom prst="rect">
            <a:avLst/>
          </a:prstGeom>
          <a:solidFill>
            <a:srgbClr val="E88020"/>
          </a:solidFill>
          <a:ln w="12700">
            <a:solidFill>
              <a:srgbClr val="E88020"/>
            </a:solidFill>
            <a:prstDash val="solid"/>
          </a:ln>
        </p:spPr>
      </p:sp>
      <p:pic>
        <p:nvPicPr>
          <p:cNvPr id="82" name="Image 3" descr="C:\Users\長澤開\Downloads\pptx-editor\public\illustrations\checklist.png"/>
          <p:cNvPicPr>
            <a:picLocks noChangeAspect="1"/>
          </p:cNvPicPr>
          <p:nvPr/>
        </p:nvPicPr>
        <p:blipFill>
          <a:blip r:embed="rId4"/>
          <a:stretch>
            <a:fillRect/>
          </a:stretch>
        </p:blipFill>
        <p:spPr>
          <a:xfrm>
            <a:off x="4910328" y="2459736"/>
            <a:ext cx="777240" cy="777240"/>
          </a:xfrm>
          <a:prstGeom prst="rect">
            <a:avLst/>
          </a:prstGeom>
        </p:spPr>
      </p:pic>
      <p:sp>
        <p:nvSpPr>
          <p:cNvPr id="83" name="Shape 77"/>
          <p:cNvSpPr/>
          <p:nvPr/>
        </p:nvSpPr>
        <p:spPr>
          <a:xfrm>
            <a:off x="8147304" y="2359152"/>
            <a:ext cx="658368" cy="320040"/>
          </a:xfrm>
          <a:prstGeom prst="roundRect">
            <a:avLst>
              <a:gd name="adj" fmla="val 14286"/>
            </a:avLst>
          </a:prstGeom>
          <a:solidFill>
            <a:srgbClr val="E63946"/>
          </a:solidFill>
          <a:ln w="12700">
            <a:solidFill>
              <a:srgbClr val="E63946"/>
            </a:solidFill>
            <a:prstDash val="solid"/>
          </a:ln>
        </p:spPr>
      </p:sp>
      <p:sp>
        <p:nvSpPr>
          <p:cNvPr id="84" name="Text 78"/>
          <p:cNvSpPr/>
          <p:nvPr/>
        </p:nvSpPr>
        <p:spPr>
          <a:xfrm>
            <a:off x="8147304" y="2359152"/>
            <a:ext cx="658368" cy="320040"/>
          </a:xfrm>
          <a:prstGeom prst="rect">
            <a:avLst/>
          </a:prstGeom>
          <a:noFill/>
          <a:ln/>
        </p:spPr>
        <p:txBody>
          <a:bodyPr wrap="square"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t>
            </a:r>
            <a:endParaRPr lang="en-US" sz="1200" dirty="0"/>
          </a:p>
        </p:txBody>
      </p:sp>
      <p:sp>
        <p:nvSpPr>
          <p:cNvPr id="85" name="Text 79"/>
          <p:cNvSpPr/>
          <p:nvPr/>
        </p:nvSpPr>
        <p:spPr>
          <a:xfrm>
            <a:off x="5760720" y="2404872"/>
            <a:ext cx="2331720" cy="384048"/>
          </a:xfrm>
          <a:prstGeom prst="rect">
            <a:avLst/>
          </a:prstGeom>
          <a:noFill/>
          <a:ln/>
        </p:spPr>
        <p:txBody>
          <a:bodyPr wrap="square" rtlCol="0" anchor="ctr"/>
          <a:lstStyle/>
          <a:p>
            <a:pPr indent="0" marL="0">
              <a:buNone/>
            </a:pPr>
            <a:r>
              <a:rPr lang="en-US" sz="1300" b="1" dirty="0">
                <a:solidFill>
                  <a:srgbClr val="1A1A1A"/>
                </a:solidFill>
                <a:latin typeface="Meiryo" pitchFamily="34" charset="0"/>
                <a:ea typeface="Meiryo" pitchFamily="34" charset="-122"/>
                <a:cs typeface="Meiryo" pitchFamily="34" charset="-120"/>
              </a:rPr>
              <a:t>提出期限を必ず守る（案件ごとにスケジュールを確認）</a:t>
            </a:r>
            <a:endParaRPr lang="en-US" sz="1300" dirty="0"/>
          </a:p>
        </p:txBody>
      </p:sp>
      <p:sp>
        <p:nvSpPr>
          <p:cNvPr id="86" name="Text 80"/>
          <p:cNvSpPr/>
          <p:nvPr/>
        </p:nvSpPr>
        <p:spPr>
          <a:xfrm>
            <a:off x="5760720" y="2816352"/>
            <a:ext cx="2514600" cy="612648"/>
          </a:xfrm>
          <a:prstGeom prst="rect">
            <a:avLst/>
          </a:prstGeom>
          <a:noFill/>
          <a:ln/>
        </p:spPr>
        <p:txBody>
          <a:bodyPr wrap="square" rtlCol="0" anchor="ctr"/>
          <a:lstStyle/>
          <a:p>
            <a:pPr indent="0" marL="0">
              <a:buNone/>
            </a:pPr>
            <a:r>
              <a:rPr lang="en-US" sz="1000" dirty="0">
                <a:solidFill>
                  <a:srgbClr val="555555"/>
                </a:solidFill>
                <a:latin typeface="Meiryo" pitchFamily="34" charset="0"/>
                <a:ea typeface="Meiryo" pitchFamily="34" charset="-122"/>
                <a:cs typeface="Meiryo" pitchFamily="34" charset="-120"/>
              </a:rPr>
              <a:t/>
            </a:r>
            <a:endParaRPr lang="en-US" sz="1000" dirty="0"/>
          </a:p>
          <a:p>
            <a:pPr indent="0" marL="0">
              <a:buNone/>
            </a:pPr>
            <a:r>
              <a:rPr lang="en-US" sz="1000" dirty="0">
                <a:solidFill>
                  <a:srgbClr val="555555"/>
                </a:solidFill>
                <a:latin typeface="Meiryo" pitchFamily="34" charset="0"/>
                <a:ea typeface="Meiryo" pitchFamily="34" charset="-122"/>
                <a:cs typeface="Meiryo" pitchFamily="34" charset="-120"/>
              </a:rPr>
              <a:t/>
            </a:r>
            <a:endParaRPr lang="en-US" sz="1000" dirty="0"/>
          </a:p>
        </p:txBody>
      </p:sp>
      <p:sp>
        <p:nvSpPr>
          <p:cNvPr id="87" name="Shape 81"/>
          <p:cNvSpPr/>
          <p:nvPr/>
        </p:nvSpPr>
        <p:spPr>
          <a:xfrm>
            <a:off x="274320" y="3630168"/>
            <a:ext cx="4206240" cy="1261872"/>
          </a:xfrm>
          <a:prstGeom prst="roundRect">
            <a:avLst>
              <a:gd name="adj" fmla="val 7246"/>
            </a:avLst>
          </a:prstGeom>
          <a:solidFill>
            <a:srgbClr val="FFFFFF"/>
          </a:solidFill>
          <a:ln w="12700">
            <a:solidFill>
              <a:srgbClr val="E0E0E0"/>
            </a:solidFill>
            <a:prstDash val="solid"/>
          </a:ln>
          <a:effectLst>
            <a:outerShdw sx="100000" sy="100000" kx="0" ky="0" algn="bl" rotWithShape="0" blurRad="63500" dist="12700" dir="8100000">
              <a:srgbClr val="000000">
                <a:alpha val="8000"/>
              </a:srgbClr>
            </a:outerShdw>
          </a:effectLst>
        </p:spPr>
      </p:sp>
      <p:sp>
        <p:nvSpPr>
          <p:cNvPr id="88" name="Shape 82"/>
          <p:cNvSpPr/>
          <p:nvPr/>
        </p:nvSpPr>
        <p:spPr>
          <a:xfrm>
            <a:off x="274320" y="3630168"/>
            <a:ext cx="128016" cy="1261872"/>
          </a:xfrm>
          <a:prstGeom prst="rect">
            <a:avLst/>
          </a:prstGeom>
          <a:solidFill>
            <a:srgbClr val="6D2E46"/>
          </a:solidFill>
          <a:ln w="12700">
            <a:solidFill>
              <a:srgbClr val="6D2E46"/>
            </a:solidFill>
            <a:prstDash val="solid"/>
          </a:ln>
        </p:spPr>
      </p:sp>
      <p:pic>
        <p:nvPicPr>
          <p:cNvPr id="89" name="Image 4" descr="C:\Users\長澤開\Downloads\pptx-editor\public\illustrations\gears.png"/>
          <p:cNvPicPr>
            <a:picLocks noChangeAspect="1"/>
          </p:cNvPicPr>
          <p:nvPr/>
        </p:nvPicPr>
        <p:blipFill>
          <a:blip r:embed="rId5"/>
          <a:stretch>
            <a:fillRect/>
          </a:stretch>
        </p:blipFill>
        <p:spPr>
          <a:xfrm>
            <a:off x="475488" y="3849624"/>
            <a:ext cx="777240" cy="777240"/>
          </a:xfrm>
          <a:prstGeom prst="rect">
            <a:avLst/>
          </a:prstGeom>
        </p:spPr>
      </p:pic>
      <p:sp>
        <p:nvSpPr>
          <p:cNvPr id="90" name="Shape 83"/>
          <p:cNvSpPr/>
          <p:nvPr/>
        </p:nvSpPr>
        <p:spPr>
          <a:xfrm>
            <a:off x="3712464" y="3749040"/>
            <a:ext cx="658368" cy="320040"/>
          </a:xfrm>
          <a:prstGeom prst="roundRect">
            <a:avLst>
              <a:gd name="adj" fmla="val 14286"/>
            </a:avLst>
          </a:prstGeom>
          <a:solidFill>
            <a:srgbClr val="E63946"/>
          </a:solidFill>
          <a:ln w="12700">
            <a:solidFill>
              <a:srgbClr val="E63946"/>
            </a:solidFill>
            <a:prstDash val="solid"/>
          </a:ln>
        </p:spPr>
      </p:sp>
      <p:sp>
        <p:nvSpPr>
          <p:cNvPr id="91" name="Text 84"/>
          <p:cNvSpPr/>
          <p:nvPr/>
        </p:nvSpPr>
        <p:spPr>
          <a:xfrm>
            <a:off x="3712464" y="3749040"/>
            <a:ext cx="658368" cy="320040"/>
          </a:xfrm>
          <a:prstGeom prst="rect">
            <a:avLst/>
          </a:prstGeom>
          <a:noFill/>
          <a:ln/>
        </p:spPr>
        <p:txBody>
          <a:bodyPr wrap="square"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a:t>
            </a:r>
            <a:endParaRPr lang="en-US" sz="1200" dirty="0"/>
          </a:p>
        </p:txBody>
      </p:sp>
      <p:sp>
        <p:nvSpPr>
          <p:cNvPr id="92" name="Text 85"/>
          <p:cNvSpPr/>
          <p:nvPr/>
        </p:nvSpPr>
        <p:spPr>
          <a:xfrm>
            <a:off x="1325880" y="3794760"/>
            <a:ext cx="2331720" cy="384048"/>
          </a:xfrm>
          <a:prstGeom prst="rect">
            <a:avLst/>
          </a:prstGeom>
          <a:noFill/>
          <a:ln/>
        </p:spPr>
        <p:txBody>
          <a:bodyPr wrap="square" rtlCol="0" anchor="ctr"/>
          <a:lstStyle/>
          <a:p>
            <a:pPr indent="0" marL="0">
              <a:buNone/>
            </a:pPr>
            <a:r>
              <a:rPr lang="en-US" sz="1300" b="1" dirty="0">
                <a:solidFill>
                  <a:srgbClr val="1A1A1A"/>
                </a:solidFill>
                <a:latin typeface="Meiryo" pitchFamily="34" charset="0"/>
                <a:ea typeface="Meiryo" pitchFamily="34" charset="-122"/>
                <a:cs typeface="Meiryo" pitchFamily="34" charset="-120"/>
              </a:rPr>
              <a:t>字コンテは「合意の証明書」。あいまいなまま提出しないこと！</a:t>
            </a:r>
            <a:endParaRPr lang="en-US" sz="1300" dirty="0"/>
          </a:p>
        </p:txBody>
      </p:sp>
      <p:sp>
        <p:nvSpPr>
          <p:cNvPr id="93" name="Text 86"/>
          <p:cNvSpPr/>
          <p:nvPr/>
        </p:nvSpPr>
        <p:spPr>
          <a:xfrm>
            <a:off x="1325880" y="4206240"/>
            <a:ext cx="2514600" cy="612648"/>
          </a:xfrm>
          <a:prstGeom prst="rect">
            <a:avLst/>
          </a:prstGeom>
          <a:noFill/>
          <a:ln/>
        </p:spPr>
        <p:txBody>
          <a:bodyPr wrap="square" rtlCol="0" anchor="ctr"/>
          <a:lstStyle/>
          <a:p>
            <a:pPr indent="0" marL="0">
              <a:buNone/>
            </a:pPr>
            <a:r>
              <a:rPr lang="en-US" sz="1000" dirty="0">
                <a:solidFill>
                  <a:srgbClr val="555555"/>
                </a:solidFill>
                <a:latin typeface="Meiryo" pitchFamily="34" charset="0"/>
                <a:ea typeface="Meiryo" pitchFamily="34" charset="-122"/>
                <a:cs typeface="Meiryo" pitchFamily="34" charset="-120"/>
              </a:rPr>
              <a:t/>
            </a:r>
            <a:endParaRPr lang="en-US" sz="1000" dirty="0"/>
          </a:p>
          <a:p>
            <a:pPr indent="0" marL="0">
              <a:buNone/>
            </a:pPr>
            <a:r>
              <a:rPr lang="en-US" sz="1000" dirty="0">
                <a:solidFill>
                  <a:srgbClr val="555555"/>
                </a:solidFill>
                <a:latin typeface="Meiryo" pitchFamily="34" charset="0"/>
                <a:ea typeface="Meiryo" pitchFamily="34" charset="-122"/>
                <a:cs typeface="Meiryo" pitchFamily="34" charset="-120"/>
              </a:rPr>
              <a:t/>
            </a:r>
            <a:endParaRPr lang="en-US" sz="1000" dirty="0"/>
          </a:p>
        </p:txBody>
      </p:sp>
      <p:sp>
        <p:nvSpPr>
          <p:cNvPr id="94" name="Shape 87"/>
          <p:cNvSpPr/>
          <p:nvPr/>
        </p:nvSpPr>
        <p:spPr>
          <a:xfrm>
            <a:off x="4709160" y="3630168"/>
            <a:ext cx="4206240" cy="1261872"/>
          </a:xfrm>
          <a:prstGeom prst="roundRect">
            <a:avLst>
              <a:gd name="adj" fmla="val 7246"/>
            </a:avLst>
          </a:prstGeom>
          <a:solidFill>
            <a:srgbClr val="FFFFFF"/>
          </a:solidFill>
          <a:ln w="12700">
            <a:solidFill>
              <a:srgbClr val="E0E0E0"/>
            </a:solidFill>
            <a:prstDash val="solid"/>
          </a:ln>
          <a:effectLst>
            <a:outerShdw sx="100000" sy="100000" kx="0" ky="0" algn="bl" rotWithShape="0" blurRad="63500" dist="12700" dir="8100000">
              <a:srgbClr val="000000">
                <a:alpha val="8000"/>
              </a:srgbClr>
            </a:outerShdw>
          </a:effectLst>
        </p:spPr>
      </p:sp>
      <p:sp>
        <p:nvSpPr>
          <p:cNvPr id="95" name="Shape 88"/>
          <p:cNvSpPr/>
          <p:nvPr/>
        </p:nvSpPr>
        <p:spPr>
          <a:xfrm>
            <a:off x="4709160" y="3630168"/>
            <a:ext cx="128016" cy="1261872"/>
          </a:xfrm>
          <a:prstGeom prst="rect">
            <a:avLst/>
          </a:prstGeom>
          <a:solidFill>
            <a:srgbClr val="264653"/>
          </a:solidFill>
          <a:ln w="12700">
            <a:solidFill>
              <a:srgbClr val="264653"/>
            </a:solidFill>
            <a:prstDash val="solid"/>
          </a:ln>
        </p:spPr>
      </p:sp>
      <p:pic>
        <p:nvPicPr>
          <p:cNvPr id="96" name="Image 5" descr="C:\Users\長澤開\Downloads\pptx-editor\public\illustrations\star.png"/>
          <p:cNvPicPr>
            <a:picLocks noChangeAspect="1"/>
          </p:cNvPicPr>
          <p:nvPr/>
        </p:nvPicPr>
        <p:blipFill>
          <a:blip r:embed="rId6"/>
          <a:stretch>
            <a:fillRect/>
          </a:stretch>
        </p:blipFill>
        <p:spPr>
          <a:xfrm>
            <a:off x="4910328" y="3849624"/>
            <a:ext cx="777240" cy="777240"/>
          </a:xfrm>
          <a:prstGeom prst="rect">
            <a:avLst/>
          </a:prstGeom>
        </p:spPr>
      </p:pic>
      <p:sp>
        <p:nvSpPr>
          <p:cNvPr id="97" name="Shape 89"/>
          <p:cNvSpPr/>
          <p:nvPr/>
        </p:nvSpPr>
        <p:spPr>
          <a:xfrm>
            <a:off x="8147304" y="3749040"/>
            <a:ext cx="658368" cy="320040"/>
          </a:xfrm>
          <a:prstGeom prst="roundRect">
            <a:avLst>
              <a:gd name="adj" fmla="val 14286"/>
            </a:avLst>
          </a:prstGeom>
          <a:solidFill>
            <a:srgbClr val="E63946"/>
          </a:solidFill>
          <a:ln w="12700">
            <a:solidFill>
              <a:srgbClr val="E63946"/>
            </a:solidFill>
            <a:prstDash val="solid"/>
          </a:ln>
        </p:spPr>
      </p:sp>
      <p:sp>
        <p:nvSpPr>
          <p:cNvPr id="98" name="Text 90"/>
          <p:cNvSpPr/>
          <p:nvPr/>
        </p:nvSpPr>
        <p:spPr>
          <a:xfrm>
            <a:off x="8147304" y="3749040"/>
            <a:ext cx="658368" cy="320040"/>
          </a:xfrm>
          <a:prstGeom prst="rect">
            <a:avLst/>
          </a:prstGeom>
          <a:noFill/>
          <a:ln/>
        </p:spPr>
        <p:txBody>
          <a:bodyPr wrap="square"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
            </a:r>
            <a:endParaRPr lang="en-US" sz="1200" dirty="0"/>
          </a:p>
        </p:txBody>
      </p:sp>
      <p:sp>
        <p:nvSpPr>
          <p:cNvPr id="99" name="Text 91"/>
          <p:cNvSpPr/>
          <p:nvPr/>
        </p:nvSpPr>
        <p:spPr>
          <a:xfrm>
            <a:off x="5760720" y="3794760"/>
            <a:ext cx="2331720" cy="384048"/>
          </a:xfrm>
          <a:prstGeom prst="rect">
            <a:avLst/>
          </a:prstGeom>
          <a:noFill/>
          <a:ln/>
        </p:spPr>
        <p:txBody>
          <a:bodyPr wrap="square" rtlCol="0" anchor="ctr"/>
          <a:lstStyle/>
          <a:p>
            <a:pPr indent="0" marL="0">
              <a:buNone/>
            </a:pPr>
            <a:r>
              <a:rPr lang="en-US" sz="1300" b="1" dirty="0">
                <a:solidFill>
                  <a:srgbClr val="1A1A1A"/>
                </a:solidFill>
                <a:latin typeface="Meiryo" pitchFamily="34" charset="0"/>
                <a:ea typeface="Meiryo" pitchFamily="34" charset="-122"/>
                <a:cs typeface="Meiryo" pitchFamily="34" charset="-120"/>
              </a:rPr>
              <a:t/>
            </a:r>
            <a:endParaRPr lang="en-US" sz="1300" dirty="0"/>
          </a:p>
        </p:txBody>
      </p:sp>
      <p:sp>
        <p:nvSpPr>
          <p:cNvPr id="100" name="Text 92"/>
          <p:cNvSpPr/>
          <p:nvPr/>
        </p:nvSpPr>
        <p:spPr>
          <a:xfrm>
            <a:off x="5760720" y="4206240"/>
            <a:ext cx="2514600" cy="612648"/>
          </a:xfrm>
          <a:prstGeom prst="rect">
            <a:avLst/>
          </a:prstGeom>
          <a:noFill/>
          <a:ln/>
        </p:spPr>
        <p:txBody>
          <a:bodyPr wrap="square" rtlCol="0" anchor="ctr"/>
          <a:lstStyle/>
          <a:p>
            <a:pPr indent="0" marL="0">
              <a:buNone/>
            </a:pPr>
            <a:r>
              <a:rPr lang="en-US" sz="1000" dirty="0">
                <a:solidFill>
                  <a:srgbClr val="555555"/>
                </a:solidFill>
                <a:latin typeface="Meiryo" pitchFamily="34" charset="0"/>
                <a:ea typeface="Meiryo" pitchFamily="34" charset="-122"/>
                <a:cs typeface="Meiryo" pitchFamily="34" charset="-120"/>
              </a:rPr>
              <a:t/>
            </a:r>
            <a:endParaRPr lang="en-US" sz="1000" dirty="0"/>
          </a:p>
          <a:p>
            <a:pPr indent="0" marL="0">
              <a:buNone/>
            </a:pPr>
            <a:r>
              <a:rPr lang="en-US" sz="1000" dirty="0">
                <a:solidFill>
                  <a:srgbClr val="555555"/>
                </a:solidFill>
                <a:latin typeface="Meiryo" pitchFamily="34" charset="0"/>
                <a:ea typeface="Meiryo" pitchFamily="34" charset="-122"/>
                <a:cs typeface="Meiryo" pitchFamily="34" charset="-120"/>
              </a:rPr>
              <a:t/>
            </a:r>
            <a:endParaRPr lang="en-US" sz="1000" dirty="0"/>
          </a:p>
        </p:txBody>
      </p:sp>
      <p:sp>
        <p:nvSpPr>
          <p:cNvPr id="101" name="Shape 93"/>
          <p:cNvSpPr/>
          <p:nvPr/>
        </p:nvSpPr>
        <p:spPr>
          <a:xfrm>
            <a:off x="274320" y="4873752"/>
            <a:ext cx="8595360" cy="246888"/>
          </a:xfrm>
          <a:prstGeom prst="roundRect">
            <a:avLst>
              <a:gd name="adj" fmla="val 18519"/>
            </a:avLst>
          </a:prstGeom>
          <a:solidFill>
            <a:srgbClr val="FFE6F3"/>
          </a:solidFill>
          <a:ln w="12700">
            <a:solidFill>
              <a:srgbClr val="FF4DB8"/>
            </a:solidFill>
            <a:prstDash val="solid"/>
          </a:ln>
        </p:spPr>
      </p:sp>
      <p:sp>
        <p:nvSpPr>
          <p:cNvPr id="102" name="Text 94"/>
          <p:cNvSpPr/>
          <p:nvPr/>
        </p:nvSpPr>
        <p:spPr>
          <a:xfrm>
            <a:off x="457200" y="4873752"/>
            <a:ext cx="8229600" cy="246888"/>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上記はすべて発注書の特記事項に明記されたルールです。案件受注前に必ず確認してください。</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0" y="0"/>
            <a:ext cx="9144000" cy="713232"/>
          </a:xfrm>
          <a:prstGeom prst="rect">
            <a:avLst/>
          </a:prstGeom>
          <a:solidFill>
            <a:srgbClr val="FF4DB8"/>
          </a:solidFill>
          <a:ln w="12700">
            <a:solidFill>
              <a:srgbClr val="FF4DB8"/>
            </a:solidFill>
            <a:prstDash val="solid"/>
          </a:ln>
        </p:spPr>
      </p:sp>
      <p:sp>
        <p:nvSpPr>
          <p:cNvPr id="58" name="Text 56"/>
          <p:cNvSpPr/>
          <p:nvPr/>
        </p:nvSpPr>
        <p:spPr>
          <a:xfrm>
            <a:off x="365760" y="73152"/>
            <a:ext cx="7315200" cy="566928"/>
          </a:xfrm>
          <a:prstGeom prst="rect">
            <a:avLst/>
          </a:prstGeom>
          <a:noFill/>
          <a:ln/>
        </p:spPr>
        <p:txBody>
          <a:bodyPr wrap="square"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まとめ　動画②</a:t>
            </a:r>
            <a:endParaRPr lang="en-US" sz="2200" dirty="0"/>
          </a:p>
        </p:txBody>
      </p:sp>
      <p:sp>
        <p:nvSpPr>
          <p:cNvPr id="59" name="Shape 57"/>
          <p:cNvSpPr/>
          <p:nvPr/>
        </p:nvSpPr>
        <p:spPr>
          <a:xfrm>
            <a:off x="457200" y="1005840"/>
            <a:ext cx="594360" cy="594360"/>
          </a:xfrm>
          <a:prstGeom prst="ellipse">
            <a:avLst/>
          </a:prstGeom>
          <a:solidFill>
            <a:srgbClr val="FF4DB8"/>
          </a:solidFill>
          <a:ln w="12700">
            <a:solidFill>
              <a:srgbClr val="FF4DB8"/>
            </a:solidFill>
            <a:prstDash val="solid"/>
          </a:ln>
        </p:spPr>
      </p:sp>
      <p:sp>
        <p:nvSpPr>
          <p:cNvPr id="60" name="Text 58"/>
          <p:cNvSpPr/>
          <p:nvPr/>
        </p:nvSpPr>
        <p:spPr>
          <a:xfrm>
            <a:off x="457200" y="1005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1</a:t>
            </a:r>
            <a:endParaRPr lang="en-US" sz="1800" dirty="0"/>
          </a:p>
        </p:txBody>
      </p:sp>
      <p:sp>
        <p:nvSpPr>
          <p:cNvPr id="61" name="Shape 59"/>
          <p:cNvSpPr/>
          <p:nvPr/>
        </p:nvSpPr>
        <p:spPr>
          <a:xfrm>
            <a:off x="1188720" y="914400"/>
            <a:ext cx="7498080" cy="822960"/>
          </a:xfrm>
          <a:prstGeom prst="roundRect">
            <a:avLst>
              <a:gd name="adj" fmla="val 7778"/>
            </a:avLst>
          </a:prstGeom>
          <a:solidFill>
            <a:srgbClr val="FFFFFF"/>
          </a:solidFill>
          <a:ln w="12700">
            <a:solidFill>
              <a:srgbClr val="E8C0DA"/>
            </a:solidFill>
            <a:prstDash val="solid"/>
          </a:ln>
        </p:spPr>
      </p:sp>
      <p:sp>
        <p:nvSpPr>
          <p:cNvPr id="62" name="Text 60"/>
          <p:cNvSpPr/>
          <p:nvPr/>
        </p:nvSpPr>
        <p:spPr>
          <a:xfrm>
            <a:off x="1371600" y="987552"/>
            <a:ext cx="7132320" cy="685800"/>
          </a:xfrm>
          <a:prstGeom prst="rect">
            <a:avLst/>
          </a:prstGeom>
          <a:noFill/>
          <a:ln/>
        </p:spPr>
        <p:txBody>
          <a:bodyPr wrap="square" rtlCol="0" anchor="ctr"/>
          <a:lstStyle/>
          <a:p>
            <a:pPr indent="0" marL="0">
              <a:buNone/>
            </a:pPr>
            <a:r>
              <a:rPr lang="en-US" sz="1500" dirty="0">
                <a:solidFill>
                  <a:srgbClr val="1A1A1A"/>
                </a:solidFill>
                <a:latin typeface="Meiryo" pitchFamily="34" charset="0"/>
                <a:ea typeface="Meiryo" pitchFamily="34" charset="-122"/>
                <a:cs typeface="Meiryo" pitchFamily="34" charset="-120"/>
              </a:rPr>
              <a:t>字コンテ＝撮影前の「設計図」。省略すると撮り直しリスクが上がる</a:t>
            </a:r>
            <a:endParaRPr lang="en-US" sz="1500" dirty="0"/>
          </a:p>
        </p:txBody>
      </p:sp>
      <p:sp>
        <p:nvSpPr>
          <p:cNvPr id="63" name="Shape 61"/>
          <p:cNvSpPr/>
          <p:nvPr/>
        </p:nvSpPr>
        <p:spPr>
          <a:xfrm>
            <a:off x="457200" y="2148840"/>
            <a:ext cx="594360" cy="594360"/>
          </a:xfrm>
          <a:prstGeom prst="ellipse">
            <a:avLst/>
          </a:prstGeom>
          <a:solidFill>
            <a:srgbClr val="FF4DB8"/>
          </a:solidFill>
          <a:ln w="12700">
            <a:solidFill>
              <a:srgbClr val="FF4DB8"/>
            </a:solidFill>
            <a:prstDash val="solid"/>
          </a:ln>
        </p:spPr>
      </p:sp>
      <p:sp>
        <p:nvSpPr>
          <p:cNvPr id="64" name="Text 62"/>
          <p:cNvSpPr/>
          <p:nvPr/>
        </p:nvSpPr>
        <p:spPr>
          <a:xfrm>
            <a:off x="457200" y="2148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2</a:t>
            </a:r>
            <a:endParaRPr lang="en-US" sz="1800" dirty="0"/>
          </a:p>
        </p:txBody>
      </p:sp>
      <p:sp>
        <p:nvSpPr>
          <p:cNvPr id="65" name="Shape 63"/>
          <p:cNvSpPr/>
          <p:nvPr/>
        </p:nvSpPr>
        <p:spPr>
          <a:xfrm>
            <a:off x="1188720" y="2057400"/>
            <a:ext cx="7498080" cy="822960"/>
          </a:xfrm>
          <a:prstGeom prst="roundRect">
            <a:avLst>
              <a:gd name="adj" fmla="val 7778"/>
            </a:avLst>
          </a:prstGeom>
          <a:solidFill>
            <a:srgbClr val="FFFFFF"/>
          </a:solidFill>
          <a:ln w="12700">
            <a:solidFill>
              <a:srgbClr val="E8C0DA"/>
            </a:solidFill>
            <a:prstDash val="solid"/>
          </a:ln>
        </p:spPr>
      </p:sp>
      <p:sp>
        <p:nvSpPr>
          <p:cNvPr id="66" name="Text 64"/>
          <p:cNvSpPr/>
          <p:nvPr/>
        </p:nvSpPr>
        <p:spPr>
          <a:xfrm>
            <a:off x="1371600" y="2130552"/>
            <a:ext cx="7132320" cy="685800"/>
          </a:xfrm>
          <a:prstGeom prst="rect">
            <a:avLst/>
          </a:prstGeom>
          <a:noFill/>
          <a:ln/>
        </p:spPr>
        <p:txBody>
          <a:bodyPr wrap="square" rtlCol="0" anchor="ctr"/>
          <a:lstStyle/>
          <a:p>
            <a:pPr indent="0" marL="0">
              <a:buNone/>
            </a:pPr>
            <a:r>
              <a:rPr lang="en-US" sz="1500" dirty="0">
                <a:solidFill>
                  <a:srgbClr val="1A1A1A"/>
                </a:solidFill>
                <a:latin typeface="Meiryo" pitchFamily="34" charset="0"/>
                <a:ea typeface="Meiryo" pitchFamily="34" charset="-122"/>
                <a:cs typeface="Meiryo" pitchFamily="34" charset="-120"/>
              </a:rPr>
              <a:t>字コンテで合意を取ることが「一発OK」の近道</a:t>
            </a:r>
            <a:endParaRPr lang="en-US" sz="1500" dirty="0"/>
          </a:p>
        </p:txBody>
      </p:sp>
      <p:sp>
        <p:nvSpPr>
          <p:cNvPr id="67" name="Shape 65"/>
          <p:cNvSpPr/>
          <p:nvPr/>
        </p:nvSpPr>
        <p:spPr>
          <a:xfrm>
            <a:off x="457200" y="3291840"/>
            <a:ext cx="594360" cy="594360"/>
          </a:xfrm>
          <a:prstGeom prst="ellipse">
            <a:avLst/>
          </a:prstGeom>
          <a:solidFill>
            <a:srgbClr val="FF4DB8"/>
          </a:solidFill>
          <a:ln w="12700">
            <a:solidFill>
              <a:srgbClr val="FF4DB8"/>
            </a:solidFill>
            <a:prstDash val="solid"/>
          </a:ln>
        </p:spPr>
      </p:sp>
      <p:sp>
        <p:nvSpPr>
          <p:cNvPr id="68" name="Text 66"/>
          <p:cNvSpPr/>
          <p:nvPr/>
        </p:nvSpPr>
        <p:spPr>
          <a:xfrm>
            <a:off x="457200" y="3291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3</a:t>
            </a:r>
            <a:endParaRPr lang="en-US" sz="1800" dirty="0"/>
          </a:p>
        </p:txBody>
      </p:sp>
      <p:sp>
        <p:nvSpPr>
          <p:cNvPr id="69" name="Shape 67"/>
          <p:cNvSpPr/>
          <p:nvPr/>
        </p:nvSpPr>
        <p:spPr>
          <a:xfrm>
            <a:off x="1188720" y="3200400"/>
            <a:ext cx="7498080" cy="822960"/>
          </a:xfrm>
          <a:prstGeom prst="roundRect">
            <a:avLst>
              <a:gd name="adj" fmla="val 7778"/>
            </a:avLst>
          </a:prstGeom>
          <a:solidFill>
            <a:srgbClr val="FFFFFF"/>
          </a:solidFill>
          <a:ln w="12700">
            <a:solidFill>
              <a:srgbClr val="E8C0DA"/>
            </a:solidFill>
            <a:prstDash val="solid"/>
          </a:ln>
        </p:spPr>
      </p:sp>
      <p:sp>
        <p:nvSpPr>
          <p:cNvPr id="70" name="Text 68"/>
          <p:cNvSpPr/>
          <p:nvPr/>
        </p:nvSpPr>
        <p:spPr>
          <a:xfrm>
            <a:off x="1371600" y="3273552"/>
            <a:ext cx="7132320" cy="685800"/>
          </a:xfrm>
          <a:prstGeom prst="rect">
            <a:avLst/>
          </a:prstGeom>
          <a:noFill/>
          <a:ln/>
        </p:spPr>
        <p:txBody>
          <a:bodyPr wrap="square" rtlCol="0" anchor="ctr"/>
          <a:lstStyle/>
          <a:p>
            <a:pPr indent="0" marL="0">
              <a:buNone/>
            </a:pPr>
            <a:r>
              <a:rPr lang="en-US" sz="1500" dirty="0">
                <a:solidFill>
                  <a:srgbClr val="1A1A1A"/>
                </a:solidFill>
                <a:latin typeface="Meiryo" pitchFamily="34" charset="0"/>
                <a:ea typeface="Meiryo" pitchFamily="34" charset="-122"/>
                <a:cs typeface="Meiryo" pitchFamily="34" charset="-120"/>
              </a:rPr>
              <a:t>テンプレート使用・期限厳守・具体的な表現が提出のルール</a:t>
            </a:r>
            <a:endParaRPr lang="en-US" sz="1500" dirty="0"/>
          </a:p>
        </p:txBody>
      </p:sp>
      <p:pic>
        <p:nvPicPr>
          <p:cNvPr id="71" name="Image 0" descr="C:\Users\長澤開\Downloads\pptx-editor\public\illustrations\document.png"/>
          <p:cNvPicPr>
            <a:picLocks noChangeAspect="1"/>
          </p:cNvPicPr>
          <p:nvPr/>
        </p:nvPicPr>
        <p:blipFill>
          <a:blip r:embed="rId1">
            <a:alphaModFix amt="90000"/>
          </a:blip>
          <a:stretch>
            <a:fillRect/>
          </a:stretch>
        </p:blipFill>
        <p:spPr>
          <a:xfrm>
            <a:off x="7315200" y="3493008"/>
            <a:ext cx="1463040" cy="804672"/>
          </a:xfrm>
          <a:prstGeom prst="rect">
            <a:avLst/>
          </a:prstGeom>
        </p:spPr>
      </p:pic>
      <p:sp>
        <p:nvSpPr>
          <p:cNvPr id="72" name="Shape 69"/>
          <p:cNvSpPr/>
          <p:nvPr/>
        </p:nvSpPr>
        <p:spPr>
          <a:xfrm>
            <a:off x="365760" y="4370832"/>
            <a:ext cx="8412480" cy="548640"/>
          </a:xfrm>
          <a:prstGeom prst="roundRect">
            <a:avLst>
              <a:gd name="adj" fmla="val 11667"/>
            </a:avLst>
          </a:prstGeom>
          <a:solidFill>
            <a:srgbClr val="FFF0F5"/>
          </a:solidFill>
          <a:ln w="12700">
            <a:solidFill>
              <a:srgbClr val="FF4DB8"/>
            </a:solidFill>
            <a:prstDash val="solid"/>
          </a:ln>
        </p:spPr>
      </p:sp>
      <p:sp>
        <p:nvSpPr>
          <p:cNvPr id="73" name="Text 70"/>
          <p:cNvSpPr/>
          <p:nvPr/>
        </p:nvSpPr>
        <p:spPr>
          <a:xfrm>
            <a:off x="502920" y="4416552"/>
            <a:ext cx="8046720" cy="457200"/>
          </a:xfrm>
          <a:prstGeom prst="rect">
            <a:avLst/>
          </a:prstGeom>
          <a:noFill/>
          <a:ln/>
        </p:spPr>
        <p:txBody>
          <a:bodyPr wrap="square" rtlCol="0" anchor="ctr"/>
          <a:lstStyle/>
          <a:p>
            <a:pPr indent="0" marL="0">
              <a:buNone/>
            </a:pPr>
            <a:r>
              <a:rPr lang="en-US" sz="1400" dirty="0">
                <a:solidFill>
                  <a:srgbClr val="FF4DB8"/>
                </a:solidFill>
                <a:latin typeface="Meiryo" pitchFamily="34" charset="0"/>
                <a:ea typeface="Meiryo" pitchFamily="34" charset="-122"/>
                <a:cs typeface="Meiryo" pitchFamily="34" charset="-120"/>
              </a:rPr>
              <a:t>▶  Next  |  動画③：撮影・編集のルール</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4DB8"/>
        </a:solidFill>
      </p:bgPr>
    </p:bg>
    <p:spTree>
      <p:nvGrpSpPr>
        <p:cNvPr id="1" name=""/>
        <p:cNvGrpSpPr/>
        <p:nvPr/>
      </p:nvGrpSpPr>
      <p:grpSpPr>
        <a:xfrm>
          <a:off x="0" y="0"/>
          <a:ext cx="0" cy="0"/>
          <a:chOff x="0" y="0"/>
          <a:chExt cx="0" cy="0"/>
        </a:xfrm>
      </p:grpSpPr>
      <p:sp>
        <p:nvSpPr>
          <p:cNvPr id="2" name="Text 0"/>
          <p:cNvSpPr/>
          <p:nvPr/>
        </p:nvSpPr>
        <p:spPr>
          <a:xfrm>
            <a:off x="-274320" y="91440"/>
            <a:ext cx="4114800" cy="4937760"/>
          </a:xfrm>
          <a:prstGeom prst="rect">
            <a:avLst/>
          </a:prstGeom>
          <a:noFill/>
          <a:ln/>
        </p:spPr>
        <p:txBody>
          <a:bodyPr wrap="square" lIns="0" tIns="0" rIns="0" bIns="0" rtlCol="0" anchor="ctr"/>
          <a:lstStyle/>
          <a:p>
            <a:pPr algn="l" indent="0" marL="0">
              <a:buNone/>
            </a:pPr>
            <a:r>
              <a:rPr lang="en-US" sz="30000" b="1" dirty="0">
                <a:solidFill>
                  <a:srgbClr val="FFFFFF">
                    <a:alpha val="80000"/>
                  </a:srgbClr>
                </a:solidFill>
                <a:latin typeface="Meiryo" pitchFamily="34" charset="0"/>
                <a:ea typeface="Meiryo" pitchFamily="34" charset="-122"/>
                <a:cs typeface="Meiryo" pitchFamily="34" charset="-120"/>
              </a:rPr>
              <a:t>3</a:t>
            </a:r>
            <a:endParaRPr lang="en-US" sz="30000" dirty="0"/>
          </a:p>
        </p:txBody>
      </p:sp>
      <p:pic>
        <p:nvPicPr>
          <p:cNvPr id="3" name="Image 0" descr="C:\Users\長澤開\Downloads\pptx-editor\public\illustrations\checklist.png"/>
          <p:cNvPicPr>
            <a:picLocks noChangeAspect="1"/>
          </p:cNvPicPr>
          <p:nvPr/>
        </p:nvPicPr>
        <p:blipFill>
          <a:blip r:embed="rId1">
            <a:alphaModFix amt="80000"/>
          </a:blip>
          <a:stretch>
            <a:fillRect/>
          </a:stretch>
        </p:blipFill>
        <p:spPr>
          <a:xfrm>
            <a:off x="6400800" y="91440"/>
            <a:ext cx="2468880" cy="2194560"/>
          </a:xfrm>
          <a:prstGeom prst="rect">
            <a:avLst/>
          </a:prstGeom>
        </p:spPr>
      </p:pic>
      <p:pic>
        <p:nvPicPr>
          <p:cNvPr id="4" name="Image 1" descr="C:\Users\長澤開\Downloads\pptx-editor\public\illustrations\document.png"/>
          <p:cNvPicPr>
            <a:picLocks noChangeAspect="1"/>
          </p:cNvPicPr>
          <p:nvPr/>
        </p:nvPicPr>
        <p:blipFill>
          <a:blip r:embed="rId2">
            <a:alphaModFix amt="80000"/>
          </a:blip>
          <a:stretch>
            <a:fillRect/>
          </a:stretch>
        </p:blipFill>
        <p:spPr>
          <a:xfrm>
            <a:off x="7132320" y="3108960"/>
            <a:ext cx="1828800" cy="1920240"/>
          </a:xfrm>
          <a:prstGeom prst="rect">
            <a:avLst/>
          </a:prstGeom>
        </p:spPr>
      </p:pic>
      <p:pic>
        <p:nvPicPr>
          <p:cNvPr id="5" name="Image 2" descr="C:\Users\長澤開\Downloads\pptx-editor\public\illustrations\star.png"/>
          <p:cNvPicPr>
            <a:picLocks noChangeAspect="1"/>
          </p:cNvPicPr>
          <p:nvPr/>
        </p:nvPicPr>
        <p:blipFill>
          <a:blip r:embed="rId3">
            <a:alphaModFix amt="70000"/>
          </a:blip>
          <a:stretch>
            <a:fillRect/>
          </a:stretch>
        </p:blipFill>
        <p:spPr>
          <a:xfrm>
            <a:off x="182880" y="3200400"/>
            <a:ext cx="1645920" cy="1645920"/>
          </a:xfrm>
          <a:prstGeom prst="rect">
            <a:avLst/>
          </a:prstGeom>
        </p:spPr>
      </p:pic>
      <p:sp>
        <p:nvSpPr>
          <p:cNvPr id="6" name="Shape 1"/>
          <p:cNvSpPr/>
          <p:nvPr/>
        </p:nvSpPr>
        <p:spPr>
          <a:xfrm>
            <a:off x="2743200" y="1371600"/>
            <a:ext cx="5760720" cy="2377440"/>
          </a:xfrm>
          <a:prstGeom prst="roundRect">
            <a:avLst>
              <a:gd name="adj" fmla="val 6923"/>
            </a:avLst>
          </a:prstGeom>
          <a:solidFill>
            <a:srgbClr val="FFFFFF"/>
          </a:solidFill>
          <a:ln w="12700">
            <a:solidFill>
              <a:srgbClr val="FFFFFF"/>
            </a:solidFill>
            <a:prstDash val="solid"/>
          </a:ln>
        </p:spPr>
      </p:sp>
      <p:sp>
        <p:nvSpPr>
          <p:cNvPr id="7" name="Text 2"/>
          <p:cNvSpPr/>
          <p:nvPr/>
        </p:nvSpPr>
        <p:spPr>
          <a:xfrm>
            <a:off x="2926080" y="1600200"/>
            <a:ext cx="5394960" cy="1005840"/>
          </a:xfrm>
          <a:prstGeom prst="rect">
            <a:avLst/>
          </a:prstGeom>
          <a:noFill/>
          <a:ln/>
        </p:spPr>
        <p:txBody>
          <a:bodyPr wrap="square" rtlCol="0" anchor="ctr"/>
          <a:lstStyle/>
          <a:p>
            <a:pPr indent="0" marL="0">
              <a:buNone/>
            </a:pPr>
            <a:r>
              <a:rPr lang="en-US" sz="3800" b="1" dirty="0">
                <a:solidFill>
                  <a:srgbClr val="1A1A1A"/>
                </a:solidFill>
                <a:latin typeface="Meiryo" pitchFamily="34" charset="0"/>
                <a:ea typeface="Meiryo" pitchFamily="34" charset="-122"/>
                <a:cs typeface="Meiryo" pitchFamily="34" charset="-120"/>
              </a:rPr>
              <a:t>動画③</a:t>
            </a:r>
            <a:endParaRPr lang="en-US" sz="3800" dirty="0"/>
          </a:p>
        </p:txBody>
      </p:sp>
      <p:sp>
        <p:nvSpPr>
          <p:cNvPr id="8" name="Text 3"/>
          <p:cNvSpPr/>
          <p:nvPr/>
        </p:nvSpPr>
        <p:spPr>
          <a:xfrm>
            <a:off x="2926080" y="2606040"/>
            <a:ext cx="5394960" cy="594360"/>
          </a:xfrm>
          <a:prstGeom prst="rect">
            <a:avLst/>
          </a:prstGeom>
          <a:noFill/>
          <a:ln/>
        </p:spPr>
        <p:txBody>
          <a:bodyPr wrap="square" rtlCol="0" anchor="ctr"/>
          <a:lstStyle/>
          <a:p>
            <a:pPr indent="0" marL="0">
              <a:buNone/>
            </a:pPr>
            <a:r>
              <a:rPr lang="en-US" sz="1700" dirty="0">
                <a:solidFill>
                  <a:srgbClr val="555555"/>
                </a:solidFill>
                <a:latin typeface="Meiryo" pitchFamily="34" charset="0"/>
                <a:ea typeface="Meiryo" pitchFamily="34" charset="-122"/>
                <a:cs typeface="Meiryo" pitchFamily="34" charset="-120"/>
              </a:rPr>
              <a:t>撮影・編集のルール</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Text 55"/>
          <p:cNvSpPr/>
          <p:nvPr/>
        </p:nvSpPr>
        <p:spPr>
          <a:xfrm>
            <a:off x="457200" y="228600"/>
            <a:ext cx="8229600" cy="640080"/>
          </a:xfrm>
          <a:prstGeom prst="rect">
            <a:avLst/>
          </a:prstGeom>
          <a:noFill/>
          <a:ln/>
        </p:spPr>
        <p:txBody>
          <a:bodyPr wrap="square" rtlCol="0" anchor="ctr"/>
          <a:lstStyle/>
          <a:p>
            <a:pPr indent="0" marL="0">
              <a:buNone/>
            </a:pPr>
            <a:r>
              <a:rPr lang="en-US" sz="3200" b="1" dirty="0">
                <a:solidFill>
                  <a:srgbClr val="1A1A1A"/>
                </a:solidFill>
                <a:latin typeface="Meiryo" pitchFamily="34" charset="0"/>
                <a:ea typeface="Meiryo" pitchFamily="34" charset="-122"/>
                <a:cs typeface="Meiryo" pitchFamily="34" charset="-120"/>
              </a:rPr>
              <a:t>この動画で学ぶこと</a:t>
            </a:r>
            <a:endParaRPr lang="en-US" sz="3200" dirty="0"/>
          </a:p>
        </p:txBody>
      </p:sp>
      <p:sp>
        <p:nvSpPr>
          <p:cNvPr id="58" name="Shape 56"/>
          <p:cNvSpPr/>
          <p:nvPr/>
        </p:nvSpPr>
        <p:spPr>
          <a:xfrm>
            <a:off x="457200" y="850392"/>
            <a:ext cx="8229600" cy="36576"/>
          </a:xfrm>
          <a:prstGeom prst="rect">
            <a:avLst/>
          </a:prstGeom>
          <a:solidFill>
            <a:srgbClr val="FFB3E0"/>
          </a:solidFill>
          <a:ln w="12700">
            <a:solidFill>
              <a:srgbClr val="FFB3E0"/>
            </a:solidFill>
            <a:prstDash val="solid"/>
          </a:ln>
        </p:spPr>
      </p:sp>
      <p:sp>
        <p:nvSpPr>
          <p:cNvPr id="59" name="Shape 57"/>
          <p:cNvSpPr/>
          <p:nvPr/>
        </p:nvSpPr>
        <p:spPr>
          <a:xfrm>
            <a:off x="45720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60" name="Image 0" descr="C:\Users\長澤開\Downloads\pptx-editor\public\illustrations\shield-lock.sv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8680" y="1051560"/>
            <a:ext cx="1828800" cy="1417320"/>
          </a:xfrm>
          <a:prstGeom prst="rect">
            <a:avLst/>
          </a:prstGeom>
        </p:spPr>
      </p:pic>
      <p:sp>
        <p:nvSpPr>
          <p:cNvPr id="61" name="Shape 58"/>
          <p:cNvSpPr/>
          <p:nvPr/>
        </p:nvSpPr>
        <p:spPr>
          <a:xfrm>
            <a:off x="566928" y="2578608"/>
            <a:ext cx="548640" cy="548640"/>
          </a:xfrm>
          <a:prstGeom prst="ellipse">
            <a:avLst/>
          </a:prstGeom>
          <a:solidFill>
            <a:srgbClr val="FF4DB8"/>
          </a:solidFill>
          <a:ln w="12700">
            <a:solidFill>
              <a:srgbClr val="FF4DB8"/>
            </a:solidFill>
            <a:prstDash val="solid"/>
          </a:ln>
        </p:spPr>
      </p:sp>
      <p:sp>
        <p:nvSpPr>
          <p:cNvPr id="62" name="Text 59"/>
          <p:cNvSpPr/>
          <p:nvPr/>
        </p:nvSpPr>
        <p:spPr>
          <a:xfrm>
            <a:off x="56692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01</a:t>
            </a:r>
            <a:endParaRPr lang="en-US" sz="1800" dirty="0"/>
          </a:p>
        </p:txBody>
      </p:sp>
      <p:sp>
        <p:nvSpPr>
          <p:cNvPr id="63" name="Text 60"/>
          <p:cNvSpPr/>
          <p:nvPr/>
        </p:nvSpPr>
        <p:spPr>
          <a:xfrm>
            <a:off x="59436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字コンテFIX後の鉄則</a:t>
            </a:r>
            <a:endParaRPr lang="en-US" sz="1500" dirty="0"/>
          </a:p>
        </p:txBody>
      </p:sp>
      <p:sp>
        <p:nvSpPr>
          <p:cNvPr id="64" name="Text 61"/>
          <p:cNvSpPr/>
          <p:nvPr/>
        </p:nvSpPr>
        <p:spPr>
          <a:xfrm>
            <a:off x="59436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FIX＝確定。勝手に変えると</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トラブルになる</a:t>
            </a:r>
            <a:endParaRPr lang="en-US" sz="1200" dirty="0"/>
          </a:p>
        </p:txBody>
      </p:sp>
      <p:sp>
        <p:nvSpPr>
          <p:cNvPr id="65" name="Shape 62"/>
          <p:cNvSpPr/>
          <p:nvPr/>
        </p:nvSpPr>
        <p:spPr>
          <a:xfrm>
            <a:off x="329184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66" name="Image 1" descr="C:\Users\長澤開\Downloads\pptx-editor\public\illustrations\warning-person.sv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03320" y="1051560"/>
            <a:ext cx="1828800" cy="1417320"/>
          </a:xfrm>
          <a:prstGeom prst="rect">
            <a:avLst/>
          </a:prstGeom>
        </p:spPr>
      </p:pic>
      <p:sp>
        <p:nvSpPr>
          <p:cNvPr id="67" name="Shape 63"/>
          <p:cNvSpPr/>
          <p:nvPr/>
        </p:nvSpPr>
        <p:spPr>
          <a:xfrm>
            <a:off x="3401568" y="2578608"/>
            <a:ext cx="548640" cy="548640"/>
          </a:xfrm>
          <a:prstGeom prst="ellipse">
            <a:avLst/>
          </a:prstGeom>
          <a:solidFill>
            <a:srgbClr val="FF4DB8"/>
          </a:solidFill>
          <a:ln w="12700">
            <a:solidFill>
              <a:srgbClr val="FF4DB8"/>
            </a:solidFill>
            <a:prstDash val="solid"/>
          </a:ln>
        </p:spPr>
      </p:sp>
      <p:sp>
        <p:nvSpPr>
          <p:cNvPr id="68" name="Text 64"/>
          <p:cNvSpPr/>
          <p:nvPr/>
        </p:nvSpPr>
        <p:spPr>
          <a:xfrm>
            <a:off x="340156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02</a:t>
            </a:r>
            <a:endParaRPr lang="en-US" sz="1800" dirty="0"/>
          </a:p>
        </p:txBody>
      </p:sp>
      <p:sp>
        <p:nvSpPr>
          <p:cNvPr id="69" name="Text 65"/>
          <p:cNvSpPr/>
          <p:nvPr/>
        </p:nvSpPr>
        <p:spPr>
          <a:xfrm>
            <a:off x="342900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セーフティーゾーンとは</a:t>
            </a:r>
            <a:endParaRPr lang="en-US" sz="1500" dirty="0"/>
          </a:p>
        </p:txBody>
      </p:sp>
      <p:sp>
        <p:nvSpPr>
          <p:cNvPr id="70" name="Text 66"/>
          <p:cNvSpPr/>
          <p:nvPr/>
        </p:nvSpPr>
        <p:spPr>
          <a:xfrm>
            <a:off x="342900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UIに隠れない安全な</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テキスト表示エリア</a:t>
            </a:r>
            <a:endParaRPr lang="en-US" sz="1200" dirty="0"/>
          </a:p>
        </p:txBody>
      </p:sp>
      <p:sp>
        <p:nvSpPr>
          <p:cNvPr id="71" name="Shape 67"/>
          <p:cNvSpPr/>
          <p:nvPr/>
        </p:nvSpPr>
        <p:spPr>
          <a:xfrm>
            <a:off x="612648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72" name="Image 2" descr="C:\Users\長澤開\Downloads\pptx-editor\public\illustrations\checklist.png"/>
          <p:cNvPicPr>
            <a:picLocks noChangeAspect="1"/>
          </p:cNvPicPr>
          <p:nvPr/>
        </p:nvPicPr>
        <p:blipFill>
          <a:blip r:embed="rId5"/>
          <a:stretch>
            <a:fillRect/>
          </a:stretch>
        </p:blipFill>
        <p:spPr>
          <a:xfrm>
            <a:off x="6537960" y="1051560"/>
            <a:ext cx="1828800" cy="1417320"/>
          </a:xfrm>
          <a:prstGeom prst="rect">
            <a:avLst/>
          </a:prstGeom>
        </p:spPr>
      </p:pic>
      <p:sp>
        <p:nvSpPr>
          <p:cNvPr id="73" name="Shape 68"/>
          <p:cNvSpPr/>
          <p:nvPr/>
        </p:nvSpPr>
        <p:spPr>
          <a:xfrm>
            <a:off x="6236208" y="2578608"/>
            <a:ext cx="548640" cy="548640"/>
          </a:xfrm>
          <a:prstGeom prst="ellipse">
            <a:avLst/>
          </a:prstGeom>
          <a:solidFill>
            <a:srgbClr val="FF4DB8"/>
          </a:solidFill>
          <a:ln w="12700">
            <a:solidFill>
              <a:srgbClr val="FF4DB8"/>
            </a:solidFill>
            <a:prstDash val="solid"/>
          </a:ln>
        </p:spPr>
      </p:sp>
      <p:sp>
        <p:nvSpPr>
          <p:cNvPr id="74" name="Text 69"/>
          <p:cNvSpPr/>
          <p:nvPr/>
        </p:nvSpPr>
        <p:spPr>
          <a:xfrm>
            <a:off x="623620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03</a:t>
            </a:r>
            <a:endParaRPr lang="en-US" sz="1800" dirty="0"/>
          </a:p>
        </p:txBody>
      </p:sp>
      <p:sp>
        <p:nvSpPr>
          <p:cNvPr id="75" name="Text 70"/>
          <p:cNvSpPr/>
          <p:nvPr/>
        </p:nvSpPr>
        <p:spPr>
          <a:xfrm>
            <a:off x="626364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下書き画面録画とカバー画像</a:t>
            </a:r>
            <a:endParaRPr lang="en-US" sz="1500" dirty="0"/>
          </a:p>
        </p:txBody>
      </p:sp>
      <p:sp>
        <p:nvSpPr>
          <p:cNvPr id="76" name="Text 71"/>
          <p:cNvSpPr/>
          <p:nvPr/>
        </p:nvSpPr>
        <p:spPr>
          <a:xfrm>
            <a:off x="626364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提出前の最終確認と</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サムネイルのルール</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73075"/>
            <a:ext cx="8321040" cy="344729"/>
          </a:xfrm>
          <a:prstGeom prst="rect">
            <a:avLst/>
          </a:prstGeom>
          <a:solidFill>
            <a:srgbClr val="FFE455"/>
          </a:solidFill>
          <a:ln w="12700">
            <a:solidFill>
              <a:srgbClr val="FFE455"/>
            </a:solidFill>
            <a:prstDash val="solid"/>
          </a:ln>
        </p:spPr>
      </p:sp>
      <p:sp>
        <p:nvSpPr>
          <p:cNvPr id="58" name="Text 56"/>
          <p:cNvSpPr/>
          <p:nvPr/>
        </p:nvSpPr>
        <p:spPr>
          <a:xfrm>
            <a:off x="457200" y="182880"/>
            <a:ext cx="8229600" cy="594360"/>
          </a:xfrm>
          <a:prstGeom prst="rect">
            <a:avLst/>
          </a:prstGeom>
          <a:noFill/>
          <a:ln/>
        </p:spPr>
        <p:txBody>
          <a:bodyPr wrap="square" rtlCol="0" anchor="ctr"/>
          <a:lstStyle/>
          <a:p>
            <a:pPr indent="0" marL="0">
              <a:buNone/>
            </a:pPr>
            <a:r>
              <a:rPr lang="en-US" sz="2600" b="1" dirty="0">
                <a:solidFill>
                  <a:srgbClr val="1A1A1A"/>
                </a:solidFill>
                <a:latin typeface="Meiryo" pitchFamily="34" charset="0"/>
                <a:ea typeface="Meiryo" pitchFamily="34" charset="-122"/>
                <a:cs typeface="Meiryo" pitchFamily="34" charset="-120"/>
              </a:rPr>
              <a:t>FIXした字コンテ通りに作る</a:t>
            </a:r>
            <a:endParaRPr lang="en-US" sz="2600" dirty="0"/>
          </a:p>
        </p:txBody>
      </p:sp>
      <p:sp>
        <p:nvSpPr>
          <p:cNvPr id="59" name="Shape 57"/>
          <p:cNvSpPr/>
          <p:nvPr/>
        </p:nvSpPr>
        <p:spPr>
          <a:xfrm>
            <a:off x="457200" y="758952"/>
            <a:ext cx="8229600" cy="36576"/>
          </a:xfrm>
          <a:prstGeom prst="rect">
            <a:avLst/>
          </a:prstGeom>
          <a:solidFill>
            <a:srgbClr val="FFB3E0"/>
          </a:solidFill>
          <a:ln w="12700">
            <a:solidFill>
              <a:srgbClr val="FFB3E0"/>
            </a:solidFill>
            <a:prstDash val="solid"/>
          </a:ln>
        </p:spPr>
      </p:sp>
      <p:sp>
        <p:nvSpPr>
          <p:cNvPr id="60" name="Shape 58"/>
          <p:cNvSpPr/>
          <p:nvPr/>
        </p:nvSpPr>
        <p:spPr>
          <a:xfrm>
            <a:off x="36576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1" name="Shape 59"/>
          <p:cNvSpPr/>
          <p:nvPr/>
        </p:nvSpPr>
        <p:spPr>
          <a:xfrm>
            <a:off x="457200" y="1143000"/>
            <a:ext cx="548640" cy="411480"/>
          </a:xfrm>
          <a:prstGeom prst="roundRect">
            <a:avLst>
              <a:gd name="adj" fmla="val 15556"/>
            </a:avLst>
          </a:prstGeom>
          <a:solidFill>
            <a:srgbClr val="E63946"/>
          </a:solidFill>
          <a:ln w="12700">
            <a:solidFill>
              <a:srgbClr val="E63946"/>
            </a:solidFill>
            <a:prstDash val="solid"/>
          </a:ln>
        </p:spPr>
      </p:sp>
      <p:sp>
        <p:nvSpPr>
          <p:cNvPr id="62" name="Text 60"/>
          <p:cNvSpPr/>
          <p:nvPr/>
        </p:nvSpPr>
        <p:spPr>
          <a:xfrm>
            <a:off x="45720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63" name="Shape 61"/>
          <p:cNvSpPr/>
          <p:nvPr/>
        </p:nvSpPr>
        <p:spPr>
          <a:xfrm>
            <a:off x="3749040" y="1143000"/>
            <a:ext cx="685800" cy="365760"/>
          </a:xfrm>
          <a:prstGeom prst="roundRect">
            <a:avLst>
              <a:gd name="adj" fmla="val 12500"/>
            </a:avLst>
          </a:prstGeom>
          <a:solidFill>
            <a:srgbClr val="FFE6F3"/>
          </a:solidFill>
          <a:ln w="12700">
            <a:solidFill>
              <a:srgbClr val="FF4DB8"/>
            </a:solidFill>
            <a:prstDash val="solid"/>
          </a:ln>
        </p:spPr>
      </p:sp>
      <p:sp>
        <p:nvSpPr>
          <p:cNvPr id="64" name="Text 62"/>
          <p:cNvSpPr/>
          <p:nvPr/>
        </p:nvSpPr>
        <p:spPr>
          <a:xfrm>
            <a:off x="374904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65" name="Text 63"/>
          <p:cNvSpPr/>
          <p:nvPr/>
        </p:nvSpPr>
        <p:spPr>
          <a:xfrm>
            <a:off x="109728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「FIX」＝確定。変更したい場合は必ず事前に担当者へ確認！</a:t>
            </a:r>
            <a:endParaRPr lang="en-US" sz="1300" dirty="0"/>
          </a:p>
        </p:txBody>
      </p:sp>
      <p:sp>
        <p:nvSpPr>
          <p:cNvPr id="66" name="Text 64"/>
          <p:cNvSpPr/>
          <p:nvPr/>
        </p:nvSpPr>
        <p:spPr>
          <a:xfrm>
            <a:off x="45720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67" name="Shape 65"/>
          <p:cNvSpPr/>
          <p:nvPr/>
        </p:nvSpPr>
        <p:spPr>
          <a:xfrm>
            <a:off x="475488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8" name="Shape 66"/>
          <p:cNvSpPr/>
          <p:nvPr/>
        </p:nvSpPr>
        <p:spPr>
          <a:xfrm>
            <a:off x="4846320" y="1143000"/>
            <a:ext cx="548640" cy="411480"/>
          </a:xfrm>
          <a:prstGeom prst="roundRect">
            <a:avLst>
              <a:gd name="adj" fmla="val 15556"/>
            </a:avLst>
          </a:prstGeom>
          <a:solidFill>
            <a:srgbClr val="E63946"/>
          </a:solidFill>
          <a:ln w="12700">
            <a:solidFill>
              <a:srgbClr val="E63946"/>
            </a:solidFill>
            <a:prstDash val="solid"/>
          </a:ln>
        </p:spPr>
      </p:sp>
      <p:sp>
        <p:nvSpPr>
          <p:cNvPr id="69" name="Text 67"/>
          <p:cNvSpPr/>
          <p:nvPr/>
        </p:nvSpPr>
        <p:spPr>
          <a:xfrm>
            <a:off x="484632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0" name="Shape 68"/>
          <p:cNvSpPr/>
          <p:nvPr/>
        </p:nvSpPr>
        <p:spPr>
          <a:xfrm>
            <a:off x="8138160" y="1143000"/>
            <a:ext cx="685800" cy="365760"/>
          </a:xfrm>
          <a:prstGeom prst="roundRect">
            <a:avLst>
              <a:gd name="adj" fmla="val 12500"/>
            </a:avLst>
          </a:prstGeom>
          <a:solidFill>
            <a:srgbClr val="FFE6F3"/>
          </a:solidFill>
          <a:ln w="12700">
            <a:solidFill>
              <a:srgbClr val="FF4DB8"/>
            </a:solidFill>
            <a:prstDash val="solid"/>
          </a:ln>
        </p:spPr>
      </p:sp>
      <p:sp>
        <p:nvSpPr>
          <p:cNvPr id="71" name="Text 69"/>
          <p:cNvSpPr/>
          <p:nvPr/>
        </p:nvSpPr>
        <p:spPr>
          <a:xfrm>
            <a:off x="813816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2" name="Text 70"/>
          <p:cNvSpPr/>
          <p:nvPr/>
        </p:nvSpPr>
        <p:spPr>
          <a:xfrm>
            <a:off x="548640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NG：「自分がよいと思ったから」と勝手に内容を変える</a:t>
            </a:r>
            <a:endParaRPr lang="en-US" sz="1300" dirty="0"/>
          </a:p>
        </p:txBody>
      </p:sp>
      <p:sp>
        <p:nvSpPr>
          <p:cNvPr id="73" name="Text 71"/>
          <p:cNvSpPr/>
          <p:nvPr/>
        </p:nvSpPr>
        <p:spPr>
          <a:xfrm>
            <a:off x="484632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74" name="Shape 72"/>
          <p:cNvSpPr/>
          <p:nvPr/>
        </p:nvSpPr>
        <p:spPr>
          <a:xfrm>
            <a:off x="36576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75" name="Shape 73"/>
          <p:cNvSpPr/>
          <p:nvPr/>
        </p:nvSpPr>
        <p:spPr>
          <a:xfrm>
            <a:off x="457200" y="3017520"/>
            <a:ext cx="548640" cy="411480"/>
          </a:xfrm>
          <a:prstGeom prst="roundRect">
            <a:avLst>
              <a:gd name="adj" fmla="val 15556"/>
            </a:avLst>
          </a:prstGeom>
          <a:solidFill>
            <a:srgbClr val="E63946"/>
          </a:solidFill>
          <a:ln w="12700">
            <a:solidFill>
              <a:srgbClr val="E63946"/>
            </a:solidFill>
            <a:prstDash val="solid"/>
          </a:ln>
        </p:spPr>
      </p:sp>
      <p:sp>
        <p:nvSpPr>
          <p:cNvPr id="76" name="Text 74"/>
          <p:cNvSpPr/>
          <p:nvPr/>
        </p:nvSpPr>
        <p:spPr>
          <a:xfrm>
            <a:off x="45720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7" name="Shape 75"/>
          <p:cNvSpPr/>
          <p:nvPr/>
        </p:nvSpPr>
        <p:spPr>
          <a:xfrm>
            <a:off x="3749040" y="3017520"/>
            <a:ext cx="685800" cy="365760"/>
          </a:xfrm>
          <a:prstGeom prst="roundRect">
            <a:avLst>
              <a:gd name="adj" fmla="val 12500"/>
            </a:avLst>
          </a:prstGeom>
          <a:solidFill>
            <a:srgbClr val="FFE6F3"/>
          </a:solidFill>
          <a:ln w="12700">
            <a:solidFill>
              <a:srgbClr val="FF4DB8"/>
            </a:solidFill>
            <a:prstDash val="solid"/>
          </a:ln>
        </p:spPr>
      </p:sp>
      <p:sp>
        <p:nvSpPr>
          <p:cNvPr id="78" name="Text 76"/>
          <p:cNvSpPr/>
          <p:nvPr/>
        </p:nvSpPr>
        <p:spPr>
          <a:xfrm>
            <a:off x="374904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9" name="Text 77"/>
          <p:cNvSpPr/>
          <p:nvPr/>
        </p:nvSpPr>
        <p:spPr>
          <a:xfrm>
            <a:off x="109728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NG：「このシーンいらないかな」と勝手に省略する</a:t>
            </a:r>
            <a:endParaRPr lang="en-US" sz="1300" dirty="0"/>
          </a:p>
        </p:txBody>
      </p:sp>
      <p:sp>
        <p:nvSpPr>
          <p:cNvPr id="80" name="Text 78"/>
          <p:cNvSpPr/>
          <p:nvPr/>
        </p:nvSpPr>
        <p:spPr>
          <a:xfrm>
            <a:off x="45720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81" name="Shape 79"/>
          <p:cNvSpPr/>
          <p:nvPr/>
        </p:nvSpPr>
        <p:spPr>
          <a:xfrm>
            <a:off x="475488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82" name="Shape 80"/>
          <p:cNvSpPr/>
          <p:nvPr/>
        </p:nvSpPr>
        <p:spPr>
          <a:xfrm>
            <a:off x="4846320" y="3017520"/>
            <a:ext cx="548640" cy="411480"/>
          </a:xfrm>
          <a:prstGeom prst="roundRect">
            <a:avLst>
              <a:gd name="adj" fmla="val 15556"/>
            </a:avLst>
          </a:prstGeom>
          <a:solidFill>
            <a:srgbClr val="E63946"/>
          </a:solidFill>
          <a:ln w="12700">
            <a:solidFill>
              <a:srgbClr val="E63946"/>
            </a:solidFill>
            <a:prstDash val="solid"/>
          </a:ln>
        </p:spPr>
      </p:sp>
      <p:sp>
        <p:nvSpPr>
          <p:cNvPr id="83" name="Text 81"/>
          <p:cNvSpPr/>
          <p:nvPr/>
        </p:nvSpPr>
        <p:spPr>
          <a:xfrm>
            <a:off x="484632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84" name="Shape 82"/>
          <p:cNvSpPr/>
          <p:nvPr/>
        </p:nvSpPr>
        <p:spPr>
          <a:xfrm>
            <a:off x="8138160" y="3017520"/>
            <a:ext cx="685800" cy="365760"/>
          </a:xfrm>
          <a:prstGeom prst="roundRect">
            <a:avLst>
              <a:gd name="adj" fmla="val 12500"/>
            </a:avLst>
          </a:prstGeom>
          <a:solidFill>
            <a:srgbClr val="FFE6F3"/>
          </a:solidFill>
          <a:ln w="12700">
            <a:solidFill>
              <a:srgbClr val="FF4DB8"/>
            </a:solidFill>
            <a:prstDash val="solid"/>
          </a:ln>
        </p:spPr>
      </p:sp>
      <p:sp>
        <p:nvSpPr>
          <p:cNvPr id="85" name="Text 83"/>
          <p:cNvSpPr/>
          <p:nvPr/>
        </p:nvSpPr>
        <p:spPr>
          <a:xfrm>
            <a:off x="813816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86" name="Text 84"/>
          <p:cNvSpPr/>
          <p:nvPr/>
        </p:nvSpPr>
        <p:spPr>
          <a:xfrm>
            <a:off x="548640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OK：変更したい場合は撮影前に担当者に相談・合意を取る</a:t>
            </a:r>
            <a:endParaRPr lang="en-US" sz="1300" dirty="0"/>
          </a:p>
        </p:txBody>
      </p:sp>
      <p:sp>
        <p:nvSpPr>
          <p:cNvPr id="87" name="Text 85"/>
          <p:cNvSpPr/>
          <p:nvPr/>
        </p:nvSpPr>
        <p:spPr>
          <a:xfrm>
            <a:off x="484632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FIX（Fix）＝固定・確定の意味。業界でよく使われる言葉です</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73075"/>
            <a:ext cx="8321040" cy="344729"/>
          </a:xfrm>
          <a:prstGeom prst="rect">
            <a:avLst/>
          </a:prstGeom>
          <a:solidFill>
            <a:srgbClr val="FFE455"/>
          </a:solidFill>
          <a:ln w="12700">
            <a:solidFill>
              <a:srgbClr val="FFE455"/>
            </a:solidFill>
            <a:prstDash val="solid"/>
          </a:ln>
        </p:spPr>
      </p:sp>
      <p:sp>
        <p:nvSpPr>
          <p:cNvPr id="58" name="Text 56"/>
          <p:cNvSpPr/>
          <p:nvPr/>
        </p:nvSpPr>
        <p:spPr>
          <a:xfrm>
            <a:off x="457200" y="182880"/>
            <a:ext cx="8229600" cy="594360"/>
          </a:xfrm>
          <a:prstGeom prst="rect">
            <a:avLst/>
          </a:prstGeom>
          <a:noFill/>
          <a:ln/>
        </p:spPr>
        <p:txBody>
          <a:bodyPr wrap="square" rtlCol="0" anchor="ctr"/>
          <a:lstStyle/>
          <a:p>
            <a:pPr indent="0" marL="0">
              <a:buNone/>
            </a:pPr>
            <a:r>
              <a:rPr lang="en-US" sz="2200" b="1" dirty="0">
                <a:solidFill>
                  <a:srgbClr val="1A1A1A"/>
                </a:solidFill>
                <a:latin typeface="Meiryo" pitchFamily="34" charset="0"/>
                <a:ea typeface="Meiryo" pitchFamily="34" charset="-122"/>
                <a:cs typeface="Meiryo" pitchFamily="34" charset="-120"/>
              </a:rPr>
              <a:t>セーフティーゾーンって何？</a:t>
            </a:r>
            <a:endParaRPr lang="en-US" sz="2200" dirty="0"/>
          </a:p>
        </p:txBody>
      </p:sp>
      <p:sp>
        <p:nvSpPr>
          <p:cNvPr id="59" name="Shape 57"/>
          <p:cNvSpPr/>
          <p:nvPr/>
        </p:nvSpPr>
        <p:spPr>
          <a:xfrm>
            <a:off x="457200" y="758952"/>
            <a:ext cx="8229600" cy="36576"/>
          </a:xfrm>
          <a:prstGeom prst="rect">
            <a:avLst/>
          </a:prstGeom>
          <a:solidFill>
            <a:srgbClr val="FFB3E0"/>
          </a:solidFill>
          <a:ln w="12700">
            <a:solidFill>
              <a:srgbClr val="FFB3E0"/>
            </a:solidFill>
            <a:prstDash val="solid"/>
          </a:ln>
        </p:spPr>
      </p:sp>
      <p:sp>
        <p:nvSpPr>
          <p:cNvPr id="60" name="Shape 58"/>
          <p:cNvSpPr/>
          <p:nvPr/>
        </p:nvSpPr>
        <p:spPr>
          <a:xfrm>
            <a:off x="365760" y="960120"/>
            <a:ext cx="3657600" cy="3429000"/>
          </a:xfrm>
          <a:prstGeom prst="roundRect">
            <a:avLst>
              <a:gd name="adj" fmla="val 2667"/>
            </a:avLst>
          </a:prstGeom>
          <a:solidFill>
            <a:srgbClr val="FFE6F3"/>
          </a:solidFill>
          <a:ln w="19050">
            <a:solidFill>
              <a:srgbClr val="FF4DB8"/>
            </a:solidFill>
            <a:prstDash val="solid"/>
          </a:ln>
        </p:spPr>
      </p:sp>
      <p:sp>
        <p:nvSpPr>
          <p:cNvPr id="61" name="Text 59"/>
          <p:cNvSpPr/>
          <p:nvPr/>
        </p:nvSpPr>
        <p:spPr>
          <a:xfrm>
            <a:off x="457200" y="1051560"/>
            <a:ext cx="3474720" cy="384048"/>
          </a:xfrm>
          <a:prstGeom prst="rect">
            <a:avLst/>
          </a:prstGeom>
          <a:noFill/>
          <a:ln/>
        </p:spPr>
        <p:txBody>
          <a:bodyPr wrap="square" rtlCol="0" anchor="ctr"/>
          <a:lstStyle/>
          <a:p>
            <a:pPr indent="0" marL="0">
              <a:buNone/>
            </a:pPr>
            <a:r>
              <a:rPr lang="en-US" sz="1400" b="1" dirty="0">
                <a:solidFill>
                  <a:srgbClr val="FF4DB8"/>
                </a:solidFill>
                <a:latin typeface="Meiryo" pitchFamily="34" charset="0"/>
                <a:ea typeface="Meiryo" pitchFamily="34" charset="-122"/>
                <a:cs typeface="Meiryo" pitchFamily="34" charset="-120"/>
              </a:rPr>
              <a:t>📌 定義</a:t>
            </a:r>
            <a:endParaRPr lang="en-US" sz="1400" dirty="0"/>
          </a:p>
        </p:txBody>
      </p:sp>
      <p:sp>
        <p:nvSpPr>
          <p:cNvPr id="62" name="Text 60"/>
          <p:cNvSpPr/>
          <p:nvPr/>
        </p:nvSpPr>
        <p:spPr>
          <a:xfrm>
            <a:off x="457200" y="1463040"/>
            <a:ext cx="3474720" cy="1280160"/>
          </a:xfrm>
          <a:prstGeom prst="rect">
            <a:avLst/>
          </a:prstGeom>
          <a:noFill/>
          <a:ln/>
        </p:spPr>
        <p:txBody>
          <a:bodyPr wrap="square" rtlCol="0" anchor="ctr"/>
          <a:lstStyle/>
          <a:p>
            <a:pPr algn="ctr" indent="0" marL="0">
              <a:buNone/>
            </a:pPr>
            <a:r>
              <a:rPr lang="en-US" sz="4800" b="1" dirty="0">
                <a:solidFill>
                  <a:srgbClr val="FF4DB8"/>
                </a:solidFill>
                <a:latin typeface="Meiryo" pitchFamily="34" charset="0"/>
                <a:ea typeface="Meiryo" pitchFamily="34" charset="-122"/>
                <a:cs typeface="Meiryo" pitchFamily="34" charset="-120"/>
              </a:rPr>
              <a:t>投稿したときに「いいね・コメント・フォロー」等の</a:t>
            </a:r>
            <a:endParaRPr lang="en-US" sz="4800" dirty="0"/>
          </a:p>
          <a:p>
            <a:pPr algn="ctr" indent="0" marL="0">
              <a:buNone/>
            </a:pPr>
            <a:r>
              <a:rPr lang="en-US" sz="4800" b="1" dirty="0">
                <a:solidFill>
                  <a:srgbClr val="FF4DB8"/>
                </a:solidFill>
                <a:latin typeface="Meiryo" pitchFamily="34" charset="0"/>
                <a:ea typeface="Meiryo" pitchFamily="34" charset="-122"/>
                <a:cs typeface="Meiryo" pitchFamily="34" charset="-120"/>
              </a:rPr>
              <a:t>UIに隠れない、安全なテキスト表示エリア</a:t>
            </a:r>
            <a:endParaRPr lang="en-US" sz="4800" dirty="0"/>
          </a:p>
        </p:txBody>
      </p:sp>
      <p:sp>
        <p:nvSpPr>
          <p:cNvPr id="63" name="Text 61"/>
          <p:cNvSpPr/>
          <p:nvPr/>
        </p:nvSpPr>
        <p:spPr>
          <a:xfrm>
            <a:off x="457200" y="2834640"/>
            <a:ext cx="3474720" cy="347472"/>
          </a:xfrm>
          <a:prstGeom prst="rect">
            <a:avLst/>
          </a:prstGeom>
          <a:noFill/>
          <a:ln/>
        </p:spPr>
        <p:txBody>
          <a:bodyPr wrap="square" rtlCol="0" anchor="ctr"/>
          <a:lstStyle/>
          <a:p>
            <a:pPr algn="ctr" indent="0" marL="0">
              <a:buNone/>
            </a:pPr>
            <a:r>
              <a:rPr lang="en-US" sz="1300" dirty="0">
                <a:solidFill>
                  <a:srgbClr val="555555"/>
                </a:solidFill>
                <a:latin typeface="Meiryo" pitchFamily="34" charset="0"/>
                <a:ea typeface="Meiryo" pitchFamily="34" charset="-122"/>
                <a:cs typeface="Meiryo" pitchFamily="34" charset="-120"/>
              </a:rPr>
              <a:t/>
            </a:r>
            <a:endParaRPr lang="en-US" sz="1300" dirty="0"/>
          </a:p>
        </p:txBody>
      </p:sp>
      <p:sp>
        <p:nvSpPr>
          <p:cNvPr id="64" name="Shape 62"/>
          <p:cNvSpPr/>
          <p:nvPr/>
        </p:nvSpPr>
        <p:spPr>
          <a:xfrm>
            <a:off x="457200" y="3246120"/>
            <a:ext cx="3474720" cy="502920"/>
          </a:xfrm>
          <a:prstGeom prst="roundRect">
            <a:avLst>
              <a:gd name="adj" fmla="val 12727"/>
            </a:avLst>
          </a:prstGeom>
          <a:solidFill>
            <a:srgbClr val="FF4DB8"/>
          </a:solidFill>
          <a:ln w="12700">
            <a:solidFill>
              <a:srgbClr val="FF4DB8"/>
            </a:solidFill>
            <a:prstDash val="solid"/>
          </a:ln>
        </p:spPr>
      </p:sp>
      <p:sp>
        <p:nvSpPr>
          <p:cNvPr id="65" name="Text 63"/>
          <p:cNvSpPr/>
          <p:nvPr/>
        </p:nvSpPr>
        <p:spPr>
          <a:xfrm>
            <a:off x="457200" y="3246120"/>
            <a:ext cx="3474720" cy="502920"/>
          </a:xfrm>
          <a:prstGeom prst="rect">
            <a:avLst/>
          </a:prstGeom>
          <a:noFill/>
          <a:ln/>
        </p:spPr>
        <p:txBody>
          <a:bodyPr wrap="square"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
            </a:r>
            <a:endParaRPr lang="en-US" sz="1200" dirty="0"/>
          </a:p>
        </p:txBody>
      </p:sp>
      <p:pic>
        <p:nvPicPr>
          <p:cNvPr id="66" name="Image 0" descr="C:\Users\長澤開\Downloads\pptx-editor\public\illustrations\shield-lock.svg"/>
          <p:cNvPicPr>
            <a:picLocks noChangeAspect="1"/>
          </p:cNvPicPr>
          <p:nvPr/>
        </p:nvPicPr>
        <p:blipFill>
          <a:blip r:embed="rId1">
            <a:alphaModFix amt="90000"/>
            <a:extLst>
              <a:ext uri="{96DAC541-7B7A-43D3-8B79-37D633B846F1}">
                <asvg:svgBlip xmlns:asvg="http://schemas.microsoft.com/office/drawing/2016/SVG/main" r:embed="rId2"/>
              </a:ext>
            </a:extLst>
          </a:blip>
          <a:stretch>
            <a:fillRect/>
          </a:stretch>
        </p:blipFill>
        <p:spPr>
          <a:xfrm>
            <a:off x="502920" y="3840480"/>
            <a:ext cx="868680" cy="1005840"/>
          </a:xfrm>
          <a:prstGeom prst="rect">
            <a:avLst/>
          </a:prstGeom>
        </p:spPr>
      </p:pic>
      <p:sp>
        <p:nvSpPr>
          <p:cNvPr id="67" name="Text 64"/>
          <p:cNvSpPr/>
          <p:nvPr/>
        </p:nvSpPr>
        <p:spPr>
          <a:xfrm>
            <a:off x="4297680" y="960120"/>
            <a:ext cx="4572000" cy="384048"/>
          </a:xfrm>
          <a:prstGeom prst="rect">
            <a:avLst/>
          </a:prstGeom>
          <a:noFill/>
          <a:ln/>
        </p:spPr>
        <p:txBody>
          <a:bodyPr wrap="square" rtlCol="0" anchor="ctr"/>
          <a:lstStyle/>
          <a:p>
            <a:pPr indent="0" marL="0">
              <a:buNone/>
            </a:pPr>
            <a:r>
              <a:rPr lang="en-US" sz="1400" b="1" dirty="0">
                <a:solidFill>
                  <a:srgbClr val="1A1A1A"/>
                </a:solidFill>
                <a:latin typeface="Meiryo" pitchFamily="34" charset="0"/>
                <a:ea typeface="Meiryo" pitchFamily="34" charset="-122"/>
                <a:cs typeface="Meiryo" pitchFamily="34" charset="-120"/>
              </a:rPr>
              <a:t>📱 各プラットフォームの注意点</a:t>
            </a:r>
            <a:endParaRPr lang="en-US" sz="1400" dirty="0"/>
          </a:p>
        </p:txBody>
      </p:sp>
      <p:sp>
        <p:nvSpPr>
          <p:cNvPr id="68" name="Shape 65"/>
          <p:cNvSpPr/>
          <p:nvPr/>
        </p:nvSpPr>
        <p:spPr>
          <a:xfrm>
            <a:off x="4297680" y="1389888"/>
            <a:ext cx="4389120" cy="457200"/>
          </a:xfrm>
          <a:prstGeom prst="roundRect">
            <a:avLst>
              <a:gd name="adj" fmla="val 14000"/>
            </a:avLst>
          </a:prstGeom>
          <a:solidFill>
            <a:srgbClr val="FFFFFF"/>
          </a:solidFill>
          <a:ln w="12700">
            <a:solidFill>
              <a:srgbClr val="E8C0DA"/>
            </a:solidFill>
            <a:prstDash val="solid"/>
          </a:ln>
        </p:spPr>
      </p:sp>
      <p:sp>
        <p:nvSpPr>
          <p:cNvPr id="69" name="Text 66"/>
          <p:cNvSpPr/>
          <p:nvPr/>
        </p:nvSpPr>
        <p:spPr>
          <a:xfrm>
            <a:off x="4434840" y="1408176"/>
            <a:ext cx="4114800" cy="411480"/>
          </a:xfrm>
          <a:prstGeom prst="rect">
            <a:avLst/>
          </a:prstGeom>
          <a:noFill/>
          <a:ln/>
        </p:spPr>
        <p:txBody>
          <a:bodyPr wrap="square" rtlCol="0" anchor="ctr"/>
          <a:lstStyle/>
          <a:p>
            <a:pPr indent="0" marL="0">
              <a:buNone/>
            </a:pPr>
            <a:r>
              <a:rPr lang="en-US" sz="1300" dirty="0">
                <a:solidFill>
                  <a:srgbClr val="1A1A1A"/>
                </a:solidFill>
                <a:latin typeface="Meiryo" pitchFamily="34" charset="0"/>
                <a:ea typeface="Meiryo" pitchFamily="34" charset="-122"/>
                <a:cs typeface="Meiryo" pitchFamily="34" charset="-120"/>
              </a:rPr>
              <a:t>TikTok：画面の上下左右に一定のマージンが必要（★Notionで詳細確認）</a:t>
            </a:r>
            <a:endParaRPr lang="en-US" sz="1300" dirty="0"/>
          </a:p>
        </p:txBody>
      </p:sp>
      <p:sp>
        <p:nvSpPr>
          <p:cNvPr id="70" name="Shape 67"/>
          <p:cNvSpPr/>
          <p:nvPr/>
        </p:nvSpPr>
        <p:spPr>
          <a:xfrm>
            <a:off x="4297680" y="1938528"/>
            <a:ext cx="4389120" cy="457200"/>
          </a:xfrm>
          <a:prstGeom prst="roundRect">
            <a:avLst>
              <a:gd name="adj" fmla="val 14000"/>
            </a:avLst>
          </a:prstGeom>
          <a:solidFill>
            <a:srgbClr val="FFFFFF"/>
          </a:solidFill>
          <a:ln w="12700">
            <a:solidFill>
              <a:srgbClr val="E8C0DA"/>
            </a:solidFill>
            <a:prstDash val="solid"/>
          </a:ln>
        </p:spPr>
      </p:sp>
      <p:sp>
        <p:nvSpPr>
          <p:cNvPr id="71" name="Text 68"/>
          <p:cNvSpPr/>
          <p:nvPr/>
        </p:nvSpPr>
        <p:spPr>
          <a:xfrm>
            <a:off x="4434840" y="1956816"/>
            <a:ext cx="4114800" cy="411480"/>
          </a:xfrm>
          <a:prstGeom prst="rect">
            <a:avLst/>
          </a:prstGeom>
          <a:noFill/>
          <a:ln/>
        </p:spPr>
        <p:txBody>
          <a:bodyPr wrap="square" rtlCol="0" anchor="ctr"/>
          <a:lstStyle/>
          <a:p>
            <a:pPr indent="0" marL="0">
              <a:buNone/>
            </a:pPr>
            <a:r>
              <a:rPr lang="en-US" sz="1300" dirty="0">
                <a:solidFill>
                  <a:srgbClr val="1A1A1A"/>
                </a:solidFill>
                <a:latin typeface="Meiryo" pitchFamily="34" charset="0"/>
                <a:ea typeface="Meiryo" pitchFamily="34" charset="-122"/>
                <a:cs typeface="Meiryo" pitchFamily="34" charset="-120"/>
              </a:rPr>
              <a:t>Instagram Reels：フィード表示時のトリミング範囲に注意</a:t>
            </a:r>
            <a:endParaRPr lang="en-US" sz="1300" dirty="0"/>
          </a:p>
        </p:txBody>
      </p:sp>
      <p:sp>
        <p:nvSpPr>
          <p:cNvPr id="72" name="Shape 69"/>
          <p:cNvSpPr/>
          <p:nvPr/>
        </p:nvSpPr>
        <p:spPr>
          <a:xfrm>
            <a:off x="4297680" y="2487168"/>
            <a:ext cx="4389120" cy="457200"/>
          </a:xfrm>
          <a:prstGeom prst="roundRect">
            <a:avLst>
              <a:gd name="adj" fmla="val 14000"/>
            </a:avLst>
          </a:prstGeom>
          <a:solidFill>
            <a:srgbClr val="FFFFFF"/>
          </a:solidFill>
          <a:ln w="12700">
            <a:solidFill>
              <a:srgbClr val="E8C0DA"/>
            </a:solidFill>
            <a:prstDash val="solid"/>
          </a:ln>
        </p:spPr>
      </p:sp>
      <p:sp>
        <p:nvSpPr>
          <p:cNvPr id="73" name="Text 70"/>
          <p:cNvSpPr/>
          <p:nvPr/>
        </p:nvSpPr>
        <p:spPr>
          <a:xfrm>
            <a:off x="4434840" y="2505456"/>
            <a:ext cx="4114800" cy="411480"/>
          </a:xfrm>
          <a:prstGeom prst="rect">
            <a:avLst/>
          </a:prstGeom>
          <a:noFill/>
          <a:ln/>
        </p:spPr>
        <p:txBody>
          <a:bodyPr wrap="square" rtlCol="0" anchor="ctr"/>
          <a:lstStyle/>
          <a:p>
            <a:pPr indent="0" marL="0">
              <a:buNone/>
            </a:pPr>
            <a:r>
              <a:rPr lang="en-US" sz="1300" dirty="0">
                <a:solidFill>
                  <a:srgbClr val="1A1A1A"/>
                </a:solidFill>
                <a:latin typeface="Meiryo" pitchFamily="34" charset="0"/>
                <a:ea typeface="Meiryo" pitchFamily="34" charset="-122"/>
                <a:cs typeface="Meiryo" pitchFamily="34" charset="-120"/>
              </a:rPr>
              <a:t>テロップ・ブランドロゴ・重要テキストは必ずセーフティーゾーン内に配置</a:t>
            </a:r>
            <a:endParaRPr lang="en-US" sz="1300" dirty="0"/>
          </a:p>
        </p:txBody>
      </p:sp>
      <p:sp>
        <p:nvSpPr>
          <p:cNvPr id="74" name="Shape 71"/>
          <p:cNvSpPr/>
          <p:nvPr/>
        </p:nvSpPr>
        <p:spPr>
          <a:xfrm>
            <a:off x="4297680" y="3035808"/>
            <a:ext cx="4389120" cy="457200"/>
          </a:xfrm>
          <a:prstGeom prst="roundRect">
            <a:avLst>
              <a:gd name="adj" fmla="val 14000"/>
            </a:avLst>
          </a:prstGeom>
          <a:solidFill>
            <a:srgbClr val="FFFFFF"/>
          </a:solidFill>
          <a:ln w="12700">
            <a:solidFill>
              <a:srgbClr val="E8C0DA"/>
            </a:solidFill>
            <a:prstDash val="solid"/>
          </a:ln>
        </p:spPr>
      </p:sp>
      <p:sp>
        <p:nvSpPr>
          <p:cNvPr id="75" name="Text 72"/>
          <p:cNvSpPr/>
          <p:nvPr/>
        </p:nvSpPr>
        <p:spPr>
          <a:xfrm>
            <a:off x="4434840" y="3054096"/>
            <a:ext cx="4114800" cy="411480"/>
          </a:xfrm>
          <a:prstGeom prst="rect">
            <a:avLst/>
          </a:prstGeom>
          <a:noFill/>
          <a:ln/>
        </p:spPr>
        <p:txBody>
          <a:bodyPr wrap="square" rtlCol="0" anchor="ctr"/>
          <a:lstStyle/>
          <a:p>
            <a:pPr indent="0" marL="0">
              <a:buNone/>
            </a:pPr>
            <a:r>
              <a:rPr lang="en-US" sz="1300" dirty="0">
                <a:solidFill>
                  <a:srgbClr val="1A1A1A"/>
                </a:solidFill>
                <a:latin typeface="Meiryo" pitchFamily="34" charset="0"/>
                <a:ea typeface="Meiryo" pitchFamily="34" charset="-122"/>
                <a:cs typeface="Meiryo" pitchFamily="34" charset="-120"/>
              </a:rPr>
              <a:t>はみ出した状態で提出するとやり直しになります。Notionのルールページを必ず確認！</a:t>
            </a:r>
            <a:endParaRPr lang="en-US" sz="1300" dirty="0"/>
          </a:p>
        </p:txBody>
      </p:sp>
      <p:sp>
        <p:nvSpPr>
          <p:cNvPr id="76" name="Text 73"/>
          <p:cNvSpPr/>
          <p:nvPr/>
        </p:nvSpPr>
        <p:spPr>
          <a:xfrm>
            <a:off x="4297680" y="3657600"/>
            <a:ext cx="4572000" cy="347472"/>
          </a:xfrm>
          <a:prstGeom prst="rect">
            <a:avLst/>
          </a:prstGeom>
          <a:noFill/>
          <a:ln/>
        </p:spPr>
        <p:txBody>
          <a:bodyPr wrap="square" rtlCol="0" anchor="ctr"/>
          <a:lstStyle/>
          <a:p>
            <a:pPr indent="0" marL="0">
              <a:buNone/>
            </a:pPr>
            <a:r>
              <a:rPr lang="en-US" sz="1300" b="1" dirty="0">
                <a:solidFill>
                  <a:srgbClr val="555555"/>
                </a:solidFill>
                <a:latin typeface="Meiryo" pitchFamily="34" charset="0"/>
                <a:ea typeface="Meiryo" pitchFamily="34" charset="-122"/>
                <a:cs typeface="Meiryo" pitchFamily="34" charset="-120"/>
              </a:rPr>
              <a:t/>
            </a:r>
            <a:endParaRPr lang="en-US" sz="1300" dirty="0"/>
          </a:p>
        </p:txBody>
      </p:sp>
      <p:sp>
        <p:nvSpPr>
          <p:cNvPr id="77" name="Text 74"/>
          <p:cNvSpPr/>
          <p:nvPr/>
        </p:nvSpPr>
        <p:spPr>
          <a:xfrm>
            <a:off x="4434840" y="4041648"/>
            <a:ext cx="4297680" cy="384048"/>
          </a:xfrm>
          <a:prstGeom prst="rect">
            <a:avLst/>
          </a:prstGeom>
          <a:noFill/>
          <a:ln/>
        </p:spPr>
        <p:txBody>
          <a:bodyPr wrap="square" rtlCol="0" anchor="ctr"/>
          <a:lstStyle/>
          <a:p>
            <a:pPr indent="0" marL="0">
              <a:buNone/>
            </a:pPr>
            <a:r>
              <a:rPr lang="en-US" sz="1100" dirty="0">
                <a:solidFill>
                  <a:srgbClr val="555555"/>
                </a:solidFill>
                <a:latin typeface="Meiryo" pitchFamily="34" charset="0"/>
                <a:ea typeface="Meiryo" pitchFamily="34" charset="-122"/>
                <a:cs typeface="Meiryo" pitchFamily="34" charset="-120"/>
              </a:rPr>
              <a:t/>
            </a:r>
            <a:endParaRPr lang="en-US" sz="1100" dirty="0"/>
          </a:p>
        </p:txBody>
      </p:sp>
      <p:sp>
        <p:nvSpPr>
          <p:cNvPr id="78" name="Text 75"/>
          <p:cNvSpPr/>
          <p:nvPr/>
        </p:nvSpPr>
        <p:spPr>
          <a:xfrm>
            <a:off x="4434840" y="4498848"/>
            <a:ext cx="4297680" cy="384048"/>
          </a:xfrm>
          <a:prstGeom prst="rect">
            <a:avLst/>
          </a:prstGeom>
          <a:noFill/>
          <a:ln/>
        </p:spPr>
        <p:txBody>
          <a:bodyPr wrap="square" rtlCol="0" anchor="ctr"/>
          <a:lstStyle/>
          <a:p>
            <a:pPr indent="0" marL="0">
              <a:buNone/>
            </a:pPr>
            <a:r>
              <a:rPr lang="en-US" sz="1100" dirty="0">
                <a:solidFill>
                  <a:srgbClr val="555555"/>
                </a:solidFill>
                <a:latin typeface="Meiryo" pitchFamily="34" charset="0"/>
                <a:ea typeface="Meiryo" pitchFamily="34" charset="-122"/>
                <a:cs typeface="Meiryo" pitchFamily="34" charset="-120"/>
              </a:rPr>
              <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73075"/>
            <a:ext cx="8321040" cy="344729"/>
          </a:xfrm>
          <a:prstGeom prst="rect">
            <a:avLst/>
          </a:prstGeom>
          <a:solidFill>
            <a:srgbClr val="FFE455"/>
          </a:solidFill>
          <a:ln w="12700">
            <a:solidFill>
              <a:srgbClr val="FFE455"/>
            </a:solidFill>
            <a:prstDash val="solid"/>
          </a:ln>
        </p:spPr>
      </p:sp>
      <p:sp>
        <p:nvSpPr>
          <p:cNvPr id="58" name="Text 56"/>
          <p:cNvSpPr/>
          <p:nvPr/>
        </p:nvSpPr>
        <p:spPr>
          <a:xfrm>
            <a:off x="457200" y="182880"/>
            <a:ext cx="8229600" cy="594360"/>
          </a:xfrm>
          <a:prstGeom prst="rect">
            <a:avLst/>
          </a:prstGeom>
          <a:noFill/>
          <a:ln/>
        </p:spPr>
        <p:txBody>
          <a:bodyPr wrap="square" rtlCol="0" anchor="ctr"/>
          <a:lstStyle/>
          <a:p>
            <a:pPr indent="0" marL="0">
              <a:buNone/>
            </a:pPr>
            <a:r>
              <a:rPr lang="en-US" sz="2600" b="1" dirty="0">
                <a:solidFill>
                  <a:srgbClr val="1A1A1A"/>
                </a:solidFill>
                <a:latin typeface="Meiryo" pitchFamily="34" charset="0"/>
                <a:ea typeface="Meiryo" pitchFamily="34" charset="-122"/>
                <a:cs typeface="Meiryo" pitchFamily="34" charset="-120"/>
              </a:rPr>
              <a:t>下書き画面録画＝「実際の投稿イメージ」確認</a:t>
            </a:r>
            <a:endParaRPr lang="en-US" sz="2600" dirty="0"/>
          </a:p>
        </p:txBody>
      </p:sp>
      <p:sp>
        <p:nvSpPr>
          <p:cNvPr id="59" name="Shape 57"/>
          <p:cNvSpPr/>
          <p:nvPr/>
        </p:nvSpPr>
        <p:spPr>
          <a:xfrm>
            <a:off x="457200" y="758952"/>
            <a:ext cx="8229600" cy="36576"/>
          </a:xfrm>
          <a:prstGeom prst="rect">
            <a:avLst/>
          </a:prstGeom>
          <a:solidFill>
            <a:srgbClr val="FFB3E0"/>
          </a:solidFill>
          <a:ln w="12700">
            <a:solidFill>
              <a:srgbClr val="FFB3E0"/>
            </a:solidFill>
            <a:prstDash val="solid"/>
          </a:ln>
        </p:spPr>
      </p:sp>
      <p:sp>
        <p:nvSpPr>
          <p:cNvPr id="60" name="Shape 58"/>
          <p:cNvSpPr/>
          <p:nvPr/>
        </p:nvSpPr>
        <p:spPr>
          <a:xfrm>
            <a:off x="365760" y="960120"/>
            <a:ext cx="4114800" cy="3794760"/>
          </a:xfrm>
          <a:prstGeom prst="roundRect">
            <a:avLst>
              <a:gd name="adj" fmla="val 2410"/>
            </a:avLst>
          </a:prstGeom>
          <a:solidFill>
            <a:srgbClr val="F0FFF4"/>
          </a:solidFill>
          <a:ln w="19050">
            <a:solidFill>
              <a:srgbClr val="2A9D8F"/>
            </a:solidFill>
            <a:prstDash val="solid"/>
          </a:ln>
        </p:spPr>
      </p:sp>
      <p:sp>
        <p:nvSpPr>
          <p:cNvPr id="61" name="Shape 59"/>
          <p:cNvSpPr/>
          <p:nvPr/>
        </p:nvSpPr>
        <p:spPr>
          <a:xfrm>
            <a:off x="365760" y="960120"/>
            <a:ext cx="4114800" cy="530352"/>
          </a:xfrm>
          <a:prstGeom prst="roundRect">
            <a:avLst>
              <a:gd name="adj" fmla="val 17241"/>
            </a:avLst>
          </a:prstGeom>
          <a:solidFill>
            <a:srgbClr val="2A9D8F"/>
          </a:solidFill>
          <a:ln w="12700">
            <a:solidFill>
              <a:srgbClr val="2A9D8F"/>
            </a:solidFill>
            <a:prstDash val="solid"/>
          </a:ln>
        </p:spPr>
      </p:sp>
      <p:sp>
        <p:nvSpPr>
          <p:cNvPr id="62" name="Text 60"/>
          <p:cNvSpPr/>
          <p:nvPr/>
        </p:nvSpPr>
        <p:spPr>
          <a:xfrm>
            <a:off x="365760" y="960120"/>
            <a:ext cx="4114800" cy="530352"/>
          </a:xfrm>
          <a:prstGeom prst="rect">
            <a:avLst/>
          </a:prstGeom>
          <a:noFill/>
          <a:ln/>
        </p:spPr>
        <p:txBody>
          <a:bodyPr wrap="square"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 概要</a:t>
            </a:r>
            <a:endParaRPr lang="en-US" sz="1600" dirty="0"/>
          </a:p>
        </p:txBody>
      </p:sp>
      <p:sp>
        <p:nvSpPr>
          <p:cNvPr id="63" name="Text 61"/>
          <p:cNvSpPr/>
          <p:nvPr/>
        </p:nvSpPr>
        <p:spPr>
          <a:xfrm>
            <a:off x="548640" y="1627632"/>
            <a:ext cx="3749040" cy="822960"/>
          </a:xfrm>
          <a:prstGeom prst="rect">
            <a:avLst/>
          </a:prstGeom>
          <a:noFill/>
          <a:ln/>
        </p:spPr>
        <p:txBody>
          <a:bodyPr wrap="square" rtlCol="0" anchor="ctr"/>
          <a:lstStyle/>
          <a:p>
            <a:pPr indent="0" marL="0">
              <a:buNone/>
            </a:pPr>
            <a:r>
              <a:rPr lang="en-US" sz="1100" dirty="0">
                <a:solidFill>
                  <a:srgbClr val="1A1A1A"/>
                </a:solidFill>
                <a:latin typeface="Meiryo" pitchFamily="34" charset="0"/>
                <a:ea typeface="Meiryo" pitchFamily="34" charset="-122"/>
                <a:cs typeface="Meiryo" pitchFamily="34" charset="-120"/>
              </a:rPr>
              <a:t>📌 TikTok・Instagramのアプリ内で下書き状態にし、その画面をスマホで録画したもの</a:t>
            </a:r>
            <a:endParaRPr lang="en-US" sz="1100" dirty="0"/>
          </a:p>
          <a:p>
            <a:pPr indent="0" marL="0">
              <a:buNone/>
            </a:pPr>
            <a:r>
              <a:rPr lang="en-US" sz="1100" dirty="0">
                <a:solidFill>
                  <a:srgbClr val="1A1A1A"/>
                </a:solidFill>
                <a:latin typeface="Meiryo" pitchFamily="34" charset="0"/>
                <a:ea typeface="Meiryo" pitchFamily="34" charset="-122"/>
                <a:cs typeface="Meiryo" pitchFamily="34" charset="-120"/>
              </a:rPr>
              <a:t/>
            </a:r>
            <a:endParaRPr lang="en-US" sz="1100" dirty="0"/>
          </a:p>
        </p:txBody>
      </p:sp>
      <p:sp>
        <p:nvSpPr>
          <p:cNvPr id="64" name="Text 62"/>
          <p:cNvSpPr/>
          <p:nvPr/>
        </p:nvSpPr>
        <p:spPr>
          <a:xfrm>
            <a:off x="548640" y="2615184"/>
            <a:ext cx="3749040" cy="822960"/>
          </a:xfrm>
          <a:prstGeom prst="rect">
            <a:avLst/>
          </a:prstGeom>
          <a:noFill/>
          <a:ln/>
        </p:spPr>
        <p:txBody>
          <a:bodyPr wrap="square" rtlCol="0" anchor="ctr"/>
          <a:lstStyle/>
          <a:p>
            <a:pPr indent="0" marL="0">
              <a:buNone/>
            </a:pPr>
            <a:r>
              <a:rPr lang="en-US" sz="1100" dirty="0">
                <a:solidFill>
                  <a:srgbClr val="1A1A1A"/>
                </a:solidFill>
                <a:latin typeface="Meiryo" pitchFamily="34" charset="0"/>
                <a:ea typeface="Meiryo" pitchFamily="34" charset="-122"/>
                <a:cs typeface="Meiryo" pitchFamily="34" charset="-120"/>
              </a:rPr>
              <a:t>🎥 編集ソフトの書き出し動画とアプリ内の見え方が異なる場合がある</a:t>
            </a:r>
            <a:endParaRPr lang="en-US" sz="1100" dirty="0"/>
          </a:p>
          <a:p>
            <a:pPr indent="0" marL="0">
              <a:buNone/>
            </a:pPr>
            <a:r>
              <a:rPr lang="en-US" sz="1100" dirty="0">
                <a:solidFill>
                  <a:srgbClr val="1A1A1A"/>
                </a:solidFill>
                <a:latin typeface="Meiryo" pitchFamily="34" charset="0"/>
                <a:ea typeface="Meiryo" pitchFamily="34" charset="-122"/>
                <a:cs typeface="Meiryo" pitchFamily="34" charset="-120"/>
              </a:rPr>
              <a:t/>
            </a:r>
            <a:endParaRPr lang="en-US" sz="1100" dirty="0"/>
          </a:p>
        </p:txBody>
      </p:sp>
      <p:sp>
        <p:nvSpPr>
          <p:cNvPr id="65" name="Text 63"/>
          <p:cNvSpPr/>
          <p:nvPr/>
        </p:nvSpPr>
        <p:spPr>
          <a:xfrm>
            <a:off x="548640" y="3602736"/>
            <a:ext cx="3749040" cy="822960"/>
          </a:xfrm>
          <a:prstGeom prst="rect">
            <a:avLst/>
          </a:prstGeom>
          <a:noFill/>
          <a:ln/>
        </p:spPr>
        <p:txBody>
          <a:bodyPr wrap="square" rtlCol="0" anchor="ctr"/>
          <a:lstStyle/>
          <a:p>
            <a:pPr indent="0" marL="0">
              <a:buNone/>
            </a:pPr>
            <a:r>
              <a:rPr lang="en-US" sz="1100" dirty="0">
                <a:solidFill>
                  <a:srgbClr val="1A1A1A"/>
                </a:solidFill>
                <a:latin typeface="Meiryo" pitchFamily="34" charset="0"/>
                <a:ea typeface="Meiryo" pitchFamily="34" charset="-122"/>
                <a:cs typeface="Meiryo" pitchFamily="34" charset="-120"/>
              </a:rPr>
              <a:t>📍 テロップ位置・フォント・BGM・エフェクトをアプリ上で確認</a:t>
            </a:r>
            <a:endParaRPr lang="en-US" sz="1100" dirty="0"/>
          </a:p>
          <a:p>
            <a:pPr indent="0" marL="0">
              <a:buNone/>
            </a:pPr>
            <a:r>
              <a:rPr lang="en-US" sz="1100" dirty="0">
                <a:solidFill>
                  <a:srgbClr val="1A1A1A"/>
                </a:solidFill>
                <a:latin typeface="Meiryo" pitchFamily="34" charset="0"/>
                <a:ea typeface="Meiryo" pitchFamily="34" charset="-122"/>
                <a:cs typeface="Meiryo" pitchFamily="34" charset="-120"/>
              </a:rPr>
              <a:t/>
            </a:r>
            <a:endParaRPr lang="en-US" sz="1100" dirty="0"/>
          </a:p>
        </p:txBody>
      </p:sp>
      <p:sp>
        <p:nvSpPr>
          <p:cNvPr id="66" name="Shape 64"/>
          <p:cNvSpPr/>
          <p:nvPr/>
        </p:nvSpPr>
        <p:spPr>
          <a:xfrm>
            <a:off x="4663440" y="960120"/>
            <a:ext cx="4114800" cy="3794760"/>
          </a:xfrm>
          <a:prstGeom prst="roundRect">
            <a:avLst>
              <a:gd name="adj" fmla="val 2410"/>
            </a:avLst>
          </a:prstGeom>
          <a:solidFill>
            <a:srgbClr val="FFF5F5"/>
          </a:solidFill>
          <a:ln w="19050">
            <a:solidFill>
              <a:srgbClr val="E63946"/>
            </a:solidFill>
            <a:prstDash val="solid"/>
          </a:ln>
        </p:spPr>
      </p:sp>
      <p:sp>
        <p:nvSpPr>
          <p:cNvPr id="67" name="Shape 65"/>
          <p:cNvSpPr/>
          <p:nvPr/>
        </p:nvSpPr>
        <p:spPr>
          <a:xfrm>
            <a:off x="4663440" y="960120"/>
            <a:ext cx="4114800" cy="530352"/>
          </a:xfrm>
          <a:prstGeom prst="roundRect">
            <a:avLst>
              <a:gd name="adj" fmla="val 17241"/>
            </a:avLst>
          </a:prstGeom>
          <a:solidFill>
            <a:srgbClr val="E63946"/>
          </a:solidFill>
          <a:ln w="12700">
            <a:solidFill>
              <a:srgbClr val="E63946"/>
            </a:solidFill>
            <a:prstDash val="solid"/>
          </a:ln>
        </p:spPr>
      </p:sp>
      <p:sp>
        <p:nvSpPr>
          <p:cNvPr id="68" name="Text 66"/>
          <p:cNvSpPr/>
          <p:nvPr/>
        </p:nvSpPr>
        <p:spPr>
          <a:xfrm>
            <a:off x="4663440" y="960120"/>
            <a:ext cx="4114800" cy="530352"/>
          </a:xfrm>
          <a:prstGeom prst="rect">
            <a:avLst/>
          </a:prstGeom>
          <a:noFill/>
          <a:ln/>
        </p:spPr>
        <p:txBody>
          <a:bodyPr wrap="square"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 なぜ必要か</a:t>
            </a:r>
            <a:endParaRPr lang="en-US" sz="1600" dirty="0"/>
          </a:p>
        </p:txBody>
      </p:sp>
      <p:sp>
        <p:nvSpPr>
          <p:cNvPr id="69" name="Text 67"/>
          <p:cNvSpPr/>
          <p:nvPr/>
        </p:nvSpPr>
        <p:spPr>
          <a:xfrm>
            <a:off x="4846320" y="1627632"/>
            <a:ext cx="3749040" cy="822960"/>
          </a:xfrm>
          <a:prstGeom prst="rect">
            <a:avLst/>
          </a:prstGeom>
          <a:noFill/>
          <a:ln/>
        </p:spPr>
        <p:txBody>
          <a:bodyPr wrap="square" rtlCol="0" anchor="ctr"/>
          <a:lstStyle/>
          <a:p>
            <a:pPr indent="0" marL="0">
              <a:buNone/>
            </a:pPr>
            <a:r>
              <a:rPr lang="en-US" sz="1100" dirty="0">
                <a:solidFill>
                  <a:srgbClr val="1A1A1A"/>
                </a:solidFill>
                <a:latin typeface="Meiryo" pitchFamily="34" charset="0"/>
                <a:ea typeface="Meiryo" pitchFamily="34" charset="-122"/>
                <a:cs typeface="Meiryo" pitchFamily="34" charset="-120"/>
              </a:rPr>
              <a:t>📤 下書き画面録画でクライアントが「実際の投稿と同じ状態」を確認できる</a:t>
            </a:r>
            <a:endParaRPr lang="en-US" sz="1100" dirty="0"/>
          </a:p>
          <a:p>
            <a:pPr indent="0" marL="0">
              <a:buNone/>
            </a:pPr>
            <a:r>
              <a:rPr lang="en-US" sz="1100" dirty="0">
                <a:solidFill>
                  <a:srgbClr val="1A1A1A"/>
                </a:solidFill>
                <a:latin typeface="Meiryo" pitchFamily="34" charset="0"/>
                <a:ea typeface="Meiryo" pitchFamily="34" charset="-122"/>
                <a:cs typeface="Meiryo" pitchFamily="34" charset="-120"/>
              </a:rPr>
              <a:t/>
            </a:r>
            <a:endParaRPr lang="en-US" sz="1100" dirty="0"/>
          </a:p>
        </p:txBody>
      </p:sp>
      <p:sp>
        <p:nvSpPr>
          <p:cNvPr id="70" name="Text 68"/>
          <p:cNvSpPr/>
          <p:nvPr/>
        </p:nvSpPr>
        <p:spPr>
          <a:xfrm>
            <a:off x="4846320" y="2615184"/>
            <a:ext cx="3749040" cy="822960"/>
          </a:xfrm>
          <a:prstGeom prst="rect">
            <a:avLst/>
          </a:prstGeom>
          <a:noFill/>
          <a:ln/>
        </p:spPr>
        <p:txBody>
          <a:bodyPr wrap="square" rtlCol="0" anchor="ctr"/>
          <a:lstStyle/>
          <a:p>
            <a:pPr indent="0" marL="0">
              <a:buNone/>
            </a:pPr>
            <a:r>
              <a:rPr lang="en-US" sz="1100" dirty="0">
                <a:solidFill>
                  <a:srgbClr val="1A1A1A"/>
                </a:solidFill>
                <a:latin typeface="Meiryo" pitchFamily="34" charset="0"/>
                <a:ea typeface="Meiryo" pitchFamily="34" charset="-122"/>
                <a:cs typeface="Meiryo" pitchFamily="34" charset="-120"/>
              </a:rPr>
              <a:t>★ 詳しい録画手順はNotionの「TikTok下書き画面録画」ページを確認</a:t>
            </a:r>
            <a:endParaRPr lang="en-US" sz="1100" dirty="0"/>
          </a:p>
          <a:p>
            <a:pPr indent="0" marL="0">
              <a:buNone/>
            </a:pPr>
            <a:r>
              <a:rPr lang="en-US" sz="1100" dirty="0">
                <a:solidFill>
                  <a:srgbClr val="1A1A1A"/>
                </a:solidFill>
                <a:latin typeface="Meiryo" pitchFamily="34" charset="0"/>
                <a:ea typeface="Meiryo" pitchFamily="34" charset="-122"/>
                <a:cs typeface="Meiryo" pitchFamily="34" charset="-120"/>
              </a:rPr>
              <a:t/>
            </a:r>
            <a:endParaRPr lang="en-US" sz="1100" dirty="0"/>
          </a:p>
        </p:txBody>
      </p:sp>
      <p:sp>
        <p:nvSpPr>
          <p:cNvPr id="71" name="Text 69"/>
          <p:cNvSpPr/>
          <p:nvPr/>
        </p:nvSpPr>
        <p:spPr>
          <a:xfrm>
            <a:off x="4846320" y="3602736"/>
            <a:ext cx="3749040" cy="822960"/>
          </a:xfrm>
          <a:prstGeom prst="rect">
            <a:avLst/>
          </a:prstGeom>
          <a:noFill/>
          <a:ln/>
        </p:spPr>
        <p:txBody>
          <a:bodyPr wrap="square" rtlCol="0" anchor="ctr"/>
          <a:lstStyle/>
          <a:p>
            <a:pPr indent="0" marL="0">
              <a:buNone/>
            </a:pPr>
            <a:r>
              <a:rPr lang="en-US" sz="1100" dirty="0">
                <a:solidFill>
                  <a:srgbClr val="1A1A1A"/>
                </a:solidFill>
                <a:latin typeface="Meiryo" pitchFamily="34" charset="0"/>
                <a:ea typeface="Meiryo" pitchFamily="34" charset="-122"/>
                <a:cs typeface="Meiryo" pitchFamily="34" charset="-120"/>
              </a:rPr>
              <a:t/>
            </a:r>
            <a:endParaRPr lang="en-US" sz="1100" dirty="0"/>
          </a:p>
          <a:p>
            <a:pPr indent="0" marL="0">
              <a:buNone/>
            </a:pPr>
            <a:r>
              <a:rPr lang="en-US" sz="1100" dirty="0">
                <a:solidFill>
                  <a:srgbClr val="1A1A1A"/>
                </a:solidFill>
                <a:latin typeface="Meiryo" pitchFamily="34" charset="0"/>
                <a:ea typeface="Meiryo" pitchFamily="34" charset="-122"/>
                <a:cs typeface="Meiryo" pitchFamily="34" charset="-120"/>
              </a:rPr>
              <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73075"/>
            <a:ext cx="8321040" cy="344729"/>
          </a:xfrm>
          <a:prstGeom prst="rect">
            <a:avLst/>
          </a:prstGeom>
          <a:solidFill>
            <a:srgbClr val="FFE455"/>
          </a:solidFill>
          <a:ln w="12700">
            <a:solidFill>
              <a:srgbClr val="FFE455"/>
            </a:solidFill>
            <a:prstDash val="solid"/>
          </a:ln>
        </p:spPr>
      </p:sp>
      <p:sp>
        <p:nvSpPr>
          <p:cNvPr id="58" name="Text 56"/>
          <p:cNvSpPr/>
          <p:nvPr/>
        </p:nvSpPr>
        <p:spPr>
          <a:xfrm>
            <a:off x="457200" y="182880"/>
            <a:ext cx="8229600" cy="594360"/>
          </a:xfrm>
          <a:prstGeom prst="rect">
            <a:avLst/>
          </a:prstGeom>
          <a:noFill/>
          <a:ln/>
        </p:spPr>
        <p:txBody>
          <a:bodyPr wrap="square" rtlCol="0" anchor="ctr"/>
          <a:lstStyle/>
          <a:p>
            <a:pPr indent="0" marL="0">
              <a:buNone/>
            </a:pPr>
            <a:r>
              <a:rPr lang="en-US" sz="2600" b="1" dirty="0">
                <a:solidFill>
                  <a:srgbClr val="1A1A1A"/>
                </a:solidFill>
                <a:latin typeface="Meiryo" pitchFamily="34" charset="0"/>
                <a:ea typeface="Meiryo" pitchFamily="34" charset="-122"/>
                <a:cs typeface="Meiryo" pitchFamily="34" charset="-120"/>
              </a:rPr>
              <a:t>カバー画像（サムネイル）は動画の顔</a:t>
            </a:r>
            <a:endParaRPr lang="en-US" sz="2600" dirty="0"/>
          </a:p>
        </p:txBody>
      </p:sp>
      <p:sp>
        <p:nvSpPr>
          <p:cNvPr id="59" name="Shape 57"/>
          <p:cNvSpPr/>
          <p:nvPr/>
        </p:nvSpPr>
        <p:spPr>
          <a:xfrm>
            <a:off x="457200" y="758952"/>
            <a:ext cx="8229600" cy="36576"/>
          </a:xfrm>
          <a:prstGeom prst="rect">
            <a:avLst/>
          </a:prstGeom>
          <a:solidFill>
            <a:srgbClr val="FFB3E0"/>
          </a:solidFill>
          <a:ln w="12700">
            <a:solidFill>
              <a:srgbClr val="FFB3E0"/>
            </a:solidFill>
            <a:prstDash val="solid"/>
          </a:ln>
        </p:spPr>
      </p:sp>
      <p:sp>
        <p:nvSpPr>
          <p:cNvPr id="60" name="Shape 58"/>
          <p:cNvSpPr/>
          <p:nvPr/>
        </p:nvSpPr>
        <p:spPr>
          <a:xfrm>
            <a:off x="36576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1" name="Shape 59"/>
          <p:cNvSpPr/>
          <p:nvPr/>
        </p:nvSpPr>
        <p:spPr>
          <a:xfrm>
            <a:off x="457200" y="1143000"/>
            <a:ext cx="548640" cy="411480"/>
          </a:xfrm>
          <a:prstGeom prst="roundRect">
            <a:avLst>
              <a:gd name="adj" fmla="val 15556"/>
            </a:avLst>
          </a:prstGeom>
          <a:solidFill>
            <a:srgbClr val="E63946"/>
          </a:solidFill>
          <a:ln w="12700">
            <a:solidFill>
              <a:srgbClr val="E63946"/>
            </a:solidFill>
            <a:prstDash val="solid"/>
          </a:ln>
        </p:spPr>
      </p:sp>
      <p:sp>
        <p:nvSpPr>
          <p:cNvPr id="62" name="Text 60"/>
          <p:cNvSpPr/>
          <p:nvPr/>
        </p:nvSpPr>
        <p:spPr>
          <a:xfrm>
            <a:off x="45720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63" name="Shape 61"/>
          <p:cNvSpPr/>
          <p:nvPr/>
        </p:nvSpPr>
        <p:spPr>
          <a:xfrm>
            <a:off x="3749040" y="1143000"/>
            <a:ext cx="685800" cy="365760"/>
          </a:xfrm>
          <a:prstGeom prst="roundRect">
            <a:avLst>
              <a:gd name="adj" fmla="val 12500"/>
            </a:avLst>
          </a:prstGeom>
          <a:solidFill>
            <a:srgbClr val="FFE6F3"/>
          </a:solidFill>
          <a:ln w="12700">
            <a:solidFill>
              <a:srgbClr val="FF4DB8"/>
            </a:solidFill>
            <a:prstDash val="solid"/>
          </a:ln>
        </p:spPr>
      </p:sp>
      <p:sp>
        <p:nvSpPr>
          <p:cNvPr id="64" name="Text 62"/>
          <p:cNvSpPr/>
          <p:nvPr/>
        </p:nvSpPr>
        <p:spPr>
          <a:xfrm>
            <a:off x="374904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65" name="Text 63"/>
          <p:cNvSpPr/>
          <p:nvPr/>
        </p:nvSpPr>
        <p:spPr>
          <a:xfrm>
            <a:off x="109728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どれだけいい動画でも、カバー画像が地味だとタップしてもらえない</a:t>
            </a:r>
            <a:endParaRPr lang="en-US" sz="1300" dirty="0"/>
          </a:p>
        </p:txBody>
      </p:sp>
      <p:sp>
        <p:nvSpPr>
          <p:cNvPr id="66" name="Text 64"/>
          <p:cNvSpPr/>
          <p:nvPr/>
        </p:nvSpPr>
        <p:spPr>
          <a:xfrm>
            <a:off x="45720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67" name="Shape 65"/>
          <p:cNvSpPr/>
          <p:nvPr/>
        </p:nvSpPr>
        <p:spPr>
          <a:xfrm>
            <a:off x="475488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8" name="Shape 66"/>
          <p:cNvSpPr/>
          <p:nvPr/>
        </p:nvSpPr>
        <p:spPr>
          <a:xfrm>
            <a:off x="4846320" y="1143000"/>
            <a:ext cx="548640" cy="411480"/>
          </a:xfrm>
          <a:prstGeom prst="roundRect">
            <a:avLst>
              <a:gd name="adj" fmla="val 15556"/>
            </a:avLst>
          </a:prstGeom>
          <a:solidFill>
            <a:srgbClr val="E63946"/>
          </a:solidFill>
          <a:ln w="12700">
            <a:solidFill>
              <a:srgbClr val="E63946"/>
            </a:solidFill>
            <a:prstDash val="solid"/>
          </a:ln>
        </p:spPr>
      </p:sp>
      <p:sp>
        <p:nvSpPr>
          <p:cNvPr id="69" name="Text 67"/>
          <p:cNvSpPr/>
          <p:nvPr/>
        </p:nvSpPr>
        <p:spPr>
          <a:xfrm>
            <a:off x="484632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0" name="Shape 68"/>
          <p:cNvSpPr/>
          <p:nvPr/>
        </p:nvSpPr>
        <p:spPr>
          <a:xfrm>
            <a:off x="8138160" y="1143000"/>
            <a:ext cx="685800" cy="365760"/>
          </a:xfrm>
          <a:prstGeom prst="roundRect">
            <a:avLst>
              <a:gd name="adj" fmla="val 12500"/>
            </a:avLst>
          </a:prstGeom>
          <a:solidFill>
            <a:srgbClr val="FFE6F3"/>
          </a:solidFill>
          <a:ln w="12700">
            <a:solidFill>
              <a:srgbClr val="FF4DB8"/>
            </a:solidFill>
            <a:prstDash val="solid"/>
          </a:ln>
        </p:spPr>
      </p:sp>
      <p:sp>
        <p:nvSpPr>
          <p:cNvPr id="71" name="Text 69"/>
          <p:cNvSpPr/>
          <p:nvPr/>
        </p:nvSpPr>
        <p:spPr>
          <a:xfrm>
            <a:off x="813816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2" name="Text 70"/>
          <p:cNvSpPr/>
          <p:nvPr/>
        </p:nvSpPr>
        <p:spPr>
          <a:xfrm>
            <a:off x="548640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文字は大きく・はっきり・読みやすく（セーフティーゾーン内に収める）</a:t>
            </a:r>
            <a:endParaRPr lang="en-US" sz="1300" dirty="0"/>
          </a:p>
        </p:txBody>
      </p:sp>
      <p:sp>
        <p:nvSpPr>
          <p:cNvPr id="73" name="Text 71"/>
          <p:cNvSpPr/>
          <p:nvPr/>
        </p:nvSpPr>
        <p:spPr>
          <a:xfrm>
            <a:off x="484632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74" name="Shape 72"/>
          <p:cNvSpPr/>
          <p:nvPr/>
        </p:nvSpPr>
        <p:spPr>
          <a:xfrm>
            <a:off x="36576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75" name="Shape 73"/>
          <p:cNvSpPr/>
          <p:nvPr/>
        </p:nvSpPr>
        <p:spPr>
          <a:xfrm>
            <a:off x="457200" y="3017520"/>
            <a:ext cx="548640" cy="411480"/>
          </a:xfrm>
          <a:prstGeom prst="roundRect">
            <a:avLst>
              <a:gd name="adj" fmla="val 15556"/>
            </a:avLst>
          </a:prstGeom>
          <a:solidFill>
            <a:srgbClr val="E63946"/>
          </a:solidFill>
          <a:ln w="12700">
            <a:solidFill>
              <a:srgbClr val="E63946"/>
            </a:solidFill>
            <a:prstDash val="solid"/>
          </a:ln>
        </p:spPr>
      </p:sp>
      <p:sp>
        <p:nvSpPr>
          <p:cNvPr id="76" name="Text 74"/>
          <p:cNvSpPr/>
          <p:nvPr/>
        </p:nvSpPr>
        <p:spPr>
          <a:xfrm>
            <a:off x="45720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7" name="Shape 75"/>
          <p:cNvSpPr/>
          <p:nvPr/>
        </p:nvSpPr>
        <p:spPr>
          <a:xfrm>
            <a:off x="3749040" y="3017520"/>
            <a:ext cx="685800" cy="365760"/>
          </a:xfrm>
          <a:prstGeom prst="roundRect">
            <a:avLst>
              <a:gd name="adj" fmla="val 12500"/>
            </a:avLst>
          </a:prstGeom>
          <a:solidFill>
            <a:srgbClr val="FFE6F3"/>
          </a:solidFill>
          <a:ln w="12700">
            <a:solidFill>
              <a:srgbClr val="FF4DB8"/>
            </a:solidFill>
            <a:prstDash val="solid"/>
          </a:ln>
        </p:spPr>
      </p:sp>
      <p:sp>
        <p:nvSpPr>
          <p:cNvPr id="78" name="Text 76"/>
          <p:cNvSpPr/>
          <p:nvPr/>
        </p:nvSpPr>
        <p:spPr>
          <a:xfrm>
            <a:off x="374904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9" name="Text 77"/>
          <p:cNvSpPr/>
          <p:nvPr/>
        </p:nvSpPr>
        <p:spPr>
          <a:xfrm>
            <a:off x="109728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表情やビジュアルでクリックしたくなるものを選ぶ</a:t>
            </a:r>
            <a:endParaRPr lang="en-US" sz="1300" dirty="0"/>
          </a:p>
        </p:txBody>
      </p:sp>
      <p:sp>
        <p:nvSpPr>
          <p:cNvPr id="80" name="Text 78"/>
          <p:cNvSpPr/>
          <p:nvPr/>
        </p:nvSpPr>
        <p:spPr>
          <a:xfrm>
            <a:off x="45720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81" name="Shape 79"/>
          <p:cNvSpPr/>
          <p:nvPr/>
        </p:nvSpPr>
        <p:spPr>
          <a:xfrm>
            <a:off x="475488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82" name="Shape 80"/>
          <p:cNvSpPr/>
          <p:nvPr/>
        </p:nvSpPr>
        <p:spPr>
          <a:xfrm>
            <a:off x="4846320" y="3017520"/>
            <a:ext cx="548640" cy="411480"/>
          </a:xfrm>
          <a:prstGeom prst="roundRect">
            <a:avLst>
              <a:gd name="adj" fmla="val 15556"/>
            </a:avLst>
          </a:prstGeom>
          <a:solidFill>
            <a:srgbClr val="E63946"/>
          </a:solidFill>
          <a:ln w="12700">
            <a:solidFill>
              <a:srgbClr val="E63946"/>
            </a:solidFill>
            <a:prstDash val="solid"/>
          </a:ln>
        </p:spPr>
      </p:sp>
      <p:sp>
        <p:nvSpPr>
          <p:cNvPr id="83" name="Text 81"/>
          <p:cNvSpPr/>
          <p:nvPr/>
        </p:nvSpPr>
        <p:spPr>
          <a:xfrm>
            <a:off x="484632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84" name="Shape 82"/>
          <p:cNvSpPr/>
          <p:nvPr/>
        </p:nvSpPr>
        <p:spPr>
          <a:xfrm>
            <a:off x="8138160" y="3017520"/>
            <a:ext cx="685800" cy="365760"/>
          </a:xfrm>
          <a:prstGeom prst="roundRect">
            <a:avLst>
              <a:gd name="adj" fmla="val 12500"/>
            </a:avLst>
          </a:prstGeom>
          <a:solidFill>
            <a:srgbClr val="FFE6F3"/>
          </a:solidFill>
          <a:ln w="12700">
            <a:solidFill>
              <a:srgbClr val="FF4DB8"/>
            </a:solidFill>
            <a:prstDash val="solid"/>
          </a:ln>
        </p:spPr>
      </p:sp>
      <p:sp>
        <p:nvSpPr>
          <p:cNvPr id="85" name="Text 83"/>
          <p:cNvSpPr/>
          <p:nvPr/>
        </p:nvSpPr>
        <p:spPr>
          <a:xfrm>
            <a:off x="813816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86" name="Text 84"/>
          <p:cNvSpPr/>
          <p:nvPr/>
        </p:nvSpPr>
        <p:spPr>
          <a:xfrm>
            <a:off x="548640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TikTokとInstagramで最適な縦横比が異なる点に注意</a:t>
            </a:r>
            <a:endParaRPr lang="en-US" sz="1300" dirty="0"/>
          </a:p>
        </p:txBody>
      </p:sp>
      <p:sp>
        <p:nvSpPr>
          <p:cNvPr id="87" name="Text 85"/>
          <p:cNvSpPr/>
          <p:nvPr/>
        </p:nvSpPr>
        <p:spPr>
          <a:xfrm>
            <a:off x="484632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TORIHADAの担当者から指定がある場合は、その指示に従ってください</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0" y="0"/>
            <a:ext cx="9144000" cy="713232"/>
          </a:xfrm>
          <a:prstGeom prst="rect">
            <a:avLst/>
          </a:prstGeom>
          <a:solidFill>
            <a:srgbClr val="FF4DB8"/>
          </a:solidFill>
          <a:ln w="12700">
            <a:solidFill>
              <a:srgbClr val="FF4DB8"/>
            </a:solidFill>
            <a:prstDash val="solid"/>
          </a:ln>
        </p:spPr>
      </p:sp>
      <p:sp>
        <p:nvSpPr>
          <p:cNvPr id="58" name="Text 56"/>
          <p:cNvSpPr/>
          <p:nvPr/>
        </p:nvSpPr>
        <p:spPr>
          <a:xfrm>
            <a:off x="365760" y="73152"/>
            <a:ext cx="7315200" cy="566928"/>
          </a:xfrm>
          <a:prstGeom prst="rect">
            <a:avLst/>
          </a:prstGeom>
          <a:noFill/>
          <a:ln/>
        </p:spPr>
        <p:txBody>
          <a:bodyPr wrap="square"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まとめ　動画③</a:t>
            </a:r>
            <a:endParaRPr lang="en-US" sz="2200" dirty="0"/>
          </a:p>
        </p:txBody>
      </p:sp>
      <p:sp>
        <p:nvSpPr>
          <p:cNvPr id="59" name="Shape 57"/>
          <p:cNvSpPr/>
          <p:nvPr/>
        </p:nvSpPr>
        <p:spPr>
          <a:xfrm>
            <a:off x="457200" y="1005840"/>
            <a:ext cx="594360" cy="594360"/>
          </a:xfrm>
          <a:prstGeom prst="ellipse">
            <a:avLst/>
          </a:prstGeom>
          <a:solidFill>
            <a:srgbClr val="FF4DB8"/>
          </a:solidFill>
          <a:ln w="12700">
            <a:solidFill>
              <a:srgbClr val="FF4DB8"/>
            </a:solidFill>
            <a:prstDash val="solid"/>
          </a:ln>
        </p:spPr>
      </p:sp>
      <p:sp>
        <p:nvSpPr>
          <p:cNvPr id="60" name="Text 58"/>
          <p:cNvSpPr/>
          <p:nvPr/>
        </p:nvSpPr>
        <p:spPr>
          <a:xfrm>
            <a:off x="457200" y="1005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1</a:t>
            </a:r>
            <a:endParaRPr lang="en-US" sz="1800" dirty="0"/>
          </a:p>
        </p:txBody>
      </p:sp>
      <p:sp>
        <p:nvSpPr>
          <p:cNvPr id="61" name="Shape 59"/>
          <p:cNvSpPr/>
          <p:nvPr/>
        </p:nvSpPr>
        <p:spPr>
          <a:xfrm>
            <a:off x="1188720" y="914400"/>
            <a:ext cx="7498080" cy="822960"/>
          </a:xfrm>
          <a:prstGeom prst="roundRect">
            <a:avLst>
              <a:gd name="adj" fmla="val 7778"/>
            </a:avLst>
          </a:prstGeom>
          <a:solidFill>
            <a:srgbClr val="FFFFFF"/>
          </a:solidFill>
          <a:ln w="12700">
            <a:solidFill>
              <a:srgbClr val="E8C0DA"/>
            </a:solidFill>
            <a:prstDash val="solid"/>
          </a:ln>
        </p:spPr>
      </p:sp>
      <p:sp>
        <p:nvSpPr>
          <p:cNvPr id="62" name="Text 60"/>
          <p:cNvSpPr/>
          <p:nvPr/>
        </p:nvSpPr>
        <p:spPr>
          <a:xfrm>
            <a:off x="1371600" y="987552"/>
            <a:ext cx="7132320" cy="685800"/>
          </a:xfrm>
          <a:prstGeom prst="rect">
            <a:avLst/>
          </a:prstGeom>
          <a:noFill/>
          <a:ln/>
        </p:spPr>
        <p:txBody>
          <a:bodyPr wrap="square" rtlCol="0" anchor="ctr"/>
          <a:lstStyle/>
          <a:p>
            <a:pPr indent="0" marL="0">
              <a:buNone/>
            </a:pPr>
            <a:r>
              <a:rPr lang="en-US" sz="1500" dirty="0">
                <a:solidFill>
                  <a:srgbClr val="1A1A1A"/>
                </a:solidFill>
                <a:latin typeface="Meiryo" pitchFamily="34" charset="0"/>
                <a:ea typeface="Meiryo" pitchFamily="34" charset="-122"/>
                <a:cs typeface="Meiryo" pitchFamily="34" charset="-120"/>
              </a:rPr>
              <a:t>FIXした字コンテは忠実に再現する（勝手に変えない）</a:t>
            </a:r>
            <a:endParaRPr lang="en-US" sz="1500" dirty="0"/>
          </a:p>
        </p:txBody>
      </p:sp>
      <p:sp>
        <p:nvSpPr>
          <p:cNvPr id="63" name="Shape 61"/>
          <p:cNvSpPr/>
          <p:nvPr/>
        </p:nvSpPr>
        <p:spPr>
          <a:xfrm>
            <a:off x="457200" y="2148840"/>
            <a:ext cx="594360" cy="594360"/>
          </a:xfrm>
          <a:prstGeom prst="ellipse">
            <a:avLst/>
          </a:prstGeom>
          <a:solidFill>
            <a:srgbClr val="FF4DB8"/>
          </a:solidFill>
          <a:ln w="12700">
            <a:solidFill>
              <a:srgbClr val="FF4DB8"/>
            </a:solidFill>
            <a:prstDash val="solid"/>
          </a:ln>
        </p:spPr>
      </p:sp>
      <p:sp>
        <p:nvSpPr>
          <p:cNvPr id="64" name="Text 62"/>
          <p:cNvSpPr/>
          <p:nvPr/>
        </p:nvSpPr>
        <p:spPr>
          <a:xfrm>
            <a:off x="457200" y="2148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2</a:t>
            </a:r>
            <a:endParaRPr lang="en-US" sz="1800" dirty="0"/>
          </a:p>
        </p:txBody>
      </p:sp>
      <p:sp>
        <p:nvSpPr>
          <p:cNvPr id="65" name="Shape 63"/>
          <p:cNvSpPr/>
          <p:nvPr/>
        </p:nvSpPr>
        <p:spPr>
          <a:xfrm>
            <a:off x="1188720" y="2057400"/>
            <a:ext cx="7498080" cy="822960"/>
          </a:xfrm>
          <a:prstGeom prst="roundRect">
            <a:avLst>
              <a:gd name="adj" fmla="val 7778"/>
            </a:avLst>
          </a:prstGeom>
          <a:solidFill>
            <a:srgbClr val="FFFFFF"/>
          </a:solidFill>
          <a:ln w="12700">
            <a:solidFill>
              <a:srgbClr val="E8C0DA"/>
            </a:solidFill>
            <a:prstDash val="solid"/>
          </a:ln>
        </p:spPr>
      </p:sp>
      <p:sp>
        <p:nvSpPr>
          <p:cNvPr id="66" name="Text 64"/>
          <p:cNvSpPr/>
          <p:nvPr/>
        </p:nvSpPr>
        <p:spPr>
          <a:xfrm>
            <a:off x="1371600" y="2130552"/>
            <a:ext cx="7132320" cy="685800"/>
          </a:xfrm>
          <a:prstGeom prst="rect">
            <a:avLst/>
          </a:prstGeom>
          <a:noFill/>
          <a:ln/>
        </p:spPr>
        <p:txBody>
          <a:bodyPr wrap="square" rtlCol="0" anchor="ctr"/>
          <a:lstStyle/>
          <a:p>
            <a:pPr indent="0" marL="0">
              <a:buNone/>
            </a:pPr>
            <a:r>
              <a:rPr lang="en-US" sz="1500" dirty="0">
                <a:solidFill>
                  <a:srgbClr val="1A1A1A"/>
                </a:solidFill>
                <a:latin typeface="Meiryo" pitchFamily="34" charset="0"/>
                <a:ea typeface="Meiryo" pitchFamily="34" charset="-122"/>
                <a:cs typeface="Meiryo" pitchFamily="34" charset="-120"/>
              </a:rPr>
              <a:t>セーフティーゾーン内に重要テキストを配置する</a:t>
            </a:r>
            <a:endParaRPr lang="en-US" sz="1500" dirty="0"/>
          </a:p>
        </p:txBody>
      </p:sp>
      <p:sp>
        <p:nvSpPr>
          <p:cNvPr id="67" name="Shape 65"/>
          <p:cNvSpPr/>
          <p:nvPr/>
        </p:nvSpPr>
        <p:spPr>
          <a:xfrm>
            <a:off x="457200" y="3291840"/>
            <a:ext cx="594360" cy="594360"/>
          </a:xfrm>
          <a:prstGeom prst="ellipse">
            <a:avLst/>
          </a:prstGeom>
          <a:solidFill>
            <a:srgbClr val="FF4DB8"/>
          </a:solidFill>
          <a:ln w="12700">
            <a:solidFill>
              <a:srgbClr val="FF4DB8"/>
            </a:solidFill>
            <a:prstDash val="solid"/>
          </a:ln>
        </p:spPr>
      </p:sp>
      <p:sp>
        <p:nvSpPr>
          <p:cNvPr id="68" name="Text 66"/>
          <p:cNvSpPr/>
          <p:nvPr/>
        </p:nvSpPr>
        <p:spPr>
          <a:xfrm>
            <a:off x="457200" y="3291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3</a:t>
            </a:r>
            <a:endParaRPr lang="en-US" sz="1800" dirty="0"/>
          </a:p>
        </p:txBody>
      </p:sp>
      <p:sp>
        <p:nvSpPr>
          <p:cNvPr id="69" name="Shape 67"/>
          <p:cNvSpPr/>
          <p:nvPr/>
        </p:nvSpPr>
        <p:spPr>
          <a:xfrm>
            <a:off x="1188720" y="3200400"/>
            <a:ext cx="7498080" cy="822960"/>
          </a:xfrm>
          <a:prstGeom prst="roundRect">
            <a:avLst>
              <a:gd name="adj" fmla="val 7778"/>
            </a:avLst>
          </a:prstGeom>
          <a:solidFill>
            <a:srgbClr val="FFFFFF"/>
          </a:solidFill>
          <a:ln w="12700">
            <a:solidFill>
              <a:srgbClr val="E8C0DA"/>
            </a:solidFill>
            <a:prstDash val="solid"/>
          </a:ln>
        </p:spPr>
      </p:sp>
      <p:sp>
        <p:nvSpPr>
          <p:cNvPr id="70" name="Text 68"/>
          <p:cNvSpPr/>
          <p:nvPr/>
        </p:nvSpPr>
        <p:spPr>
          <a:xfrm>
            <a:off x="1371600" y="3273552"/>
            <a:ext cx="7132320" cy="685800"/>
          </a:xfrm>
          <a:prstGeom prst="rect">
            <a:avLst/>
          </a:prstGeom>
          <a:noFill/>
          <a:ln/>
        </p:spPr>
        <p:txBody>
          <a:bodyPr wrap="square" rtlCol="0" anchor="ctr"/>
          <a:lstStyle/>
          <a:p>
            <a:pPr indent="0" marL="0">
              <a:buNone/>
            </a:pPr>
            <a:r>
              <a:rPr lang="en-US" sz="1500" dirty="0">
                <a:solidFill>
                  <a:srgbClr val="1A1A1A"/>
                </a:solidFill>
                <a:latin typeface="Meiryo" pitchFamily="34" charset="0"/>
                <a:ea typeface="Meiryo" pitchFamily="34" charset="-122"/>
                <a:cs typeface="Meiryo" pitchFamily="34" charset="-120"/>
              </a:rPr>
              <a:t>下書き画面録画で「実際の見え方」を確認してから提出</a:t>
            </a:r>
            <a:endParaRPr lang="en-US" sz="1500" dirty="0"/>
          </a:p>
        </p:txBody>
      </p:sp>
      <p:pic>
        <p:nvPicPr>
          <p:cNvPr id="71" name="Image 0" descr="C:\Users\長澤開\Downloads\pptx-editor\public\illustrations\document.png"/>
          <p:cNvPicPr>
            <a:picLocks noChangeAspect="1"/>
          </p:cNvPicPr>
          <p:nvPr/>
        </p:nvPicPr>
        <p:blipFill>
          <a:blip r:embed="rId1">
            <a:alphaModFix amt="90000"/>
          </a:blip>
          <a:stretch>
            <a:fillRect/>
          </a:stretch>
        </p:blipFill>
        <p:spPr>
          <a:xfrm>
            <a:off x="7315200" y="3493008"/>
            <a:ext cx="1463040" cy="804672"/>
          </a:xfrm>
          <a:prstGeom prst="rect">
            <a:avLst/>
          </a:prstGeom>
        </p:spPr>
      </p:pic>
      <p:sp>
        <p:nvSpPr>
          <p:cNvPr id="72" name="Shape 69"/>
          <p:cNvSpPr/>
          <p:nvPr/>
        </p:nvSpPr>
        <p:spPr>
          <a:xfrm>
            <a:off x="365760" y="4370832"/>
            <a:ext cx="8412480" cy="548640"/>
          </a:xfrm>
          <a:prstGeom prst="roundRect">
            <a:avLst>
              <a:gd name="adj" fmla="val 11667"/>
            </a:avLst>
          </a:prstGeom>
          <a:solidFill>
            <a:srgbClr val="FFF0F5"/>
          </a:solidFill>
          <a:ln w="12700">
            <a:solidFill>
              <a:srgbClr val="FF4DB8"/>
            </a:solidFill>
            <a:prstDash val="solid"/>
          </a:ln>
        </p:spPr>
      </p:sp>
      <p:sp>
        <p:nvSpPr>
          <p:cNvPr id="73" name="Text 70"/>
          <p:cNvSpPr/>
          <p:nvPr/>
        </p:nvSpPr>
        <p:spPr>
          <a:xfrm>
            <a:off x="502920" y="4416552"/>
            <a:ext cx="8046720" cy="457200"/>
          </a:xfrm>
          <a:prstGeom prst="rect">
            <a:avLst/>
          </a:prstGeom>
          <a:noFill/>
          <a:ln/>
        </p:spPr>
        <p:txBody>
          <a:bodyPr wrap="square" rtlCol="0" anchor="ctr"/>
          <a:lstStyle/>
          <a:p>
            <a:pPr indent="0" marL="0">
              <a:buNone/>
            </a:pPr>
            <a:r>
              <a:rPr lang="en-US" sz="1400" dirty="0">
                <a:solidFill>
                  <a:srgbClr val="FF4DB8"/>
                </a:solidFill>
                <a:latin typeface="Meiryo" pitchFamily="34" charset="0"/>
                <a:ea typeface="Meiryo" pitchFamily="34" charset="-122"/>
                <a:cs typeface="Meiryo" pitchFamily="34" charset="-120"/>
              </a:rPr>
              <a:t>▶  Next  |  動画④：投稿と納品</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4DB8"/>
        </a:solidFill>
      </p:bgPr>
    </p:bg>
    <p:spTree>
      <p:nvGrpSpPr>
        <p:cNvPr id="1" name=""/>
        <p:cNvGrpSpPr/>
        <p:nvPr/>
      </p:nvGrpSpPr>
      <p:grpSpPr>
        <a:xfrm>
          <a:off x="0" y="0"/>
          <a:ext cx="0" cy="0"/>
          <a:chOff x="0" y="0"/>
          <a:chExt cx="0" cy="0"/>
        </a:xfrm>
      </p:grpSpPr>
      <p:sp>
        <p:nvSpPr>
          <p:cNvPr id="2" name="Text 0"/>
          <p:cNvSpPr/>
          <p:nvPr/>
        </p:nvSpPr>
        <p:spPr>
          <a:xfrm>
            <a:off x="-274320" y="91440"/>
            <a:ext cx="4114800" cy="4937760"/>
          </a:xfrm>
          <a:prstGeom prst="rect">
            <a:avLst/>
          </a:prstGeom>
          <a:noFill/>
          <a:ln/>
        </p:spPr>
        <p:txBody>
          <a:bodyPr wrap="square" lIns="0" tIns="0" rIns="0" bIns="0" rtlCol="0" anchor="ctr"/>
          <a:lstStyle/>
          <a:p>
            <a:pPr algn="l" indent="0" marL="0">
              <a:buNone/>
            </a:pPr>
            <a:r>
              <a:rPr lang="en-US" sz="30000" b="1" dirty="0">
                <a:solidFill>
                  <a:srgbClr val="FFFFFF">
                    <a:alpha val="80000"/>
                  </a:srgbClr>
                </a:solidFill>
                <a:latin typeface="Meiryo" pitchFamily="34" charset="0"/>
                <a:ea typeface="Meiryo" pitchFamily="34" charset="-122"/>
                <a:cs typeface="Meiryo" pitchFamily="34" charset="-120"/>
              </a:rPr>
              <a:t>4</a:t>
            </a:r>
            <a:endParaRPr lang="en-US" sz="30000" dirty="0"/>
          </a:p>
        </p:txBody>
      </p:sp>
      <p:pic>
        <p:nvPicPr>
          <p:cNvPr id="3" name="Image 0" descr="C:\Users\長澤開\Downloads\pptx-editor\public\illustrations\document.png"/>
          <p:cNvPicPr>
            <a:picLocks noChangeAspect="1"/>
          </p:cNvPicPr>
          <p:nvPr/>
        </p:nvPicPr>
        <p:blipFill>
          <a:blip r:embed="rId1">
            <a:alphaModFix amt="80000"/>
          </a:blip>
          <a:stretch>
            <a:fillRect/>
          </a:stretch>
        </p:blipFill>
        <p:spPr>
          <a:xfrm>
            <a:off x="6400800" y="91440"/>
            <a:ext cx="2468880" cy="2194560"/>
          </a:xfrm>
          <a:prstGeom prst="rect">
            <a:avLst/>
          </a:prstGeom>
        </p:spPr>
      </p:pic>
      <p:pic>
        <p:nvPicPr>
          <p:cNvPr id="4" name="Image 1" descr="C:\Users\長澤開\Downloads\pptx-editor\public\illustrations\calendar.png"/>
          <p:cNvPicPr>
            <a:picLocks noChangeAspect="1"/>
          </p:cNvPicPr>
          <p:nvPr/>
        </p:nvPicPr>
        <p:blipFill>
          <a:blip r:embed="rId2">
            <a:alphaModFix amt="80000"/>
          </a:blip>
          <a:stretch>
            <a:fillRect/>
          </a:stretch>
        </p:blipFill>
        <p:spPr>
          <a:xfrm>
            <a:off x="7132320" y="3108960"/>
            <a:ext cx="1828800" cy="1828800"/>
          </a:xfrm>
          <a:prstGeom prst="rect">
            <a:avLst/>
          </a:prstGeom>
        </p:spPr>
      </p:pic>
      <p:pic>
        <p:nvPicPr>
          <p:cNvPr id="5" name="Image 2" descr="C:\Users\長澤開\Downloads\pptx-editor\public\illustrations\arrow.png"/>
          <p:cNvPicPr>
            <a:picLocks noChangeAspect="1"/>
          </p:cNvPicPr>
          <p:nvPr/>
        </p:nvPicPr>
        <p:blipFill>
          <a:blip r:embed="rId3">
            <a:alphaModFix amt="70000"/>
          </a:blip>
          <a:stretch>
            <a:fillRect/>
          </a:stretch>
        </p:blipFill>
        <p:spPr>
          <a:xfrm>
            <a:off x="182880" y="3474720"/>
            <a:ext cx="1645920" cy="1554480"/>
          </a:xfrm>
          <a:prstGeom prst="rect">
            <a:avLst/>
          </a:prstGeom>
        </p:spPr>
      </p:pic>
      <p:sp>
        <p:nvSpPr>
          <p:cNvPr id="6" name="Shape 1"/>
          <p:cNvSpPr/>
          <p:nvPr/>
        </p:nvSpPr>
        <p:spPr>
          <a:xfrm>
            <a:off x="2743200" y="1371600"/>
            <a:ext cx="5760720" cy="2377440"/>
          </a:xfrm>
          <a:prstGeom prst="roundRect">
            <a:avLst>
              <a:gd name="adj" fmla="val 6923"/>
            </a:avLst>
          </a:prstGeom>
          <a:solidFill>
            <a:srgbClr val="FFFFFF"/>
          </a:solidFill>
          <a:ln w="12700">
            <a:solidFill>
              <a:srgbClr val="FFFFFF"/>
            </a:solidFill>
            <a:prstDash val="solid"/>
          </a:ln>
        </p:spPr>
      </p:sp>
      <p:sp>
        <p:nvSpPr>
          <p:cNvPr id="7" name="Text 2"/>
          <p:cNvSpPr/>
          <p:nvPr/>
        </p:nvSpPr>
        <p:spPr>
          <a:xfrm>
            <a:off x="2926080" y="1508760"/>
            <a:ext cx="5394960" cy="1371600"/>
          </a:xfrm>
          <a:prstGeom prst="rect">
            <a:avLst/>
          </a:prstGeom>
          <a:noFill/>
          <a:ln/>
        </p:spPr>
        <p:txBody>
          <a:bodyPr wrap="square" rtlCol="0" anchor="ctr"/>
          <a:lstStyle/>
          <a:p>
            <a:pPr indent="0" marL="0">
              <a:buNone/>
            </a:pPr>
            <a:r>
              <a:rPr lang="en-US" sz="3200" b="1" dirty="0">
                <a:solidFill>
                  <a:srgbClr val="1A1A1A"/>
                </a:solidFill>
                <a:latin typeface="Meiryo" pitchFamily="34" charset="0"/>
                <a:ea typeface="Meiryo" pitchFamily="34" charset="-122"/>
                <a:cs typeface="Meiryo" pitchFamily="34" charset="-120"/>
              </a:rPr>
              <a:t>動画④</a:t>
            </a:r>
            <a:endParaRPr lang="en-US" sz="3200" dirty="0"/>
          </a:p>
          <a:p>
            <a:pPr indent="0" marL="0">
              <a:buNone/>
            </a:pPr>
            <a:r>
              <a:rPr lang="en-US" sz="3200" b="1" dirty="0">
                <a:solidFill>
                  <a:srgbClr val="1A1A1A"/>
                </a:solidFill>
                <a:latin typeface="Meiryo" pitchFamily="34" charset="0"/>
                <a:ea typeface="Meiryo" pitchFamily="34" charset="-122"/>
                <a:cs typeface="Meiryo" pitchFamily="34" charset="-120"/>
              </a:rPr>
              <a:t>投稿と納品</a:t>
            </a:r>
            <a:endParaRPr lang="en-US" sz="3200" dirty="0"/>
          </a:p>
        </p:txBody>
      </p:sp>
      <p:sp>
        <p:nvSpPr>
          <p:cNvPr id="8" name="Text 3"/>
          <p:cNvSpPr/>
          <p:nvPr/>
        </p:nvSpPr>
        <p:spPr>
          <a:xfrm>
            <a:off x="2926080" y="2880360"/>
            <a:ext cx="5394960" cy="594360"/>
          </a:xfrm>
          <a:prstGeom prst="rect">
            <a:avLst/>
          </a:prstGeom>
          <a:noFill/>
          <a:ln/>
        </p:spPr>
        <p:txBody>
          <a:bodyPr wrap="square" rtlCol="0" anchor="ctr"/>
          <a:lstStyle/>
          <a:p>
            <a:pPr indent="0" marL="0">
              <a:buNone/>
            </a:pPr>
            <a:r>
              <a:rPr lang="en-US" sz="1700" dirty="0">
                <a:solidFill>
                  <a:srgbClr val="555555"/>
                </a:solidFill>
                <a:latin typeface="Meiryo" pitchFamily="34" charset="0"/>
                <a:ea typeface="Meiryo" pitchFamily="34" charset="-122"/>
                <a:cs typeface="Meiryo" pitchFamily="34" charset="-120"/>
              </a:rPr>
              <a:t>正しく投稿・報告する方法</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Text 55"/>
          <p:cNvSpPr/>
          <p:nvPr/>
        </p:nvSpPr>
        <p:spPr>
          <a:xfrm>
            <a:off x="457200" y="228600"/>
            <a:ext cx="8229600" cy="640080"/>
          </a:xfrm>
          <a:prstGeom prst="rect">
            <a:avLst/>
          </a:prstGeom>
          <a:noFill/>
          <a:ln/>
        </p:spPr>
        <p:txBody>
          <a:bodyPr wrap="square" rtlCol="0" anchor="ctr"/>
          <a:lstStyle/>
          <a:p>
            <a:pPr indent="0" marL="0">
              <a:buNone/>
            </a:pPr>
            <a:r>
              <a:rPr lang="en-US" sz="3200" b="1" dirty="0">
                <a:solidFill>
                  <a:srgbClr val="1A1A1A"/>
                </a:solidFill>
                <a:latin typeface="Meiryo" pitchFamily="34" charset="0"/>
                <a:ea typeface="Meiryo" pitchFamily="34" charset="-122"/>
                <a:cs typeface="Meiryo" pitchFamily="34" charset="-120"/>
              </a:rPr>
              <a:t>この動画で学ぶこと</a:t>
            </a:r>
            <a:endParaRPr lang="en-US" sz="3200" dirty="0"/>
          </a:p>
        </p:txBody>
      </p:sp>
      <p:sp>
        <p:nvSpPr>
          <p:cNvPr id="58" name="Shape 56"/>
          <p:cNvSpPr/>
          <p:nvPr/>
        </p:nvSpPr>
        <p:spPr>
          <a:xfrm>
            <a:off x="457200" y="850392"/>
            <a:ext cx="8229600" cy="36576"/>
          </a:xfrm>
          <a:prstGeom prst="rect">
            <a:avLst/>
          </a:prstGeom>
          <a:solidFill>
            <a:srgbClr val="FFB3E0"/>
          </a:solidFill>
          <a:ln w="12700">
            <a:solidFill>
              <a:srgbClr val="FFB3E0"/>
            </a:solidFill>
            <a:prstDash val="solid"/>
          </a:ln>
        </p:spPr>
      </p:sp>
      <p:sp>
        <p:nvSpPr>
          <p:cNvPr id="59" name="Shape 57"/>
          <p:cNvSpPr/>
          <p:nvPr/>
        </p:nvSpPr>
        <p:spPr>
          <a:xfrm>
            <a:off x="45720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60" name="Image 0" descr="C:\Users\長澤開\Downloads\pptx-editor\public\illustrations\contract-pen.sv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8680" y="1051560"/>
            <a:ext cx="1828800" cy="1417320"/>
          </a:xfrm>
          <a:prstGeom prst="rect">
            <a:avLst/>
          </a:prstGeom>
        </p:spPr>
      </p:pic>
      <p:sp>
        <p:nvSpPr>
          <p:cNvPr id="61" name="Shape 58"/>
          <p:cNvSpPr/>
          <p:nvPr/>
        </p:nvSpPr>
        <p:spPr>
          <a:xfrm>
            <a:off x="566928" y="2578608"/>
            <a:ext cx="548640" cy="548640"/>
          </a:xfrm>
          <a:prstGeom prst="ellipse">
            <a:avLst/>
          </a:prstGeom>
          <a:solidFill>
            <a:srgbClr val="FF4DB8"/>
          </a:solidFill>
          <a:ln w="12700">
            <a:solidFill>
              <a:srgbClr val="FF4DB8"/>
            </a:solidFill>
            <a:prstDash val="solid"/>
          </a:ln>
        </p:spPr>
      </p:sp>
      <p:sp>
        <p:nvSpPr>
          <p:cNvPr id="62" name="Text 59"/>
          <p:cNvSpPr/>
          <p:nvPr/>
        </p:nvSpPr>
        <p:spPr>
          <a:xfrm>
            <a:off x="56692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01</a:t>
            </a:r>
            <a:endParaRPr lang="en-US" sz="1800" dirty="0"/>
          </a:p>
        </p:txBody>
      </p:sp>
      <p:sp>
        <p:nvSpPr>
          <p:cNvPr id="63" name="Text 60"/>
          <p:cNvSpPr/>
          <p:nvPr/>
        </p:nvSpPr>
        <p:spPr>
          <a:xfrm>
            <a:off x="59436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投稿前に確認すべきこと</a:t>
            </a:r>
            <a:endParaRPr lang="en-US" sz="1500" dirty="0"/>
          </a:p>
        </p:txBody>
      </p:sp>
      <p:sp>
        <p:nvSpPr>
          <p:cNvPr id="64" name="Text 61"/>
          <p:cNvSpPr/>
          <p:nvPr/>
        </p:nvSpPr>
        <p:spPr>
          <a:xfrm>
            <a:off x="59436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見落としが法律違反に</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つながるチェックポイント</a:t>
            </a:r>
            <a:endParaRPr lang="en-US" sz="1200" dirty="0"/>
          </a:p>
        </p:txBody>
      </p:sp>
      <p:sp>
        <p:nvSpPr>
          <p:cNvPr id="65" name="Shape 62"/>
          <p:cNvSpPr/>
          <p:nvPr/>
        </p:nvSpPr>
        <p:spPr>
          <a:xfrm>
            <a:off x="329184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66" name="Image 1" descr="C:\Users\長澤開\Downloads\pptx-editor\public\illustrations\coins-money.png"/>
          <p:cNvPicPr>
            <a:picLocks noChangeAspect="1"/>
          </p:cNvPicPr>
          <p:nvPr/>
        </p:nvPicPr>
        <p:blipFill>
          <a:blip r:embed="rId3"/>
          <a:stretch>
            <a:fillRect/>
          </a:stretch>
        </p:blipFill>
        <p:spPr>
          <a:xfrm>
            <a:off x="3703320" y="1051560"/>
            <a:ext cx="1828800" cy="1417320"/>
          </a:xfrm>
          <a:prstGeom prst="rect">
            <a:avLst/>
          </a:prstGeom>
        </p:spPr>
      </p:pic>
      <p:sp>
        <p:nvSpPr>
          <p:cNvPr id="67" name="Shape 63"/>
          <p:cNvSpPr/>
          <p:nvPr/>
        </p:nvSpPr>
        <p:spPr>
          <a:xfrm>
            <a:off x="3401568" y="2578608"/>
            <a:ext cx="548640" cy="548640"/>
          </a:xfrm>
          <a:prstGeom prst="ellipse">
            <a:avLst/>
          </a:prstGeom>
          <a:solidFill>
            <a:srgbClr val="FF4DB8"/>
          </a:solidFill>
          <a:ln w="12700">
            <a:solidFill>
              <a:srgbClr val="FF4DB8"/>
            </a:solidFill>
            <a:prstDash val="solid"/>
          </a:ln>
        </p:spPr>
      </p:sp>
      <p:sp>
        <p:nvSpPr>
          <p:cNvPr id="68" name="Text 64"/>
          <p:cNvSpPr/>
          <p:nvPr/>
        </p:nvSpPr>
        <p:spPr>
          <a:xfrm>
            <a:off x="340156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02</a:t>
            </a:r>
            <a:endParaRPr lang="en-US" sz="1800" dirty="0"/>
          </a:p>
        </p:txBody>
      </p:sp>
      <p:sp>
        <p:nvSpPr>
          <p:cNvPr id="69" name="Text 65"/>
          <p:cNvSpPr/>
          <p:nvPr/>
        </p:nvSpPr>
        <p:spPr>
          <a:xfrm>
            <a:off x="342900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投稿後にすぐやること</a:t>
            </a:r>
            <a:endParaRPr lang="en-US" sz="1500" dirty="0"/>
          </a:p>
        </p:txBody>
      </p:sp>
      <p:sp>
        <p:nvSpPr>
          <p:cNvPr id="70" name="Text 66"/>
          <p:cNvSpPr/>
          <p:nvPr/>
        </p:nvSpPr>
        <p:spPr>
          <a:xfrm>
            <a:off x="342900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URLシェアまでが</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仕事の一部</a:t>
            </a:r>
            <a:endParaRPr lang="en-US" sz="1200" dirty="0"/>
          </a:p>
        </p:txBody>
      </p:sp>
      <p:sp>
        <p:nvSpPr>
          <p:cNvPr id="71" name="Shape 67"/>
          <p:cNvSpPr/>
          <p:nvPr/>
        </p:nvSpPr>
        <p:spPr>
          <a:xfrm>
            <a:off x="612648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72" name="Image 2" descr="C:\Users\長澤開\Downloads\pptx-editor\public\illustrations\arrow.png"/>
          <p:cNvPicPr>
            <a:picLocks noChangeAspect="1"/>
          </p:cNvPicPr>
          <p:nvPr/>
        </p:nvPicPr>
        <p:blipFill>
          <a:blip r:embed="rId4"/>
          <a:stretch>
            <a:fillRect/>
          </a:stretch>
        </p:blipFill>
        <p:spPr>
          <a:xfrm>
            <a:off x="6537960" y="1051560"/>
            <a:ext cx="1828800" cy="1417320"/>
          </a:xfrm>
          <a:prstGeom prst="rect">
            <a:avLst/>
          </a:prstGeom>
        </p:spPr>
      </p:pic>
      <p:sp>
        <p:nvSpPr>
          <p:cNvPr id="73" name="Shape 68"/>
          <p:cNvSpPr/>
          <p:nvPr/>
        </p:nvSpPr>
        <p:spPr>
          <a:xfrm>
            <a:off x="6236208" y="2578608"/>
            <a:ext cx="548640" cy="548640"/>
          </a:xfrm>
          <a:prstGeom prst="ellipse">
            <a:avLst/>
          </a:prstGeom>
          <a:solidFill>
            <a:srgbClr val="FF4DB8"/>
          </a:solidFill>
          <a:ln w="12700">
            <a:solidFill>
              <a:srgbClr val="FF4DB8"/>
            </a:solidFill>
            <a:prstDash val="solid"/>
          </a:ln>
        </p:spPr>
      </p:sp>
      <p:sp>
        <p:nvSpPr>
          <p:cNvPr id="74" name="Text 69"/>
          <p:cNvSpPr/>
          <p:nvPr/>
        </p:nvSpPr>
        <p:spPr>
          <a:xfrm>
            <a:off x="623620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03</a:t>
            </a:r>
            <a:endParaRPr lang="en-US" sz="1800" dirty="0"/>
          </a:p>
        </p:txBody>
      </p:sp>
      <p:sp>
        <p:nvSpPr>
          <p:cNvPr id="75" name="Text 70"/>
          <p:cNvSpPr/>
          <p:nvPr/>
        </p:nvSpPr>
        <p:spPr>
          <a:xfrm>
            <a:off x="626364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完パケ動画と広告コードとは</a:t>
            </a:r>
            <a:endParaRPr lang="en-US" sz="1500" dirty="0"/>
          </a:p>
        </p:txBody>
      </p:sp>
      <p:sp>
        <p:nvSpPr>
          <p:cNvPr id="76" name="Text 71"/>
          <p:cNvSpPr/>
          <p:nvPr/>
        </p:nvSpPr>
        <p:spPr>
          <a:xfrm>
            <a:off x="626364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二次利用がある場合の</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追加対応</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12725"/>
            <a:ext cx="7589520" cy="318211"/>
          </a:xfrm>
          <a:prstGeom prst="rect">
            <a:avLst/>
          </a:prstGeom>
          <a:solidFill>
            <a:srgbClr val="FFE455"/>
          </a:solidFill>
          <a:ln w="12700">
            <a:solidFill>
              <a:srgbClr val="FFE455"/>
            </a:solidFill>
            <a:prstDash val="solid"/>
          </a:ln>
        </p:spPr>
      </p:sp>
      <p:sp>
        <p:nvSpPr>
          <p:cNvPr id="58" name="Text 56"/>
          <p:cNvSpPr/>
          <p:nvPr/>
        </p:nvSpPr>
        <p:spPr>
          <a:xfrm>
            <a:off x="457200" y="137160"/>
            <a:ext cx="7498080" cy="548640"/>
          </a:xfrm>
          <a:prstGeom prst="rect">
            <a:avLst/>
          </a:prstGeom>
          <a:noFill/>
          <a:ln/>
        </p:spPr>
        <p:txBody>
          <a:bodyPr wrap="square" rtlCol="0" anchor="ctr"/>
          <a:lstStyle/>
          <a:p>
            <a:pPr indent="0" marL="0">
              <a:buNone/>
            </a:pPr>
            <a:r>
              <a:rPr lang="en-US" sz="2100" b="1" dirty="0">
                <a:solidFill>
                  <a:srgbClr val="1A1A1A"/>
                </a:solidFill>
                <a:latin typeface="Meiryo" pitchFamily="34" charset="0"/>
                <a:ea typeface="Meiryo" pitchFamily="34" charset="-122"/>
                <a:cs typeface="Meiryo" pitchFamily="34" charset="-120"/>
              </a:rPr>
              <a:t>投稿前 セルフチェックリスト</a:t>
            </a:r>
            <a:endParaRPr lang="en-US" sz="2100" dirty="0"/>
          </a:p>
        </p:txBody>
      </p:sp>
      <p:pic>
        <p:nvPicPr>
          <p:cNvPr id="59" name="Image 0" descr="C:\Users\長澤開\Downloads\pptx-editor\public\illustrations\contract-pen.svg"/>
          <p:cNvPicPr>
            <a:picLocks noChangeAspect="1"/>
          </p:cNvPicPr>
          <p:nvPr/>
        </p:nvPicPr>
        <p:blipFill>
          <a:blip r:embed="rId1">
            <a:alphaModFix amt="90000"/>
            <a:extLst>
              <a:ext uri="{96DAC541-7B7A-43D3-8B79-37D633B846F1}">
                <asvg:svgBlip xmlns:asvg="http://schemas.microsoft.com/office/drawing/2016/SVG/main" r:embed="rId2"/>
              </a:ext>
            </a:extLst>
          </a:blip>
          <a:stretch>
            <a:fillRect/>
          </a:stretch>
        </p:blipFill>
        <p:spPr>
          <a:xfrm>
            <a:off x="7955280" y="0"/>
            <a:ext cx="1097280" cy="1143000"/>
          </a:xfrm>
          <a:prstGeom prst="rect">
            <a:avLst/>
          </a:prstGeom>
        </p:spPr>
      </p:pic>
      <p:sp>
        <p:nvSpPr>
          <p:cNvPr id="60" name="Shape 57"/>
          <p:cNvSpPr/>
          <p:nvPr/>
        </p:nvSpPr>
        <p:spPr>
          <a:xfrm>
            <a:off x="457200" y="667512"/>
            <a:ext cx="8229600" cy="36576"/>
          </a:xfrm>
          <a:prstGeom prst="rect">
            <a:avLst/>
          </a:prstGeom>
          <a:solidFill>
            <a:srgbClr val="FFB3E0"/>
          </a:solidFill>
          <a:ln w="12700">
            <a:solidFill>
              <a:srgbClr val="FFB3E0"/>
            </a:solidFill>
            <a:prstDash val="solid"/>
          </a:ln>
        </p:spPr>
      </p:sp>
      <p:sp>
        <p:nvSpPr>
          <p:cNvPr id="61" name="Shape 58"/>
          <p:cNvSpPr/>
          <p:nvPr/>
        </p:nvSpPr>
        <p:spPr>
          <a:xfrm>
            <a:off x="365760" y="822960"/>
            <a:ext cx="4160520" cy="1280160"/>
          </a:xfrm>
          <a:prstGeom prst="roundRect">
            <a:avLst>
              <a:gd name="adj" fmla="val 7143"/>
            </a:avLst>
          </a:prstGeom>
          <a:solidFill>
            <a:srgbClr val="FFFFFF"/>
          </a:solidFill>
          <a:ln w="12700">
            <a:solidFill>
              <a:srgbClr val="E0E0E0"/>
            </a:solidFill>
            <a:prstDash val="solid"/>
          </a:ln>
          <a:effectLst>
            <a:outerShdw sx="100000" sy="100000" kx="0" ky="0" algn="bl" rotWithShape="0" blurRad="50800" dist="12700" dir="8100000">
              <a:srgbClr val="000000">
                <a:alpha val="7000"/>
              </a:srgbClr>
            </a:outerShdw>
          </a:effectLst>
        </p:spPr>
      </p:sp>
      <p:sp>
        <p:nvSpPr>
          <p:cNvPr id="62" name="Shape 59"/>
          <p:cNvSpPr/>
          <p:nvPr/>
        </p:nvSpPr>
        <p:spPr>
          <a:xfrm>
            <a:off x="457200" y="914400"/>
            <a:ext cx="502920" cy="502920"/>
          </a:xfrm>
          <a:prstGeom prst="ellipse">
            <a:avLst/>
          </a:prstGeom>
          <a:solidFill>
            <a:srgbClr val="FFE6F3"/>
          </a:solidFill>
          <a:ln w="12700">
            <a:solidFill>
              <a:srgbClr val="FF4DB8"/>
            </a:solidFill>
            <a:prstDash val="solid"/>
          </a:ln>
        </p:spPr>
      </p:sp>
      <p:sp>
        <p:nvSpPr>
          <p:cNvPr id="63" name="Text 60"/>
          <p:cNvSpPr/>
          <p:nvPr/>
        </p:nvSpPr>
        <p:spPr>
          <a:xfrm>
            <a:off x="457200" y="914400"/>
            <a:ext cx="502920" cy="502920"/>
          </a:xfrm>
          <a:prstGeom prst="rect">
            <a:avLst/>
          </a:prstGeom>
          <a:noFill/>
          <a:ln/>
        </p:spPr>
        <p:txBody>
          <a:bodyPr wrap="square" rtlCol="0" anchor="ctr"/>
          <a:lstStyle/>
          <a:p>
            <a:pPr algn="ctr" indent="0" marL="0">
              <a:buNone/>
            </a:pPr>
            <a:r>
              <a:rPr lang="en-US" sz="1600" b="1" dirty="0">
                <a:solidFill>
                  <a:srgbClr val="FF4DB8"/>
                </a:solidFill>
                <a:latin typeface="Meiryo" pitchFamily="34" charset="0"/>
                <a:ea typeface="Meiryo" pitchFamily="34" charset="-122"/>
                <a:cs typeface="Meiryo" pitchFamily="34" charset="-120"/>
              </a:rPr>
              <a:t>✓</a:t>
            </a:r>
            <a:endParaRPr lang="en-US" sz="1600" dirty="0"/>
          </a:p>
        </p:txBody>
      </p:sp>
      <p:sp>
        <p:nvSpPr>
          <p:cNvPr id="64" name="Shape 61"/>
          <p:cNvSpPr/>
          <p:nvPr/>
        </p:nvSpPr>
        <p:spPr>
          <a:xfrm>
            <a:off x="3931920" y="914400"/>
            <a:ext cx="548640" cy="320040"/>
          </a:xfrm>
          <a:prstGeom prst="roundRect">
            <a:avLst>
              <a:gd name="adj" fmla="val 14286"/>
            </a:avLst>
          </a:prstGeom>
          <a:solidFill>
            <a:srgbClr val="FFE6F3"/>
          </a:solidFill>
          <a:ln w="12700">
            <a:solidFill>
              <a:srgbClr val="FF4DB8"/>
            </a:solidFill>
            <a:prstDash val="solid"/>
          </a:ln>
        </p:spPr>
      </p:sp>
      <p:sp>
        <p:nvSpPr>
          <p:cNvPr id="65" name="Text 62"/>
          <p:cNvSpPr/>
          <p:nvPr/>
        </p:nvSpPr>
        <p:spPr>
          <a:xfrm>
            <a:off x="3931920" y="914400"/>
            <a:ext cx="548640" cy="320040"/>
          </a:xfrm>
          <a:prstGeom prst="rect">
            <a:avLst/>
          </a:prstGeom>
          <a:noFill/>
          <a:ln/>
        </p:spPr>
        <p:txBody>
          <a:bodyPr wrap="square" rtlCol="0" anchor="ctr"/>
          <a:lstStyle/>
          <a:p>
            <a:pPr algn="ctr" indent="0" marL="0">
              <a:buNone/>
            </a:pPr>
            <a:r>
              <a:rPr lang="en-US" sz="900" b="1" dirty="0">
                <a:solidFill>
                  <a:srgbClr val="FF4DB8"/>
                </a:solidFill>
                <a:latin typeface="Meiryo" pitchFamily="34" charset="0"/>
                <a:ea typeface="Meiryo" pitchFamily="34" charset="-122"/>
                <a:cs typeface="Meiryo" pitchFamily="34" charset="-120"/>
              </a:rPr>
              <a:t/>
            </a:r>
            <a:endParaRPr lang="en-US" sz="900" dirty="0"/>
          </a:p>
        </p:txBody>
      </p:sp>
      <p:sp>
        <p:nvSpPr>
          <p:cNvPr id="66" name="Text 63"/>
          <p:cNvSpPr/>
          <p:nvPr/>
        </p:nvSpPr>
        <p:spPr>
          <a:xfrm>
            <a:off x="1051560" y="932688"/>
            <a:ext cx="2834640" cy="457200"/>
          </a:xfrm>
          <a:prstGeom prst="rect">
            <a:avLst/>
          </a:prstGeom>
          <a:noFill/>
          <a:ln/>
        </p:spPr>
        <p:txBody>
          <a:bodyPr wrap="square" rtlCol="0" anchor="ctr"/>
          <a:lstStyle/>
          <a:p>
            <a:pPr indent="0" marL="0">
              <a:buNone/>
            </a:pPr>
            <a:r>
              <a:rPr lang="en-US" sz="1400" b="1" dirty="0">
                <a:solidFill>
                  <a:srgbClr val="1A1A1A"/>
                </a:solidFill>
                <a:latin typeface="Meiryo" pitchFamily="34" charset="0"/>
                <a:ea typeface="Meiryo" pitchFamily="34" charset="-122"/>
                <a:cs typeface="Meiryo" pitchFamily="34" charset="-120"/>
              </a:rPr>
              <a:t>#PR・#広告 等のステマ表記がされているか（法律上の義務！）</a:t>
            </a:r>
            <a:endParaRPr lang="en-US" sz="1400" dirty="0"/>
          </a:p>
        </p:txBody>
      </p:sp>
      <p:sp>
        <p:nvSpPr>
          <p:cNvPr id="67" name="Text 64"/>
          <p:cNvSpPr/>
          <p:nvPr/>
        </p:nvSpPr>
        <p:spPr>
          <a:xfrm>
            <a:off x="457200" y="1417320"/>
            <a:ext cx="3977640" cy="640080"/>
          </a:xfrm>
          <a:prstGeom prst="rect">
            <a:avLst/>
          </a:prstGeom>
          <a:noFill/>
          <a:ln/>
        </p:spPr>
        <p:txBody>
          <a:bodyPr wrap="square" rtlCol="0" anchor="ctr"/>
          <a:lstStyle/>
          <a:p>
            <a:pPr indent="0" marL="0">
              <a:buNone/>
            </a:pPr>
            <a:r>
              <a:rPr lang="en-US" sz="1100" dirty="0">
                <a:solidFill>
                  <a:srgbClr val="555555"/>
                </a:solidFill>
                <a:latin typeface="Meiryo" pitchFamily="34" charset="0"/>
                <a:ea typeface="Meiryo" pitchFamily="34" charset="-122"/>
                <a:cs typeface="Meiryo" pitchFamily="34" charset="-120"/>
              </a:rPr>
              <a:t/>
            </a:r>
            <a:endParaRPr lang="en-US" sz="1100" dirty="0"/>
          </a:p>
        </p:txBody>
      </p:sp>
      <p:sp>
        <p:nvSpPr>
          <p:cNvPr id="68" name="Shape 65"/>
          <p:cNvSpPr/>
          <p:nvPr/>
        </p:nvSpPr>
        <p:spPr>
          <a:xfrm>
            <a:off x="4754880" y="822960"/>
            <a:ext cx="4160520" cy="1280160"/>
          </a:xfrm>
          <a:prstGeom prst="roundRect">
            <a:avLst>
              <a:gd name="adj" fmla="val 7143"/>
            </a:avLst>
          </a:prstGeom>
          <a:solidFill>
            <a:srgbClr val="FFFFFF"/>
          </a:solidFill>
          <a:ln w="12700">
            <a:solidFill>
              <a:srgbClr val="E0E0E0"/>
            </a:solidFill>
            <a:prstDash val="solid"/>
          </a:ln>
          <a:effectLst>
            <a:outerShdw sx="100000" sy="100000" kx="0" ky="0" algn="bl" rotWithShape="0" blurRad="50800" dist="12700" dir="8100000">
              <a:srgbClr val="000000">
                <a:alpha val="7000"/>
              </a:srgbClr>
            </a:outerShdw>
          </a:effectLst>
        </p:spPr>
      </p:sp>
      <p:sp>
        <p:nvSpPr>
          <p:cNvPr id="69" name="Shape 66"/>
          <p:cNvSpPr/>
          <p:nvPr/>
        </p:nvSpPr>
        <p:spPr>
          <a:xfrm>
            <a:off x="4846320" y="914400"/>
            <a:ext cx="502920" cy="502920"/>
          </a:xfrm>
          <a:prstGeom prst="ellipse">
            <a:avLst/>
          </a:prstGeom>
          <a:solidFill>
            <a:srgbClr val="FFE6F3"/>
          </a:solidFill>
          <a:ln w="12700">
            <a:solidFill>
              <a:srgbClr val="FF4DB8"/>
            </a:solidFill>
            <a:prstDash val="solid"/>
          </a:ln>
        </p:spPr>
      </p:sp>
      <p:sp>
        <p:nvSpPr>
          <p:cNvPr id="70" name="Text 67"/>
          <p:cNvSpPr/>
          <p:nvPr/>
        </p:nvSpPr>
        <p:spPr>
          <a:xfrm>
            <a:off x="4846320" y="914400"/>
            <a:ext cx="502920" cy="502920"/>
          </a:xfrm>
          <a:prstGeom prst="rect">
            <a:avLst/>
          </a:prstGeom>
          <a:noFill/>
          <a:ln/>
        </p:spPr>
        <p:txBody>
          <a:bodyPr wrap="square" rtlCol="0" anchor="ctr"/>
          <a:lstStyle/>
          <a:p>
            <a:pPr algn="ctr" indent="0" marL="0">
              <a:buNone/>
            </a:pPr>
            <a:r>
              <a:rPr lang="en-US" sz="1600" b="1" dirty="0">
                <a:solidFill>
                  <a:srgbClr val="FF4DB8"/>
                </a:solidFill>
                <a:latin typeface="Meiryo" pitchFamily="34" charset="0"/>
                <a:ea typeface="Meiryo" pitchFamily="34" charset="-122"/>
                <a:cs typeface="Meiryo" pitchFamily="34" charset="-120"/>
              </a:rPr>
              <a:t>✓</a:t>
            </a:r>
            <a:endParaRPr lang="en-US" sz="1600" dirty="0"/>
          </a:p>
        </p:txBody>
      </p:sp>
      <p:sp>
        <p:nvSpPr>
          <p:cNvPr id="71" name="Shape 68"/>
          <p:cNvSpPr/>
          <p:nvPr/>
        </p:nvSpPr>
        <p:spPr>
          <a:xfrm>
            <a:off x="8321040" y="914400"/>
            <a:ext cx="548640" cy="320040"/>
          </a:xfrm>
          <a:prstGeom prst="roundRect">
            <a:avLst>
              <a:gd name="adj" fmla="val 14286"/>
            </a:avLst>
          </a:prstGeom>
          <a:solidFill>
            <a:srgbClr val="FFE6F3"/>
          </a:solidFill>
          <a:ln w="12700">
            <a:solidFill>
              <a:srgbClr val="FF4DB8"/>
            </a:solidFill>
            <a:prstDash val="solid"/>
          </a:ln>
        </p:spPr>
      </p:sp>
      <p:sp>
        <p:nvSpPr>
          <p:cNvPr id="72" name="Text 69"/>
          <p:cNvSpPr/>
          <p:nvPr/>
        </p:nvSpPr>
        <p:spPr>
          <a:xfrm>
            <a:off x="8321040" y="914400"/>
            <a:ext cx="548640" cy="320040"/>
          </a:xfrm>
          <a:prstGeom prst="rect">
            <a:avLst/>
          </a:prstGeom>
          <a:noFill/>
          <a:ln/>
        </p:spPr>
        <p:txBody>
          <a:bodyPr wrap="square" rtlCol="0" anchor="ctr"/>
          <a:lstStyle/>
          <a:p>
            <a:pPr algn="ctr" indent="0" marL="0">
              <a:buNone/>
            </a:pPr>
            <a:r>
              <a:rPr lang="en-US" sz="900" b="1" dirty="0">
                <a:solidFill>
                  <a:srgbClr val="FF4DB8"/>
                </a:solidFill>
                <a:latin typeface="Meiryo" pitchFamily="34" charset="0"/>
                <a:ea typeface="Meiryo" pitchFamily="34" charset="-122"/>
                <a:cs typeface="Meiryo" pitchFamily="34" charset="-120"/>
              </a:rPr>
              <a:t/>
            </a:r>
            <a:endParaRPr lang="en-US" sz="900" dirty="0"/>
          </a:p>
        </p:txBody>
      </p:sp>
      <p:sp>
        <p:nvSpPr>
          <p:cNvPr id="73" name="Text 70"/>
          <p:cNvSpPr/>
          <p:nvPr/>
        </p:nvSpPr>
        <p:spPr>
          <a:xfrm>
            <a:off x="5440680" y="932688"/>
            <a:ext cx="2834640" cy="457200"/>
          </a:xfrm>
          <a:prstGeom prst="rect">
            <a:avLst/>
          </a:prstGeom>
          <a:noFill/>
          <a:ln/>
        </p:spPr>
        <p:txBody>
          <a:bodyPr wrap="square" rtlCol="0" anchor="ctr"/>
          <a:lstStyle/>
          <a:p>
            <a:pPr indent="0" marL="0">
              <a:buNone/>
            </a:pPr>
            <a:r>
              <a:rPr lang="en-US" sz="1400" b="1" dirty="0">
                <a:solidFill>
                  <a:srgbClr val="1A1A1A"/>
                </a:solidFill>
                <a:latin typeface="Meiryo" pitchFamily="34" charset="0"/>
                <a:ea typeface="Meiryo" pitchFamily="34" charset="-122"/>
                <a:cs typeface="Meiryo" pitchFamily="34" charset="-120"/>
              </a:rPr>
              <a:t>商品名・ブランド名のスペルに間違いはないか</a:t>
            </a:r>
            <a:endParaRPr lang="en-US" sz="1400" dirty="0"/>
          </a:p>
        </p:txBody>
      </p:sp>
      <p:sp>
        <p:nvSpPr>
          <p:cNvPr id="74" name="Text 71"/>
          <p:cNvSpPr/>
          <p:nvPr/>
        </p:nvSpPr>
        <p:spPr>
          <a:xfrm>
            <a:off x="4846320" y="1417320"/>
            <a:ext cx="3977640" cy="640080"/>
          </a:xfrm>
          <a:prstGeom prst="rect">
            <a:avLst/>
          </a:prstGeom>
          <a:noFill/>
          <a:ln/>
        </p:spPr>
        <p:txBody>
          <a:bodyPr wrap="square" rtlCol="0" anchor="ctr"/>
          <a:lstStyle/>
          <a:p>
            <a:pPr indent="0" marL="0">
              <a:buNone/>
            </a:pPr>
            <a:r>
              <a:rPr lang="en-US" sz="1100" dirty="0">
                <a:solidFill>
                  <a:srgbClr val="555555"/>
                </a:solidFill>
                <a:latin typeface="Meiryo" pitchFamily="34" charset="0"/>
                <a:ea typeface="Meiryo" pitchFamily="34" charset="-122"/>
                <a:cs typeface="Meiryo" pitchFamily="34" charset="-120"/>
              </a:rPr>
              <a:t/>
            </a:r>
            <a:endParaRPr lang="en-US" sz="1100" dirty="0"/>
          </a:p>
        </p:txBody>
      </p:sp>
      <p:sp>
        <p:nvSpPr>
          <p:cNvPr id="75" name="Shape 72"/>
          <p:cNvSpPr/>
          <p:nvPr/>
        </p:nvSpPr>
        <p:spPr>
          <a:xfrm>
            <a:off x="365760" y="2240280"/>
            <a:ext cx="4160520" cy="1280160"/>
          </a:xfrm>
          <a:prstGeom prst="roundRect">
            <a:avLst>
              <a:gd name="adj" fmla="val 7143"/>
            </a:avLst>
          </a:prstGeom>
          <a:solidFill>
            <a:srgbClr val="FFFFFF"/>
          </a:solidFill>
          <a:ln w="12700">
            <a:solidFill>
              <a:srgbClr val="E0E0E0"/>
            </a:solidFill>
            <a:prstDash val="solid"/>
          </a:ln>
          <a:effectLst>
            <a:outerShdw sx="100000" sy="100000" kx="0" ky="0" algn="bl" rotWithShape="0" blurRad="50800" dist="12700" dir="8100000">
              <a:srgbClr val="000000">
                <a:alpha val="7000"/>
              </a:srgbClr>
            </a:outerShdw>
          </a:effectLst>
        </p:spPr>
      </p:sp>
      <p:sp>
        <p:nvSpPr>
          <p:cNvPr id="76" name="Shape 73"/>
          <p:cNvSpPr/>
          <p:nvPr/>
        </p:nvSpPr>
        <p:spPr>
          <a:xfrm>
            <a:off x="457200" y="2331720"/>
            <a:ext cx="502920" cy="502920"/>
          </a:xfrm>
          <a:prstGeom prst="ellipse">
            <a:avLst/>
          </a:prstGeom>
          <a:solidFill>
            <a:srgbClr val="FFE6F3"/>
          </a:solidFill>
          <a:ln w="12700">
            <a:solidFill>
              <a:srgbClr val="FF4DB8"/>
            </a:solidFill>
            <a:prstDash val="solid"/>
          </a:ln>
        </p:spPr>
      </p:sp>
      <p:sp>
        <p:nvSpPr>
          <p:cNvPr id="77" name="Text 74"/>
          <p:cNvSpPr/>
          <p:nvPr/>
        </p:nvSpPr>
        <p:spPr>
          <a:xfrm>
            <a:off x="457200" y="2331720"/>
            <a:ext cx="502920" cy="502920"/>
          </a:xfrm>
          <a:prstGeom prst="rect">
            <a:avLst/>
          </a:prstGeom>
          <a:noFill/>
          <a:ln/>
        </p:spPr>
        <p:txBody>
          <a:bodyPr wrap="square" rtlCol="0" anchor="ctr"/>
          <a:lstStyle/>
          <a:p>
            <a:pPr algn="ctr" indent="0" marL="0">
              <a:buNone/>
            </a:pPr>
            <a:r>
              <a:rPr lang="en-US" sz="1600" b="1" dirty="0">
                <a:solidFill>
                  <a:srgbClr val="FF4DB8"/>
                </a:solidFill>
                <a:latin typeface="Meiryo" pitchFamily="34" charset="0"/>
                <a:ea typeface="Meiryo" pitchFamily="34" charset="-122"/>
                <a:cs typeface="Meiryo" pitchFamily="34" charset="-120"/>
              </a:rPr>
              <a:t>✓</a:t>
            </a:r>
            <a:endParaRPr lang="en-US" sz="1600" dirty="0"/>
          </a:p>
        </p:txBody>
      </p:sp>
      <p:sp>
        <p:nvSpPr>
          <p:cNvPr id="78" name="Shape 75"/>
          <p:cNvSpPr/>
          <p:nvPr/>
        </p:nvSpPr>
        <p:spPr>
          <a:xfrm>
            <a:off x="3931920" y="2331720"/>
            <a:ext cx="548640" cy="320040"/>
          </a:xfrm>
          <a:prstGeom prst="roundRect">
            <a:avLst>
              <a:gd name="adj" fmla="val 14286"/>
            </a:avLst>
          </a:prstGeom>
          <a:solidFill>
            <a:srgbClr val="FFE6F3"/>
          </a:solidFill>
          <a:ln w="12700">
            <a:solidFill>
              <a:srgbClr val="FF4DB8"/>
            </a:solidFill>
            <a:prstDash val="solid"/>
          </a:ln>
        </p:spPr>
      </p:sp>
      <p:sp>
        <p:nvSpPr>
          <p:cNvPr id="79" name="Text 76"/>
          <p:cNvSpPr/>
          <p:nvPr/>
        </p:nvSpPr>
        <p:spPr>
          <a:xfrm>
            <a:off x="3931920" y="2331720"/>
            <a:ext cx="548640" cy="320040"/>
          </a:xfrm>
          <a:prstGeom prst="rect">
            <a:avLst/>
          </a:prstGeom>
          <a:noFill/>
          <a:ln/>
        </p:spPr>
        <p:txBody>
          <a:bodyPr wrap="square" rtlCol="0" anchor="ctr"/>
          <a:lstStyle/>
          <a:p>
            <a:pPr algn="ctr" indent="0" marL="0">
              <a:buNone/>
            </a:pPr>
            <a:r>
              <a:rPr lang="en-US" sz="900" b="1" dirty="0">
                <a:solidFill>
                  <a:srgbClr val="FF4DB8"/>
                </a:solidFill>
                <a:latin typeface="Meiryo" pitchFamily="34" charset="0"/>
                <a:ea typeface="Meiryo" pitchFamily="34" charset="-122"/>
                <a:cs typeface="Meiryo" pitchFamily="34" charset="-120"/>
              </a:rPr>
              <a:t/>
            </a:r>
            <a:endParaRPr lang="en-US" sz="900" dirty="0"/>
          </a:p>
        </p:txBody>
      </p:sp>
      <p:sp>
        <p:nvSpPr>
          <p:cNvPr id="80" name="Text 77"/>
          <p:cNvSpPr/>
          <p:nvPr/>
        </p:nvSpPr>
        <p:spPr>
          <a:xfrm>
            <a:off x="1051560" y="2350008"/>
            <a:ext cx="2834640" cy="457200"/>
          </a:xfrm>
          <a:prstGeom prst="rect">
            <a:avLst/>
          </a:prstGeom>
          <a:noFill/>
          <a:ln/>
        </p:spPr>
        <p:txBody>
          <a:bodyPr wrap="square" rtlCol="0" anchor="ctr"/>
          <a:lstStyle/>
          <a:p>
            <a:pPr indent="0" marL="0">
              <a:buNone/>
            </a:pPr>
            <a:r>
              <a:rPr lang="en-US" sz="1400" b="1" dirty="0">
                <a:solidFill>
                  <a:srgbClr val="1A1A1A"/>
                </a:solidFill>
                <a:latin typeface="Meiryo" pitchFamily="34" charset="0"/>
                <a:ea typeface="Meiryo" pitchFamily="34" charset="-122"/>
                <a:cs typeface="Meiryo" pitchFamily="34" charset="-120"/>
              </a:rPr>
              <a:t>テロップに誤字脱字はないか</a:t>
            </a:r>
            <a:endParaRPr lang="en-US" sz="1400" dirty="0"/>
          </a:p>
        </p:txBody>
      </p:sp>
      <p:sp>
        <p:nvSpPr>
          <p:cNvPr id="81" name="Text 78"/>
          <p:cNvSpPr/>
          <p:nvPr/>
        </p:nvSpPr>
        <p:spPr>
          <a:xfrm>
            <a:off x="457200" y="2834640"/>
            <a:ext cx="3977640" cy="640080"/>
          </a:xfrm>
          <a:prstGeom prst="rect">
            <a:avLst/>
          </a:prstGeom>
          <a:noFill/>
          <a:ln/>
        </p:spPr>
        <p:txBody>
          <a:bodyPr wrap="square" rtlCol="0" anchor="ctr"/>
          <a:lstStyle/>
          <a:p>
            <a:pPr indent="0" marL="0">
              <a:buNone/>
            </a:pPr>
            <a:r>
              <a:rPr lang="en-US" sz="1100" dirty="0">
                <a:solidFill>
                  <a:srgbClr val="555555"/>
                </a:solidFill>
                <a:latin typeface="Meiryo" pitchFamily="34" charset="0"/>
                <a:ea typeface="Meiryo" pitchFamily="34" charset="-122"/>
                <a:cs typeface="Meiryo" pitchFamily="34" charset="-120"/>
              </a:rPr>
              <a:t/>
            </a:r>
            <a:endParaRPr lang="en-US" sz="1100" dirty="0"/>
          </a:p>
        </p:txBody>
      </p:sp>
      <p:sp>
        <p:nvSpPr>
          <p:cNvPr id="82" name="Shape 79"/>
          <p:cNvSpPr/>
          <p:nvPr/>
        </p:nvSpPr>
        <p:spPr>
          <a:xfrm>
            <a:off x="4754880" y="2240280"/>
            <a:ext cx="4160520" cy="1280160"/>
          </a:xfrm>
          <a:prstGeom prst="roundRect">
            <a:avLst>
              <a:gd name="adj" fmla="val 7143"/>
            </a:avLst>
          </a:prstGeom>
          <a:solidFill>
            <a:srgbClr val="FFFFFF"/>
          </a:solidFill>
          <a:ln w="12700">
            <a:solidFill>
              <a:srgbClr val="E0E0E0"/>
            </a:solidFill>
            <a:prstDash val="solid"/>
          </a:ln>
          <a:effectLst>
            <a:outerShdw sx="100000" sy="100000" kx="0" ky="0" algn="bl" rotWithShape="0" blurRad="50800" dist="12700" dir="8100000">
              <a:srgbClr val="000000">
                <a:alpha val="7000"/>
              </a:srgbClr>
            </a:outerShdw>
          </a:effectLst>
        </p:spPr>
      </p:sp>
      <p:sp>
        <p:nvSpPr>
          <p:cNvPr id="83" name="Shape 80"/>
          <p:cNvSpPr/>
          <p:nvPr/>
        </p:nvSpPr>
        <p:spPr>
          <a:xfrm>
            <a:off x="4846320" y="2331720"/>
            <a:ext cx="502920" cy="502920"/>
          </a:xfrm>
          <a:prstGeom prst="ellipse">
            <a:avLst/>
          </a:prstGeom>
          <a:solidFill>
            <a:srgbClr val="FFE6F3"/>
          </a:solidFill>
          <a:ln w="12700">
            <a:solidFill>
              <a:srgbClr val="FF4DB8"/>
            </a:solidFill>
            <a:prstDash val="solid"/>
          </a:ln>
        </p:spPr>
      </p:sp>
      <p:sp>
        <p:nvSpPr>
          <p:cNvPr id="84" name="Text 81"/>
          <p:cNvSpPr/>
          <p:nvPr/>
        </p:nvSpPr>
        <p:spPr>
          <a:xfrm>
            <a:off x="4846320" y="2331720"/>
            <a:ext cx="502920" cy="502920"/>
          </a:xfrm>
          <a:prstGeom prst="rect">
            <a:avLst/>
          </a:prstGeom>
          <a:noFill/>
          <a:ln/>
        </p:spPr>
        <p:txBody>
          <a:bodyPr wrap="square" rtlCol="0" anchor="ctr"/>
          <a:lstStyle/>
          <a:p>
            <a:pPr algn="ctr" indent="0" marL="0">
              <a:buNone/>
            </a:pPr>
            <a:r>
              <a:rPr lang="en-US" sz="1600" b="1" dirty="0">
                <a:solidFill>
                  <a:srgbClr val="FF4DB8"/>
                </a:solidFill>
                <a:latin typeface="Meiryo" pitchFamily="34" charset="0"/>
                <a:ea typeface="Meiryo" pitchFamily="34" charset="-122"/>
                <a:cs typeface="Meiryo" pitchFamily="34" charset="-120"/>
              </a:rPr>
              <a:t>✓</a:t>
            </a:r>
            <a:endParaRPr lang="en-US" sz="1600" dirty="0"/>
          </a:p>
        </p:txBody>
      </p:sp>
      <p:sp>
        <p:nvSpPr>
          <p:cNvPr id="85" name="Shape 82"/>
          <p:cNvSpPr/>
          <p:nvPr/>
        </p:nvSpPr>
        <p:spPr>
          <a:xfrm>
            <a:off x="8321040" y="2331720"/>
            <a:ext cx="548640" cy="320040"/>
          </a:xfrm>
          <a:prstGeom prst="roundRect">
            <a:avLst>
              <a:gd name="adj" fmla="val 14286"/>
            </a:avLst>
          </a:prstGeom>
          <a:solidFill>
            <a:srgbClr val="FFE6F3"/>
          </a:solidFill>
          <a:ln w="12700">
            <a:solidFill>
              <a:srgbClr val="FF4DB8"/>
            </a:solidFill>
            <a:prstDash val="solid"/>
          </a:ln>
        </p:spPr>
      </p:sp>
      <p:sp>
        <p:nvSpPr>
          <p:cNvPr id="86" name="Text 83"/>
          <p:cNvSpPr/>
          <p:nvPr/>
        </p:nvSpPr>
        <p:spPr>
          <a:xfrm>
            <a:off x="8321040" y="2331720"/>
            <a:ext cx="548640" cy="320040"/>
          </a:xfrm>
          <a:prstGeom prst="rect">
            <a:avLst/>
          </a:prstGeom>
          <a:noFill/>
          <a:ln/>
        </p:spPr>
        <p:txBody>
          <a:bodyPr wrap="square" rtlCol="0" anchor="ctr"/>
          <a:lstStyle/>
          <a:p>
            <a:pPr algn="ctr" indent="0" marL="0">
              <a:buNone/>
            </a:pPr>
            <a:r>
              <a:rPr lang="en-US" sz="900" b="1" dirty="0">
                <a:solidFill>
                  <a:srgbClr val="FF4DB8"/>
                </a:solidFill>
                <a:latin typeface="Meiryo" pitchFamily="34" charset="0"/>
                <a:ea typeface="Meiryo" pitchFamily="34" charset="-122"/>
                <a:cs typeface="Meiryo" pitchFamily="34" charset="-120"/>
              </a:rPr>
              <a:t/>
            </a:r>
            <a:endParaRPr lang="en-US" sz="900" dirty="0"/>
          </a:p>
        </p:txBody>
      </p:sp>
      <p:sp>
        <p:nvSpPr>
          <p:cNvPr id="87" name="Text 84"/>
          <p:cNvSpPr/>
          <p:nvPr/>
        </p:nvSpPr>
        <p:spPr>
          <a:xfrm>
            <a:off x="5440680" y="2350008"/>
            <a:ext cx="2834640" cy="457200"/>
          </a:xfrm>
          <a:prstGeom prst="rect">
            <a:avLst/>
          </a:prstGeom>
          <a:noFill/>
          <a:ln/>
        </p:spPr>
        <p:txBody>
          <a:bodyPr wrap="square" rtlCol="0" anchor="ctr"/>
          <a:lstStyle/>
          <a:p>
            <a:pPr indent="0" marL="0">
              <a:buNone/>
            </a:pPr>
            <a:r>
              <a:rPr lang="en-US" sz="1400" b="1" dirty="0">
                <a:solidFill>
                  <a:srgbClr val="1A1A1A"/>
                </a:solidFill>
                <a:latin typeface="Meiryo" pitchFamily="34" charset="0"/>
                <a:ea typeface="Meiryo" pitchFamily="34" charset="-122"/>
                <a:cs typeface="Meiryo" pitchFamily="34" charset="-120"/>
              </a:rPr>
              <a:t>音声・BGMのボリュームバランスはOKか</a:t>
            </a:r>
            <a:endParaRPr lang="en-US" sz="1400" dirty="0"/>
          </a:p>
        </p:txBody>
      </p:sp>
      <p:sp>
        <p:nvSpPr>
          <p:cNvPr id="88" name="Text 85"/>
          <p:cNvSpPr/>
          <p:nvPr/>
        </p:nvSpPr>
        <p:spPr>
          <a:xfrm>
            <a:off x="4846320" y="2834640"/>
            <a:ext cx="3977640" cy="640080"/>
          </a:xfrm>
          <a:prstGeom prst="rect">
            <a:avLst/>
          </a:prstGeom>
          <a:noFill/>
          <a:ln/>
        </p:spPr>
        <p:txBody>
          <a:bodyPr wrap="square" rtlCol="0" anchor="ctr"/>
          <a:lstStyle/>
          <a:p>
            <a:pPr indent="0" marL="0">
              <a:buNone/>
            </a:pPr>
            <a:r>
              <a:rPr lang="en-US" sz="1100" dirty="0">
                <a:solidFill>
                  <a:srgbClr val="555555"/>
                </a:solidFill>
                <a:latin typeface="Meiryo" pitchFamily="34" charset="0"/>
                <a:ea typeface="Meiryo" pitchFamily="34" charset="-122"/>
                <a:cs typeface="Meiryo" pitchFamily="34" charset="-120"/>
              </a:rPr>
              <a:t/>
            </a:r>
            <a:endParaRPr lang="en-US" sz="1100" dirty="0"/>
          </a:p>
        </p:txBody>
      </p:sp>
      <p:sp>
        <p:nvSpPr>
          <p:cNvPr id="89" name="Shape 86"/>
          <p:cNvSpPr/>
          <p:nvPr/>
        </p:nvSpPr>
        <p:spPr>
          <a:xfrm>
            <a:off x="365760" y="3657600"/>
            <a:ext cx="4160520" cy="1280160"/>
          </a:xfrm>
          <a:prstGeom prst="roundRect">
            <a:avLst>
              <a:gd name="adj" fmla="val 7143"/>
            </a:avLst>
          </a:prstGeom>
          <a:solidFill>
            <a:srgbClr val="FFFFFF"/>
          </a:solidFill>
          <a:ln w="12700">
            <a:solidFill>
              <a:srgbClr val="E0E0E0"/>
            </a:solidFill>
            <a:prstDash val="solid"/>
          </a:ln>
          <a:effectLst>
            <a:outerShdw sx="100000" sy="100000" kx="0" ky="0" algn="bl" rotWithShape="0" blurRad="50800" dist="12700" dir="8100000">
              <a:srgbClr val="000000">
                <a:alpha val="7000"/>
              </a:srgbClr>
            </a:outerShdw>
          </a:effectLst>
        </p:spPr>
      </p:sp>
      <p:sp>
        <p:nvSpPr>
          <p:cNvPr id="90" name="Shape 87"/>
          <p:cNvSpPr/>
          <p:nvPr/>
        </p:nvSpPr>
        <p:spPr>
          <a:xfrm>
            <a:off x="457200" y="3749040"/>
            <a:ext cx="502920" cy="502920"/>
          </a:xfrm>
          <a:prstGeom prst="ellipse">
            <a:avLst/>
          </a:prstGeom>
          <a:solidFill>
            <a:srgbClr val="FFE6F3"/>
          </a:solidFill>
          <a:ln w="12700">
            <a:solidFill>
              <a:srgbClr val="FF4DB8"/>
            </a:solidFill>
            <a:prstDash val="solid"/>
          </a:ln>
        </p:spPr>
      </p:sp>
      <p:sp>
        <p:nvSpPr>
          <p:cNvPr id="91" name="Text 88"/>
          <p:cNvSpPr/>
          <p:nvPr/>
        </p:nvSpPr>
        <p:spPr>
          <a:xfrm>
            <a:off x="457200" y="3749040"/>
            <a:ext cx="502920" cy="502920"/>
          </a:xfrm>
          <a:prstGeom prst="rect">
            <a:avLst/>
          </a:prstGeom>
          <a:noFill/>
          <a:ln/>
        </p:spPr>
        <p:txBody>
          <a:bodyPr wrap="square" rtlCol="0" anchor="ctr"/>
          <a:lstStyle/>
          <a:p>
            <a:pPr algn="ctr" indent="0" marL="0">
              <a:buNone/>
            </a:pPr>
            <a:r>
              <a:rPr lang="en-US" sz="1600" b="1" dirty="0">
                <a:solidFill>
                  <a:srgbClr val="FF4DB8"/>
                </a:solidFill>
                <a:latin typeface="Meiryo" pitchFamily="34" charset="0"/>
                <a:ea typeface="Meiryo" pitchFamily="34" charset="-122"/>
                <a:cs typeface="Meiryo" pitchFamily="34" charset="-120"/>
              </a:rPr>
              <a:t>✓</a:t>
            </a:r>
            <a:endParaRPr lang="en-US" sz="1600" dirty="0"/>
          </a:p>
        </p:txBody>
      </p:sp>
      <p:sp>
        <p:nvSpPr>
          <p:cNvPr id="92" name="Shape 89"/>
          <p:cNvSpPr/>
          <p:nvPr/>
        </p:nvSpPr>
        <p:spPr>
          <a:xfrm>
            <a:off x="3931920" y="3749040"/>
            <a:ext cx="548640" cy="320040"/>
          </a:xfrm>
          <a:prstGeom prst="roundRect">
            <a:avLst>
              <a:gd name="adj" fmla="val 14286"/>
            </a:avLst>
          </a:prstGeom>
          <a:solidFill>
            <a:srgbClr val="FFE6F3"/>
          </a:solidFill>
          <a:ln w="12700">
            <a:solidFill>
              <a:srgbClr val="FF4DB8"/>
            </a:solidFill>
            <a:prstDash val="solid"/>
          </a:ln>
        </p:spPr>
      </p:sp>
      <p:sp>
        <p:nvSpPr>
          <p:cNvPr id="93" name="Text 90"/>
          <p:cNvSpPr/>
          <p:nvPr/>
        </p:nvSpPr>
        <p:spPr>
          <a:xfrm>
            <a:off x="3931920" y="3749040"/>
            <a:ext cx="548640" cy="320040"/>
          </a:xfrm>
          <a:prstGeom prst="rect">
            <a:avLst/>
          </a:prstGeom>
          <a:noFill/>
          <a:ln/>
        </p:spPr>
        <p:txBody>
          <a:bodyPr wrap="square" rtlCol="0" anchor="ctr"/>
          <a:lstStyle/>
          <a:p>
            <a:pPr algn="ctr" indent="0" marL="0">
              <a:buNone/>
            </a:pPr>
            <a:r>
              <a:rPr lang="en-US" sz="900" b="1" dirty="0">
                <a:solidFill>
                  <a:srgbClr val="FF4DB8"/>
                </a:solidFill>
                <a:latin typeface="Meiryo" pitchFamily="34" charset="0"/>
                <a:ea typeface="Meiryo" pitchFamily="34" charset="-122"/>
                <a:cs typeface="Meiryo" pitchFamily="34" charset="-120"/>
              </a:rPr>
              <a:t/>
            </a:r>
            <a:endParaRPr lang="en-US" sz="900" dirty="0"/>
          </a:p>
        </p:txBody>
      </p:sp>
      <p:sp>
        <p:nvSpPr>
          <p:cNvPr id="94" name="Text 91"/>
          <p:cNvSpPr/>
          <p:nvPr/>
        </p:nvSpPr>
        <p:spPr>
          <a:xfrm>
            <a:off x="1051560" y="3767328"/>
            <a:ext cx="2834640" cy="457200"/>
          </a:xfrm>
          <a:prstGeom prst="rect">
            <a:avLst/>
          </a:prstGeom>
          <a:noFill/>
          <a:ln/>
        </p:spPr>
        <p:txBody>
          <a:bodyPr wrap="square" rtlCol="0" anchor="ctr"/>
          <a:lstStyle/>
          <a:p>
            <a:pPr indent="0" marL="0">
              <a:buNone/>
            </a:pPr>
            <a:r>
              <a:rPr lang="en-US" sz="1400" b="1" dirty="0">
                <a:solidFill>
                  <a:srgbClr val="1A1A1A"/>
                </a:solidFill>
                <a:latin typeface="Meiryo" pitchFamily="34" charset="0"/>
                <a:ea typeface="Meiryo" pitchFamily="34" charset="-122"/>
                <a:cs typeface="Meiryo" pitchFamily="34" charset="-120"/>
              </a:rPr>
              <a:t>TORIHADAから「投稿OK」のGoサインが来ているか</a:t>
            </a:r>
            <a:endParaRPr lang="en-US" sz="1400" dirty="0"/>
          </a:p>
        </p:txBody>
      </p:sp>
      <p:sp>
        <p:nvSpPr>
          <p:cNvPr id="95" name="Text 92"/>
          <p:cNvSpPr/>
          <p:nvPr/>
        </p:nvSpPr>
        <p:spPr>
          <a:xfrm>
            <a:off x="457200" y="4251960"/>
            <a:ext cx="3977640" cy="640080"/>
          </a:xfrm>
          <a:prstGeom prst="rect">
            <a:avLst/>
          </a:prstGeom>
          <a:noFill/>
          <a:ln/>
        </p:spPr>
        <p:txBody>
          <a:bodyPr wrap="square" rtlCol="0" anchor="ctr"/>
          <a:lstStyle/>
          <a:p>
            <a:pPr indent="0" marL="0">
              <a:buNone/>
            </a:pPr>
            <a:r>
              <a:rPr lang="en-US" sz="1100" dirty="0">
                <a:solidFill>
                  <a:srgbClr val="555555"/>
                </a:solidFill>
                <a:latin typeface="Meiryo" pitchFamily="34" charset="0"/>
                <a:ea typeface="Meiryo" pitchFamily="34" charset="-122"/>
                <a:cs typeface="Meiryo" pitchFamily="34" charset="-120"/>
              </a:rPr>
              <a:t/>
            </a:r>
            <a:endParaRPr lang="en-US" sz="1100" dirty="0"/>
          </a:p>
        </p:txBody>
      </p:sp>
      <p:sp>
        <p:nvSpPr>
          <p:cNvPr id="96" name="Shape 93"/>
          <p:cNvSpPr/>
          <p:nvPr/>
        </p:nvSpPr>
        <p:spPr>
          <a:xfrm>
            <a:off x="4754880" y="3657600"/>
            <a:ext cx="4160520" cy="1280160"/>
          </a:xfrm>
          <a:prstGeom prst="roundRect">
            <a:avLst>
              <a:gd name="adj" fmla="val 7143"/>
            </a:avLst>
          </a:prstGeom>
          <a:solidFill>
            <a:srgbClr val="FFFFFF"/>
          </a:solidFill>
          <a:ln w="12700">
            <a:solidFill>
              <a:srgbClr val="E0E0E0"/>
            </a:solidFill>
            <a:prstDash val="solid"/>
          </a:ln>
          <a:effectLst>
            <a:outerShdw sx="100000" sy="100000" kx="0" ky="0" algn="bl" rotWithShape="0" blurRad="50800" dist="12700" dir="8100000">
              <a:srgbClr val="000000">
                <a:alpha val="7000"/>
              </a:srgbClr>
            </a:outerShdw>
          </a:effectLst>
        </p:spPr>
      </p:sp>
      <p:sp>
        <p:nvSpPr>
          <p:cNvPr id="97" name="Shape 94"/>
          <p:cNvSpPr/>
          <p:nvPr/>
        </p:nvSpPr>
        <p:spPr>
          <a:xfrm>
            <a:off x="4846320" y="3749040"/>
            <a:ext cx="502920" cy="502920"/>
          </a:xfrm>
          <a:prstGeom prst="ellipse">
            <a:avLst/>
          </a:prstGeom>
          <a:solidFill>
            <a:srgbClr val="FFE6F3"/>
          </a:solidFill>
          <a:ln w="12700">
            <a:solidFill>
              <a:srgbClr val="FF4DB8"/>
            </a:solidFill>
            <a:prstDash val="solid"/>
          </a:ln>
        </p:spPr>
      </p:sp>
      <p:sp>
        <p:nvSpPr>
          <p:cNvPr id="98" name="Text 95"/>
          <p:cNvSpPr/>
          <p:nvPr/>
        </p:nvSpPr>
        <p:spPr>
          <a:xfrm>
            <a:off x="4846320" y="3749040"/>
            <a:ext cx="502920" cy="502920"/>
          </a:xfrm>
          <a:prstGeom prst="rect">
            <a:avLst/>
          </a:prstGeom>
          <a:noFill/>
          <a:ln/>
        </p:spPr>
        <p:txBody>
          <a:bodyPr wrap="square" rtlCol="0" anchor="ctr"/>
          <a:lstStyle/>
          <a:p>
            <a:pPr algn="ctr" indent="0" marL="0">
              <a:buNone/>
            </a:pPr>
            <a:r>
              <a:rPr lang="en-US" sz="1600" b="1" dirty="0">
                <a:solidFill>
                  <a:srgbClr val="FF4DB8"/>
                </a:solidFill>
                <a:latin typeface="Meiryo" pitchFamily="34" charset="0"/>
                <a:ea typeface="Meiryo" pitchFamily="34" charset="-122"/>
                <a:cs typeface="Meiryo" pitchFamily="34" charset="-120"/>
              </a:rPr>
              <a:t>⚠️</a:t>
            </a:r>
            <a:endParaRPr lang="en-US" sz="1600" dirty="0"/>
          </a:p>
        </p:txBody>
      </p:sp>
      <p:sp>
        <p:nvSpPr>
          <p:cNvPr id="99" name="Shape 96"/>
          <p:cNvSpPr/>
          <p:nvPr/>
        </p:nvSpPr>
        <p:spPr>
          <a:xfrm>
            <a:off x="8321040" y="3749040"/>
            <a:ext cx="548640" cy="320040"/>
          </a:xfrm>
          <a:prstGeom prst="roundRect">
            <a:avLst>
              <a:gd name="adj" fmla="val 14286"/>
            </a:avLst>
          </a:prstGeom>
          <a:solidFill>
            <a:srgbClr val="FFE6F3"/>
          </a:solidFill>
          <a:ln w="12700">
            <a:solidFill>
              <a:srgbClr val="FF4DB8"/>
            </a:solidFill>
            <a:prstDash val="solid"/>
          </a:ln>
        </p:spPr>
      </p:sp>
      <p:sp>
        <p:nvSpPr>
          <p:cNvPr id="100" name="Text 97"/>
          <p:cNvSpPr/>
          <p:nvPr/>
        </p:nvSpPr>
        <p:spPr>
          <a:xfrm>
            <a:off x="8321040" y="3749040"/>
            <a:ext cx="548640" cy="320040"/>
          </a:xfrm>
          <a:prstGeom prst="rect">
            <a:avLst/>
          </a:prstGeom>
          <a:noFill/>
          <a:ln/>
        </p:spPr>
        <p:txBody>
          <a:bodyPr wrap="square" rtlCol="0" anchor="ctr"/>
          <a:lstStyle/>
          <a:p>
            <a:pPr algn="ctr" indent="0" marL="0">
              <a:buNone/>
            </a:pPr>
            <a:r>
              <a:rPr lang="en-US" sz="900" b="1" dirty="0">
                <a:solidFill>
                  <a:srgbClr val="FF4DB8"/>
                </a:solidFill>
                <a:latin typeface="Meiryo" pitchFamily="34" charset="0"/>
                <a:ea typeface="Meiryo" pitchFamily="34" charset="-122"/>
                <a:cs typeface="Meiryo" pitchFamily="34" charset="-120"/>
              </a:rPr>
              <a:t/>
            </a:r>
            <a:endParaRPr lang="en-US" sz="900" dirty="0"/>
          </a:p>
        </p:txBody>
      </p:sp>
      <p:sp>
        <p:nvSpPr>
          <p:cNvPr id="101" name="Text 98"/>
          <p:cNvSpPr/>
          <p:nvPr/>
        </p:nvSpPr>
        <p:spPr>
          <a:xfrm>
            <a:off x="5440680" y="3767328"/>
            <a:ext cx="2834640" cy="457200"/>
          </a:xfrm>
          <a:prstGeom prst="rect">
            <a:avLst/>
          </a:prstGeom>
          <a:noFill/>
          <a:ln/>
        </p:spPr>
        <p:txBody>
          <a:bodyPr wrap="square" rtlCol="0" anchor="ctr"/>
          <a:lstStyle/>
          <a:p>
            <a:pPr indent="0" marL="0">
              <a:buNone/>
            </a:pPr>
            <a:r>
              <a:rPr lang="en-US" sz="1400" b="1" dirty="0">
                <a:solidFill>
                  <a:srgbClr val="1A1A1A"/>
                </a:solidFill>
                <a:latin typeface="Meiryo" pitchFamily="34" charset="0"/>
                <a:ea typeface="Meiryo" pitchFamily="34" charset="-122"/>
                <a:cs typeface="Meiryo" pitchFamily="34" charset="-120"/>
              </a:rPr>
              <a:t>Goサインなしに投稿するのは厳禁！必ず確認を待ってから投稿してください</a:t>
            </a:r>
            <a:endParaRPr lang="en-US" sz="1400" dirty="0"/>
          </a:p>
        </p:txBody>
      </p:sp>
      <p:sp>
        <p:nvSpPr>
          <p:cNvPr id="102" name="Text 99"/>
          <p:cNvSpPr/>
          <p:nvPr/>
        </p:nvSpPr>
        <p:spPr>
          <a:xfrm>
            <a:off x="4846320" y="4251960"/>
            <a:ext cx="3977640" cy="640080"/>
          </a:xfrm>
          <a:prstGeom prst="rect">
            <a:avLst/>
          </a:prstGeom>
          <a:noFill/>
          <a:ln/>
        </p:spPr>
        <p:txBody>
          <a:bodyPr wrap="square" rtlCol="0" anchor="ctr"/>
          <a:lstStyle/>
          <a:p>
            <a:pPr indent="0" marL="0">
              <a:buNone/>
            </a:pPr>
            <a:r>
              <a:rPr lang="en-US" sz="1100" dirty="0">
                <a:solidFill>
                  <a:srgbClr val="555555"/>
                </a:solidFill>
                <a:latin typeface="Meiryo" pitchFamily="34" charset="0"/>
                <a:ea typeface="Meiryo" pitchFamily="34" charset="-122"/>
                <a:cs typeface="Meiryo" pitchFamily="34" charset="-120"/>
              </a:rPr>
              <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9">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73075"/>
            <a:ext cx="8321040" cy="344729"/>
          </a:xfrm>
          <a:prstGeom prst="rect">
            <a:avLst/>
          </a:prstGeom>
          <a:solidFill>
            <a:srgbClr val="FFE455"/>
          </a:solidFill>
          <a:ln w="12700">
            <a:solidFill>
              <a:srgbClr val="FFE455"/>
            </a:solidFill>
            <a:prstDash val="solid"/>
          </a:ln>
        </p:spPr>
      </p:sp>
      <p:sp>
        <p:nvSpPr>
          <p:cNvPr id="58" name="Text 56"/>
          <p:cNvSpPr/>
          <p:nvPr/>
        </p:nvSpPr>
        <p:spPr>
          <a:xfrm>
            <a:off x="457200" y="182880"/>
            <a:ext cx="8229600" cy="594360"/>
          </a:xfrm>
          <a:prstGeom prst="rect">
            <a:avLst/>
          </a:prstGeom>
          <a:noFill/>
          <a:ln/>
        </p:spPr>
        <p:txBody>
          <a:bodyPr wrap="square" rtlCol="0" anchor="ctr"/>
          <a:lstStyle/>
          <a:p>
            <a:pPr indent="0" marL="0">
              <a:buNone/>
            </a:pPr>
            <a:r>
              <a:rPr lang="en-US" sz="2600" b="1" dirty="0">
                <a:solidFill>
                  <a:srgbClr val="1A1A1A"/>
                </a:solidFill>
                <a:latin typeface="Meiryo" pitchFamily="34" charset="0"/>
                <a:ea typeface="Meiryo" pitchFamily="34" charset="-122"/>
                <a:cs typeface="Meiryo" pitchFamily="34" charset="-120"/>
              </a:rPr>
              <a:t>投稿したら「即」URLを共有！</a:t>
            </a:r>
            <a:endParaRPr lang="en-US" sz="2600" dirty="0"/>
          </a:p>
        </p:txBody>
      </p:sp>
      <p:sp>
        <p:nvSpPr>
          <p:cNvPr id="59" name="Shape 57"/>
          <p:cNvSpPr/>
          <p:nvPr/>
        </p:nvSpPr>
        <p:spPr>
          <a:xfrm>
            <a:off x="457200" y="758952"/>
            <a:ext cx="8229600" cy="36576"/>
          </a:xfrm>
          <a:prstGeom prst="rect">
            <a:avLst/>
          </a:prstGeom>
          <a:solidFill>
            <a:srgbClr val="FFB3E0"/>
          </a:solidFill>
          <a:ln w="12700">
            <a:solidFill>
              <a:srgbClr val="FFB3E0"/>
            </a:solidFill>
            <a:prstDash val="solid"/>
          </a:ln>
        </p:spPr>
      </p:sp>
      <p:sp>
        <p:nvSpPr>
          <p:cNvPr id="60" name="Shape 58"/>
          <p:cNvSpPr/>
          <p:nvPr/>
        </p:nvSpPr>
        <p:spPr>
          <a:xfrm>
            <a:off x="36576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1" name="Shape 59"/>
          <p:cNvSpPr/>
          <p:nvPr/>
        </p:nvSpPr>
        <p:spPr>
          <a:xfrm>
            <a:off x="457200" y="1143000"/>
            <a:ext cx="548640" cy="411480"/>
          </a:xfrm>
          <a:prstGeom prst="roundRect">
            <a:avLst>
              <a:gd name="adj" fmla="val 15556"/>
            </a:avLst>
          </a:prstGeom>
          <a:solidFill>
            <a:srgbClr val="E63946"/>
          </a:solidFill>
          <a:ln w="12700">
            <a:solidFill>
              <a:srgbClr val="E63946"/>
            </a:solidFill>
            <a:prstDash val="solid"/>
          </a:ln>
        </p:spPr>
      </p:sp>
      <p:sp>
        <p:nvSpPr>
          <p:cNvPr id="62" name="Text 60"/>
          <p:cNvSpPr/>
          <p:nvPr/>
        </p:nvSpPr>
        <p:spPr>
          <a:xfrm>
            <a:off x="45720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63" name="Shape 61"/>
          <p:cNvSpPr/>
          <p:nvPr/>
        </p:nvSpPr>
        <p:spPr>
          <a:xfrm>
            <a:off x="3749040" y="1143000"/>
            <a:ext cx="685800" cy="365760"/>
          </a:xfrm>
          <a:prstGeom prst="roundRect">
            <a:avLst>
              <a:gd name="adj" fmla="val 12500"/>
            </a:avLst>
          </a:prstGeom>
          <a:solidFill>
            <a:srgbClr val="FFE6F3"/>
          </a:solidFill>
          <a:ln w="12700">
            <a:solidFill>
              <a:srgbClr val="FF4DB8"/>
            </a:solidFill>
            <a:prstDash val="solid"/>
          </a:ln>
        </p:spPr>
      </p:sp>
      <p:sp>
        <p:nvSpPr>
          <p:cNvPr id="64" name="Text 62"/>
          <p:cNvSpPr/>
          <p:nvPr/>
        </p:nvSpPr>
        <p:spPr>
          <a:xfrm>
            <a:off x="374904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65" name="Text 63"/>
          <p:cNvSpPr/>
          <p:nvPr/>
        </p:nvSpPr>
        <p:spPr>
          <a:xfrm>
            <a:off x="109728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投稿＝終わりではない。URLを共有するまでが仕事！</a:t>
            </a:r>
            <a:endParaRPr lang="en-US" sz="1300" dirty="0"/>
          </a:p>
        </p:txBody>
      </p:sp>
      <p:sp>
        <p:nvSpPr>
          <p:cNvPr id="66" name="Text 64"/>
          <p:cNvSpPr/>
          <p:nvPr/>
        </p:nvSpPr>
        <p:spPr>
          <a:xfrm>
            <a:off x="45720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67" name="Shape 65"/>
          <p:cNvSpPr/>
          <p:nvPr/>
        </p:nvSpPr>
        <p:spPr>
          <a:xfrm>
            <a:off x="475488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8" name="Shape 66"/>
          <p:cNvSpPr/>
          <p:nvPr/>
        </p:nvSpPr>
        <p:spPr>
          <a:xfrm>
            <a:off x="4846320" y="1143000"/>
            <a:ext cx="548640" cy="411480"/>
          </a:xfrm>
          <a:prstGeom prst="roundRect">
            <a:avLst>
              <a:gd name="adj" fmla="val 15556"/>
            </a:avLst>
          </a:prstGeom>
          <a:solidFill>
            <a:srgbClr val="E63946"/>
          </a:solidFill>
          <a:ln w="12700">
            <a:solidFill>
              <a:srgbClr val="E63946"/>
            </a:solidFill>
            <a:prstDash val="solid"/>
          </a:ln>
        </p:spPr>
      </p:sp>
      <p:sp>
        <p:nvSpPr>
          <p:cNvPr id="69" name="Text 67"/>
          <p:cNvSpPr/>
          <p:nvPr/>
        </p:nvSpPr>
        <p:spPr>
          <a:xfrm>
            <a:off x="484632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0" name="Shape 68"/>
          <p:cNvSpPr/>
          <p:nvPr/>
        </p:nvSpPr>
        <p:spPr>
          <a:xfrm>
            <a:off x="8138160" y="1143000"/>
            <a:ext cx="685800" cy="365760"/>
          </a:xfrm>
          <a:prstGeom prst="roundRect">
            <a:avLst>
              <a:gd name="adj" fmla="val 12500"/>
            </a:avLst>
          </a:prstGeom>
          <a:solidFill>
            <a:srgbClr val="FFE6F3"/>
          </a:solidFill>
          <a:ln w="12700">
            <a:solidFill>
              <a:srgbClr val="FF4DB8"/>
            </a:solidFill>
            <a:prstDash val="solid"/>
          </a:ln>
        </p:spPr>
      </p:sp>
      <p:sp>
        <p:nvSpPr>
          <p:cNvPr id="71" name="Text 69"/>
          <p:cNvSpPr/>
          <p:nvPr/>
        </p:nvSpPr>
        <p:spPr>
          <a:xfrm>
            <a:off x="813816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2" name="Text 70"/>
          <p:cNvSpPr/>
          <p:nvPr/>
        </p:nvSpPr>
        <p:spPr>
          <a:xfrm>
            <a:off x="548640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投稿完了したら、すぐに投稿URLをTORIHADA担当者にシェア</a:t>
            </a:r>
            <a:endParaRPr lang="en-US" sz="1300" dirty="0"/>
          </a:p>
        </p:txBody>
      </p:sp>
      <p:sp>
        <p:nvSpPr>
          <p:cNvPr id="73" name="Text 71"/>
          <p:cNvSpPr/>
          <p:nvPr/>
        </p:nvSpPr>
        <p:spPr>
          <a:xfrm>
            <a:off x="484632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74" name="Shape 72"/>
          <p:cNvSpPr/>
          <p:nvPr/>
        </p:nvSpPr>
        <p:spPr>
          <a:xfrm>
            <a:off x="36576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75" name="Shape 73"/>
          <p:cNvSpPr/>
          <p:nvPr/>
        </p:nvSpPr>
        <p:spPr>
          <a:xfrm>
            <a:off x="457200" y="3017520"/>
            <a:ext cx="548640" cy="411480"/>
          </a:xfrm>
          <a:prstGeom prst="roundRect">
            <a:avLst>
              <a:gd name="adj" fmla="val 15556"/>
            </a:avLst>
          </a:prstGeom>
          <a:solidFill>
            <a:srgbClr val="E63946"/>
          </a:solidFill>
          <a:ln w="12700">
            <a:solidFill>
              <a:srgbClr val="E63946"/>
            </a:solidFill>
            <a:prstDash val="solid"/>
          </a:ln>
        </p:spPr>
      </p:sp>
      <p:sp>
        <p:nvSpPr>
          <p:cNvPr id="76" name="Text 74"/>
          <p:cNvSpPr/>
          <p:nvPr/>
        </p:nvSpPr>
        <p:spPr>
          <a:xfrm>
            <a:off x="45720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7" name="Shape 75"/>
          <p:cNvSpPr/>
          <p:nvPr/>
        </p:nvSpPr>
        <p:spPr>
          <a:xfrm>
            <a:off x="3749040" y="3017520"/>
            <a:ext cx="685800" cy="365760"/>
          </a:xfrm>
          <a:prstGeom prst="roundRect">
            <a:avLst>
              <a:gd name="adj" fmla="val 12500"/>
            </a:avLst>
          </a:prstGeom>
          <a:solidFill>
            <a:srgbClr val="FFE6F3"/>
          </a:solidFill>
          <a:ln w="12700">
            <a:solidFill>
              <a:srgbClr val="FF4DB8"/>
            </a:solidFill>
            <a:prstDash val="solid"/>
          </a:ln>
        </p:spPr>
      </p:sp>
      <p:sp>
        <p:nvSpPr>
          <p:cNvPr id="78" name="Text 76"/>
          <p:cNvSpPr/>
          <p:nvPr/>
        </p:nvSpPr>
        <p:spPr>
          <a:xfrm>
            <a:off x="374904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9" name="Text 77"/>
          <p:cNvSpPr/>
          <p:nvPr/>
        </p:nvSpPr>
        <p:spPr>
          <a:xfrm>
            <a:off x="109728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メッセージ例：「投稿しました！URL：https://...」</a:t>
            </a:r>
            <a:endParaRPr lang="en-US" sz="1300" dirty="0"/>
          </a:p>
        </p:txBody>
      </p:sp>
      <p:sp>
        <p:nvSpPr>
          <p:cNvPr id="80" name="Text 78"/>
          <p:cNvSpPr/>
          <p:nvPr/>
        </p:nvSpPr>
        <p:spPr>
          <a:xfrm>
            <a:off x="45720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81" name="Shape 79"/>
          <p:cNvSpPr/>
          <p:nvPr/>
        </p:nvSpPr>
        <p:spPr>
          <a:xfrm>
            <a:off x="475488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82" name="Shape 80"/>
          <p:cNvSpPr/>
          <p:nvPr/>
        </p:nvSpPr>
        <p:spPr>
          <a:xfrm>
            <a:off x="4846320" y="3017520"/>
            <a:ext cx="548640" cy="411480"/>
          </a:xfrm>
          <a:prstGeom prst="roundRect">
            <a:avLst>
              <a:gd name="adj" fmla="val 15556"/>
            </a:avLst>
          </a:prstGeom>
          <a:solidFill>
            <a:srgbClr val="E63946"/>
          </a:solidFill>
          <a:ln w="12700">
            <a:solidFill>
              <a:srgbClr val="E63946"/>
            </a:solidFill>
            <a:prstDash val="solid"/>
          </a:ln>
        </p:spPr>
      </p:sp>
      <p:sp>
        <p:nvSpPr>
          <p:cNvPr id="83" name="Text 81"/>
          <p:cNvSpPr/>
          <p:nvPr/>
        </p:nvSpPr>
        <p:spPr>
          <a:xfrm>
            <a:off x="484632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84" name="Shape 82"/>
          <p:cNvSpPr/>
          <p:nvPr/>
        </p:nvSpPr>
        <p:spPr>
          <a:xfrm>
            <a:off x="8138160" y="3017520"/>
            <a:ext cx="685800" cy="365760"/>
          </a:xfrm>
          <a:prstGeom prst="roundRect">
            <a:avLst>
              <a:gd name="adj" fmla="val 12500"/>
            </a:avLst>
          </a:prstGeom>
          <a:solidFill>
            <a:srgbClr val="FFE6F3"/>
          </a:solidFill>
          <a:ln w="12700">
            <a:solidFill>
              <a:srgbClr val="FF4DB8"/>
            </a:solidFill>
            <a:prstDash val="solid"/>
          </a:ln>
        </p:spPr>
      </p:sp>
      <p:sp>
        <p:nvSpPr>
          <p:cNvPr id="85" name="Text 83"/>
          <p:cNvSpPr/>
          <p:nvPr/>
        </p:nvSpPr>
        <p:spPr>
          <a:xfrm>
            <a:off x="813816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86" name="Text 84"/>
          <p:cNvSpPr/>
          <p:nvPr/>
        </p:nvSpPr>
        <p:spPr>
          <a:xfrm>
            <a:off x="548640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報告が遅れると「投稿確認ができない」「広告配信が遅れる」などの問題が発生</a:t>
            </a:r>
            <a:endParaRPr lang="en-US" sz="1300" dirty="0"/>
          </a:p>
        </p:txBody>
      </p:sp>
      <p:sp>
        <p:nvSpPr>
          <p:cNvPr id="87" name="Text 85"/>
          <p:cNvSpPr/>
          <p:nvPr/>
        </p:nvSpPr>
        <p:spPr>
          <a:xfrm>
            <a:off x="484632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「すぐに」の目安は投稿後 15 分以内。スピードが信頼につながります</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73075"/>
            <a:ext cx="8321040" cy="344729"/>
          </a:xfrm>
          <a:prstGeom prst="rect">
            <a:avLst/>
          </a:prstGeom>
          <a:solidFill>
            <a:srgbClr val="FFE455"/>
          </a:solidFill>
          <a:ln w="12700">
            <a:solidFill>
              <a:srgbClr val="FFE455"/>
            </a:solidFill>
            <a:prstDash val="solid"/>
          </a:ln>
        </p:spPr>
      </p:sp>
      <p:sp>
        <p:nvSpPr>
          <p:cNvPr id="58" name="Text 56"/>
          <p:cNvSpPr/>
          <p:nvPr/>
        </p:nvSpPr>
        <p:spPr>
          <a:xfrm>
            <a:off x="457200" y="182880"/>
            <a:ext cx="8229600" cy="594360"/>
          </a:xfrm>
          <a:prstGeom prst="rect">
            <a:avLst/>
          </a:prstGeom>
          <a:noFill/>
          <a:ln/>
        </p:spPr>
        <p:txBody>
          <a:bodyPr wrap="square" rtlCol="0" anchor="ctr"/>
          <a:lstStyle/>
          <a:p>
            <a:pPr indent="0" marL="0">
              <a:buNone/>
            </a:pPr>
            <a:r>
              <a:rPr lang="en-US" sz="2200" b="1" dirty="0">
                <a:solidFill>
                  <a:srgbClr val="1A1A1A"/>
                </a:solidFill>
                <a:latin typeface="Meiryo" pitchFamily="34" charset="0"/>
                <a:ea typeface="Meiryo" pitchFamily="34" charset="-122"/>
                <a:cs typeface="Meiryo" pitchFamily="34" charset="-120"/>
              </a:rPr>
              <a:t>二次利用がある場合の追加作業</a:t>
            </a:r>
            <a:endParaRPr lang="en-US" sz="2200" dirty="0"/>
          </a:p>
        </p:txBody>
      </p:sp>
      <p:sp>
        <p:nvSpPr>
          <p:cNvPr id="59" name="Shape 57"/>
          <p:cNvSpPr/>
          <p:nvPr/>
        </p:nvSpPr>
        <p:spPr>
          <a:xfrm>
            <a:off x="457200" y="758952"/>
            <a:ext cx="8229600" cy="36576"/>
          </a:xfrm>
          <a:prstGeom prst="rect">
            <a:avLst/>
          </a:prstGeom>
          <a:solidFill>
            <a:srgbClr val="FFB3E0"/>
          </a:solidFill>
          <a:ln w="12700">
            <a:solidFill>
              <a:srgbClr val="FFB3E0"/>
            </a:solidFill>
            <a:prstDash val="solid"/>
          </a:ln>
        </p:spPr>
      </p:sp>
      <p:sp>
        <p:nvSpPr>
          <p:cNvPr id="60" name="Shape 58"/>
          <p:cNvSpPr/>
          <p:nvPr/>
        </p:nvSpPr>
        <p:spPr>
          <a:xfrm>
            <a:off x="365760" y="960120"/>
            <a:ext cx="3840480" cy="3749040"/>
          </a:xfrm>
          <a:prstGeom prst="roundRect">
            <a:avLst>
              <a:gd name="adj" fmla="val 2439"/>
            </a:avLst>
          </a:prstGeom>
          <a:solidFill>
            <a:srgbClr val="F9F9F9"/>
          </a:solidFill>
          <a:ln w="12700">
            <a:solidFill>
              <a:srgbClr val="DDDDDD"/>
            </a:solidFill>
            <a:prstDash val="solid"/>
          </a:ln>
        </p:spPr>
      </p:sp>
      <p:sp>
        <p:nvSpPr>
          <p:cNvPr id="61" name="Shape 59"/>
          <p:cNvSpPr/>
          <p:nvPr/>
        </p:nvSpPr>
        <p:spPr>
          <a:xfrm>
            <a:off x="365760" y="960120"/>
            <a:ext cx="3840480" cy="548640"/>
          </a:xfrm>
          <a:prstGeom prst="roundRect">
            <a:avLst>
              <a:gd name="adj" fmla="val 16667"/>
            </a:avLst>
          </a:prstGeom>
          <a:solidFill>
            <a:srgbClr val="CCCCCC"/>
          </a:solidFill>
          <a:ln w="12700">
            <a:solidFill>
              <a:srgbClr val="CCCCCC"/>
            </a:solidFill>
            <a:prstDash val="solid"/>
          </a:ln>
        </p:spPr>
      </p:sp>
      <p:sp>
        <p:nvSpPr>
          <p:cNvPr id="62" name="Text 60"/>
          <p:cNvSpPr/>
          <p:nvPr/>
        </p:nvSpPr>
        <p:spPr>
          <a:xfrm>
            <a:off x="365760" y="960120"/>
            <a:ext cx="3840480" cy="548640"/>
          </a:xfrm>
          <a:prstGeom prst="rect">
            <a:avLst/>
          </a:prstGeom>
          <a:noFill/>
          <a:ln/>
        </p:spPr>
        <p:txBody>
          <a:bodyPr wrap="square"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広告コード</a:t>
            </a:r>
            <a:endParaRPr lang="en-US" sz="1700" dirty="0"/>
          </a:p>
        </p:txBody>
      </p:sp>
      <p:sp>
        <p:nvSpPr>
          <p:cNvPr id="63" name="Text 61"/>
          <p:cNvSpPr/>
          <p:nvPr/>
        </p:nvSpPr>
        <p:spPr>
          <a:xfrm>
            <a:off x="548640" y="1664208"/>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「この動画を広告配信してOK」という許可コード</a:t>
            </a:r>
            <a:endParaRPr lang="en-US" sz="1300" dirty="0"/>
          </a:p>
        </p:txBody>
      </p:sp>
      <p:sp>
        <p:nvSpPr>
          <p:cNvPr id="64" name="Text 62"/>
          <p:cNvSpPr/>
          <p:nvPr/>
        </p:nvSpPr>
        <p:spPr>
          <a:xfrm>
            <a:off x="548640" y="2322576"/>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TikTokダッシュボードから発行</a:t>
            </a:r>
            <a:endParaRPr lang="en-US" sz="1300" dirty="0"/>
          </a:p>
        </p:txBody>
      </p:sp>
      <p:sp>
        <p:nvSpPr>
          <p:cNvPr id="65" name="Text 63"/>
          <p:cNvSpPr/>
          <p:nvPr/>
        </p:nvSpPr>
        <p:spPr>
          <a:xfrm>
            <a:off x="548640" y="2980944"/>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案件に「二次利用（広告配信）」の記載がある場合に提出</a:t>
            </a:r>
            <a:endParaRPr lang="en-US" sz="1300" dirty="0"/>
          </a:p>
        </p:txBody>
      </p:sp>
      <p:sp>
        <p:nvSpPr>
          <p:cNvPr id="66" name="Text 64"/>
          <p:cNvSpPr/>
          <p:nvPr/>
        </p:nvSpPr>
        <p:spPr>
          <a:xfrm>
            <a:off x="548640" y="3639312"/>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
            </a:r>
            <a:endParaRPr lang="en-US" sz="1300" dirty="0"/>
          </a:p>
        </p:txBody>
      </p:sp>
      <p:sp>
        <p:nvSpPr>
          <p:cNvPr id="67" name="Shape 65"/>
          <p:cNvSpPr/>
          <p:nvPr/>
        </p:nvSpPr>
        <p:spPr>
          <a:xfrm>
            <a:off x="4251960" y="2286000"/>
            <a:ext cx="640080" cy="640080"/>
          </a:xfrm>
          <a:prstGeom prst="ellipse">
            <a:avLst/>
          </a:prstGeom>
          <a:solidFill>
            <a:srgbClr val="FF4DB8"/>
          </a:solidFill>
          <a:ln w="12700">
            <a:solidFill>
              <a:srgbClr val="FF4DB8"/>
            </a:solidFill>
            <a:prstDash val="solid"/>
          </a:ln>
        </p:spPr>
      </p:sp>
      <p:sp>
        <p:nvSpPr>
          <p:cNvPr id="68" name="Text 66"/>
          <p:cNvSpPr/>
          <p:nvPr/>
        </p:nvSpPr>
        <p:spPr>
          <a:xfrm>
            <a:off x="4251960" y="2313432"/>
            <a:ext cx="640080" cy="6400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VS</a:t>
            </a:r>
            <a:endParaRPr lang="en-US" sz="1300" dirty="0"/>
          </a:p>
        </p:txBody>
      </p:sp>
      <p:sp>
        <p:nvSpPr>
          <p:cNvPr id="69" name="Shape 67"/>
          <p:cNvSpPr/>
          <p:nvPr/>
        </p:nvSpPr>
        <p:spPr>
          <a:xfrm>
            <a:off x="4937760" y="960120"/>
            <a:ext cx="3840480" cy="3749040"/>
          </a:xfrm>
          <a:prstGeom prst="roundRect">
            <a:avLst>
              <a:gd name="adj" fmla="val 2439"/>
            </a:avLst>
          </a:prstGeom>
          <a:solidFill>
            <a:srgbClr val="FFF5FB"/>
          </a:solidFill>
          <a:ln w="19050">
            <a:solidFill>
              <a:srgbClr val="FF4DB8"/>
            </a:solidFill>
            <a:prstDash val="solid"/>
          </a:ln>
        </p:spPr>
      </p:sp>
      <p:sp>
        <p:nvSpPr>
          <p:cNvPr id="70" name="Shape 68"/>
          <p:cNvSpPr/>
          <p:nvPr/>
        </p:nvSpPr>
        <p:spPr>
          <a:xfrm>
            <a:off x="4937760" y="960120"/>
            <a:ext cx="3840480" cy="548640"/>
          </a:xfrm>
          <a:prstGeom prst="roundRect">
            <a:avLst>
              <a:gd name="adj" fmla="val 16667"/>
            </a:avLst>
          </a:prstGeom>
          <a:solidFill>
            <a:srgbClr val="FF4DB8"/>
          </a:solidFill>
          <a:ln w="12700">
            <a:solidFill>
              <a:srgbClr val="FF4DB8"/>
            </a:solidFill>
            <a:prstDash val="solid"/>
          </a:ln>
        </p:spPr>
      </p:sp>
      <p:sp>
        <p:nvSpPr>
          <p:cNvPr id="71" name="Text 69"/>
          <p:cNvSpPr/>
          <p:nvPr/>
        </p:nvSpPr>
        <p:spPr>
          <a:xfrm>
            <a:off x="4937760" y="960120"/>
            <a:ext cx="3840480" cy="548640"/>
          </a:xfrm>
          <a:prstGeom prst="rect">
            <a:avLst/>
          </a:prstGeom>
          <a:noFill/>
          <a:ln/>
        </p:spPr>
        <p:txBody>
          <a:bodyPr wrap="square"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完パケ動画</a:t>
            </a:r>
            <a:endParaRPr lang="en-US" sz="1700" dirty="0"/>
          </a:p>
        </p:txBody>
      </p:sp>
      <p:sp>
        <p:nvSpPr>
          <p:cNvPr id="72" name="Text 70"/>
          <p:cNvSpPr/>
          <p:nvPr/>
        </p:nvSpPr>
        <p:spPr>
          <a:xfrm>
            <a:off x="5120640" y="1664208"/>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完全パッケージ（完パケ）の略</a:t>
            </a:r>
            <a:endParaRPr lang="en-US" sz="1300" dirty="0"/>
          </a:p>
        </p:txBody>
      </p:sp>
      <p:sp>
        <p:nvSpPr>
          <p:cNvPr id="73" name="Text 71"/>
          <p:cNvSpPr/>
          <p:nvPr/>
        </p:nvSpPr>
        <p:spPr>
          <a:xfrm>
            <a:off x="5120640" y="2322576"/>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テロップ・音声・BGMがすべて入った最終完成データ</a:t>
            </a:r>
            <a:endParaRPr lang="en-US" sz="1300" dirty="0"/>
          </a:p>
        </p:txBody>
      </p:sp>
      <p:sp>
        <p:nvSpPr>
          <p:cNvPr id="74" name="Text 72"/>
          <p:cNvSpPr/>
          <p:nvPr/>
        </p:nvSpPr>
        <p:spPr>
          <a:xfrm>
            <a:off x="5120640" y="2980944"/>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案件によって提出先・方法が異なるので事前に確認</a:t>
            </a:r>
            <a:endParaRPr lang="en-US" sz="1300" dirty="0"/>
          </a:p>
        </p:txBody>
      </p:sp>
      <p:sp>
        <p:nvSpPr>
          <p:cNvPr id="75" name="Text 73"/>
          <p:cNvSpPr/>
          <p:nvPr/>
        </p:nvSpPr>
        <p:spPr>
          <a:xfrm>
            <a:off x="5120640" y="3639312"/>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
            </a:r>
            <a:endParaRPr lang="en-US" sz="1300" dirty="0"/>
          </a:p>
        </p:txBody>
      </p:sp>
      <p:pic>
        <p:nvPicPr>
          <p:cNvPr id="76" name="Image 0" descr="C:\Users\長澤開\Downloads\pptx-editor\public\illustrations\trophy-badge.svg"/>
          <p:cNvPicPr>
            <a:picLocks noChangeAspect="1"/>
          </p:cNvPicPr>
          <p:nvPr/>
        </p:nvPicPr>
        <p:blipFill>
          <a:blip r:embed="rId1">
            <a:alphaModFix amt="90000"/>
            <a:extLst>
              <a:ext uri="{96DAC541-7B7A-43D3-8B79-37D633B846F1}">
                <asvg:svgBlip xmlns:asvg="http://schemas.microsoft.com/office/drawing/2016/SVG/main" r:embed="rId2"/>
              </a:ext>
            </a:extLst>
          </a:blip>
          <a:stretch>
            <a:fillRect/>
          </a:stretch>
        </p:blipFill>
        <p:spPr>
          <a:xfrm>
            <a:off x="6492240" y="4160520"/>
            <a:ext cx="1371600" cy="9144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6">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0" y="0"/>
            <a:ext cx="9144000" cy="713232"/>
          </a:xfrm>
          <a:prstGeom prst="rect">
            <a:avLst/>
          </a:prstGeom>
          <a:solidFill>
            <a:srgbClr val="FF4DB8"/>
          </a:solidFill>
          <a:ln w="12700">
            <a:solidFill>
              <a:srgbClr val="FF4DB8"/>
            </a:solidFill>
            <a:prstDash val="solid"/>
          </a:ln>
        </p:spPr>
      </p:sp>
      <p:sp>
        <p:nvSpPr>
          <p:cNvPr id="58" name="Text 56"/>
          <p:cNvSpPr/>
          <p:nvPr/>
        </p:nvSpPr>
        <p:spPr>
          <a:xfrm>
            <a:off x="365760" y="73152"/>
            <a:ext cx="7315200" cy="566928"/>
          </a:xfrm>
          <a:prstGeom prst="rect">
            <a:avLst/>
          </a:prstGeom>
          <a:noFill/>
          <a:ln/>
        </p:spPr>
        <p:txBody>
          <a:bodyPr wrap="square"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まとめ　動画④</a:t>
            </a:r>
            <a:endParaRPr lang="en-US" sz="2200" dirty="0"/>
          </a:p>
        </p:txBody>
      </p:sp>
      <p:sp>
        <p:nvSpPr>
          <p:cNvPr id="59" name="Shape 57"/>
          <p:cNvSpPr/>
          <p:nvPr/>
        </p:nvSpPr>
        <p:spPr>
          <a:xfrm>
            <a:off x="457200" y="1005840"/>
            <a:ext cx="594360" cy="594360"/>
          </a:xfrm>
          <a:prstGeom prst="ellipse">
            <a:avLst/>
          </a:prstGeom>
          <a:solidFill>
            <a:srgbClr val="FF4DB8"/>
          </a:solidFill>
          <a:ln w="12700">
            <a:solidFill>
              <a:srgbClr val="FF4DB8"/>
            </a:solidFill>
            <a:prstDash val="solid"/>
          </a:ln>
        </p:spPr>
      </p:sp>
      <p:sp>
        <p:nvSpPr>
          <p:cNvPr id="60" name="Text 58"/>
          <p:cNvSpPr/>
          <p:nvPr/>
        </p:nvSpPr>
        <p:spPr>
          <a:xfrm>
            <a:off x="457200" y="1005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1</a:t>
            </a:r>
            <a:endParaRPr lang="en-US" sz="1800" dirty="0"/>
          </a:p>
        </p:txBody>
      </p:sp>
      <p:sp>
        <p:nvSpPr>
          <p:cNvPr id="61" name="Shape 59"/>
          <p:cNvSpPr/>
          <p:nvPr/>
        </p:nvSpPr>
        <p:spPr>
          <a:xfrm>
            <a:off x="1188720" y="914400"/>
            <a:ext cx="7498080" cy="822960"/>
          </a:xfrm>
          <a:prstGeom prst="roundRect">
            <a:avLst>
              <a:gd name="adj" fmla="val 7778"/>
            </a:avLst>
          </a:prstGeom>
          <a:solidFill>
            <a:srgbClr val="FFFFFF"/>
          </a:solidFill>
          <a:ln w="12700">
            <a:solidFill>
              <a:srgbClr val="E8C0DA"/>
            </a:solidFill>
            <a:prstDash val="solid"/>
          </a:ln>
        </p:spPr>
      </p:sp>
      <p:sp>
        <p:nvSpPr>
          <p:cNvPr id="62" name="Text 60"/>
          <p:cNvSpPr/>
          <p:nvPr/>
        </p:nvSpPr>
        <p:spPr>
          <a:xfrm>
            <a:off x="1371600" y="987552"/>
            <a:ext cx="7132320" cy="685800"/>
          </a:xfrm>
          <a:prstGeom prst="rect">
            <a:avLst/>
          </a:prstGeom>
          <a:noFill/>
          <a:ln/>
        </p:spPr>
        <p:txBody>
          <a:bodyPr wrap="square" rtlCol="0" anchor="ctr"/>
          <a:lstStyle/>
          <a:p>
            <a:pPr indent="0" marL="0">
              <a:buNone/>
            </a:pPr>
            <a:r>
              <a:rPr lang="en-US" sz="1600" dirty="0">
                <a:solidFill>
                  <a:srgbClr val="1A1A1A"/>
                </a:solidFill>
                <a:latin typeface="Meiryo" pitchFamily="34" charset="0"/>
                <a:ea typeface="Meiryo" pitchFamily="34" charset="-122"/>
                <a:cs typeface="Meiryo" pitchFamily="34" charset="-120"/>
              </a:rPr>
              <a:t>投稿前は5項目のセルフチェック（特にステマ表記とGoサイン確認）</a:t>
            </a:r>
            <a:endParaRPr lang="en-US" sz="1600" dirty="0"/>
          </a:p>
        </p:txBody>
      </p:sp>
      <p:sp>
        <p:nvSpPr>
          <p:cNvPr id="63" name="Shape 61"/>
          <p:cNvSpPr/>
          <p:nvPr/>
        </p:nvSpPr>
        <p:spPr>
          <a:xfrm>
            <a:off x="457200" y="2148840"/>
            <a:ext cx="594360" cy="594360"/>
          </a:xfrm>
          <a:prstGeom prst="ellipse">
            <a:avLst/>
          </a:prstGeom>
          <a:solidFill>
            <a:srgbClr val="FF4DB8"/>
          </a:solidFill>
          <a:ln w="12700">
            <a:solidFill>
              <a:srgbClr val="FF4DB8"/>
            </a:solidFill>
            <a:prstDash val="solid"/>
          </a:ln>
        </p:spPr>
      </p:sp>
      <p:sp>
        <p:nvSpPr>
          <p:cNvPr id="64" name="Text 62"/>
          <p:cNvSpPr/>
          <p:nvPr/>
        </p:nvSpPr>
        <p:spPr>
          <a:xfrm>
            <a:off x="457200" y="2148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2</a:t>
            </a:r>
            <a:endParaRPr lang="en-US" sz="1800" dirty="0"/>
          </a:p>
        </p:txBody>
      </p:sp>
      <p:sp>
        <p:nvSpPr>
          <p:cNvPr id="65" name="Shape 63"/>
          <p:cNvSpPr/>
          <p:nvPr/>
        </p:nvSpPr>
        <p:spPr>
          <a:xfrm>
            <a:off x="1188720" y="2057400"/>
            <a:ext cx="7498080" cy="822960"/>
          </a:xfrm>
          <a:prstGeom prst="roundRect">
            <a:avLst>
              <a:gd name="adj" fmla="val 7778"/>
            </a:avLst>
          </a:prstGeom>
          <a:solidFill>
            <a:srgbClr val="FFFFFF"/>
          </a:solidFill>
          <a:ln w="12700">
            <a:solidFill>
              <a:srgbClr val="E8C0DA"/>
            </a:solidFill>
            <a:prstDash val="solid"/>
          </a:ln>
        </p:spPr>
      </p:sp>
      <p:sp>
        <p:nvSpPr>
          <p:cNvPr id="66" name="Text 64"/>
          <p:cNvSpPr/>
          <p:nvPr/>
        </p:nvSpPr>
        <p:spPr>
          <a:xfrm>
            <a:off x="1371600" y="2130552"/>
            <a:ext cx="7132320" cy="685800"/>
          </a:xfrm>
          <a:prstGeom prst="rect">
            <a:avLst/>
          </a:prstGeom>
          <a:noFill/>
          <a:ln/>
        </p:spPr>
        <p:txBody>
          <a:bodyPr wrap="square" rtlCol="0" anchor="ctr"/>
          <a:lstStyle/>
          <a:p>
            <a:pPr indent="0" marL="0">
              <a:buNone/>
            </a:pPr>
            <a:r>
              <a:rPr lang="en-US" sz="1600" dirty="0">
                <a:solidFill>
                  <a:srgbClr val="1A1A1A"/>
                </a:solidFill>
                <a:latin typeface="Meiryo" pitchFamily="34" charset="0"/>
                <a:ea typeface="Meiryo" pitchFamily="34" charset="-122"/>
                <a:cs typeface="Meiryo" pitchFamily="34" charset="-120"/>
              </a:rPr>
              <a:t>投稿後はすぐにURLを共有する（投稿後も仕事は続く）</a:t>
            </a:r>
            <a:endParaRPr lang="en-US" sz="1600" dirty="0"/>
          </a:p>
        </p:txBody>
      </p:sp>
      <p:sp>
        <p:nvSpPr>
          <p:cNvPr id="67" name="Shape 65"/>
          <p:cNvSpPr/>
          <p:nvPr/>
        </p:nvSpPr>
        <p:spPr>
          <a:xfrm>
            <a:off x="457200" y="3291840"/>
            <a:ext cx="594360" cy="594360"/>
          </a:xfrm>
          <a:prstGeom prst="ellipse">
            <a:avLst/>
          </a:prstGeom>
          <a:solidFill>
            <a:srgbClr val="FF4DB8"/>
          </a:solidFill>
          <a:ln w="12700">
            <a:solidFill>
              <a:srgbClr val="FF4DB8"/>
            </a:solidFill>
            <a:prstDash val="solid"/>
          </a:ln>
        </p:spPr>
      </p:sp>
      <p:sp>
        <p:nvSpPr>
          <p:cNvPr id="68" name="Text 66"/>
          <p:cNvSpPr/>
          <p:nvPr/>
        </p:nvSpPr>
        <p:spPr>
          <a:xfrm>
            <a:off x="457200" y="3291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3</a:t>
            </a:r>
            <a:endParaRPr lang="en-US" sz="1800" dirty="0"/>
          </a:p>
        </p:txBody>
      </p:sp>
      <p:sp>
        <p:nvSpPr>
          <p:cNvPr id="69" name="Shape 67"/>
          <p:cNvSpPr/>
          <p:nvPr/>
        </p:nvSpPr>
        <p:spPr>
          <a:xfrm>
            <a:off x="1188720" y="3200400"/>
            <a:ext cx="7498080" cy="822960"/>
          </a:xfrm>
          <a:prstGeom prst="roundRect">
            <a:avLst>
              <a:gd name="adj" fmla="val 7778"/>
            </a:avLst>
          </a:prstGeom>
          <a:solidFill>
            <a:srgbClr val="FFFFFF"/>
          </a:solidFill>
          <a:ln w="12700">
            <a:solidFill>
              <a:srgbClr val="E8C0DA"/>
            </a:solidFill>
            <a:prstDash val="solid"/>
          </a:ln>
        </p:spPr>
      </p:sp>
      <p:sp>
        <p:nvSpPr>
          <p:cNvPr id="70" name="Text 68"/>
          <p:cNvSpPr/>
          <p:nvPr/>
        </p:nvSpPr>
        <p:spPr>
          <a:xfrm>
            <a:off x="1371600" y="3273552"/>
            <a:ext cx="7132320" cy="685800"/>
          </a:xfrm>
          <a:prstGeom prst="rect">
            <a:avLst/>
          </a:prstGeom>
          <a:noFill/>
          <a:ln/>
        </p:spPr>
        <p:txBody>
          <a:bodyPr wrap="square" rtlCol="0" anchor="ctr"/>
          <a:lstStyle/>
          <a:p>
            <a:pPr indent="0" marL="0">
              <a:buNone/>
            </a:pPr>
            <a:r>
              <a:rPr lang="en-US" sz="1600" dirty="0">
                <a:solidFill>
                  <a:srgbClr val="1A1A1A"/>
                </a:solidFill>
                <a:latin typeface="Meiryo" pitchFamily="34" charset="0"/>
                <a:ea typeface="Meiryo" pitchFamily="34" charset="-122"/>
                <a:cs typeface="Meiryo" pitchFamily="34" charset="-120"/>
              </a:rPr>
              <a:t>二次利用がある場合は広告コードと完パケ動画の対応も忘れずに</a:t>
            </a:r>
            <a:endParaRPr lang="en-US" sz="1600" dirty="0"/>
          </a:p>
        </p:txBody>
      </p:sp>
      <p:pic>
        <p:nvPicPr>
          <p:cNvPr id="71" name="Image 0" descr="C:\Users\長澤開\Downloads\pptx-editor\public\illustrations\star.png"/>
          <p:cNvPicPr>
            <a:picLocks noChangeAspect="1"/>
          </p:cNvPicPr>
          <p:nvPr/>
        </p:nvPicPr>
        <p:blipFill>
          <a:blip r:embed="rId1">
            <a:alphaModFix amt="80000"/>
          </a:blip>
          <a:stretch>
            <a:fillRect/>
          </a:stretch>
        </p:blipFill>
        <p:spPr>
          <a:xfrm>
            <a:off x="7406640" y="3200400"/>
            <a:ext cx="1280160" cy="1005840"/>
          </a:xfrm>
          <a:prstGeom prst="rect">
            <a:avLst/>
          </a:prstGeom>
        </p:spPr>
      </p:pic>
      <p:sp>
        <p:nvSpPr>
          <p:cNvPr id="72" name="Shape 69"/>
          <p:cNvSpPr/>
          <p:nvPr/>
        </p:nvSpPr>
        <p:spPr>
          <a:xfrm>
            <a:off x="365760" y="4370832"/>
            <a:ext cx="8412480" cy="548640"/>
          </a:xfrm>
          <a:prstGeom prst="roundRect">
            <a:avLst>
              <a:gd name="adj" fmla="val 11667"/>
            </a:avLst>
          </a:prstGeom>
          <a:solidFill>
            <a:srgbClr val="FFF0F5"/>
          </a:solidFill>
          <a:ln w="12700">
            <a:solidFill>
              <a:srgbClr val="FF4DB8"/>
            </a:solidFill>
            <a:prstDash val="solid"/>
          </a:ln>
        </p:spPr>
      </p:sp>
      <p:sp>
        <p:nvSpPr>
          <p:cNvPr id="73" name="Text 70"/>
          <p:cNvSpPr/>
          <p:nvPr/>
        </p:nvSpPr>
        <p:spPr>
          <a:xfrm>
            <a:off x="502920" y="4416552"/>
            <a:ext cx="8046720" cy="457200"/>
          </a:xfrm>
          <a:prstGeom prst="rect">
            <a:avLst/>
          </a:prstGeom>
          <a:noFill/>
          <a:ln/>
        </p:spPr>
        <p:txBody>
          <a:bodyPr wrap="square" rtlCol="0" anchor="ctr"/>
          <a:lstStyle/>
          <a:p>
            <a:pPr indent="0" marL="0">
              <a:buNone/>
            </a:pPr>
            <a:r>
              <a:rPr lang="en-US" sz="1400" dirty="0">
                <a:solidFill>
                  <a:srgbClr val="FF4DB8"/>
                </a:solidFill>
                <a:latin typeface="Meiryo" pitchFamily="34" charset="0"/>
                <a:ea typeface="Meiryo" pitchFamily="34" charset="-122"/>
                <a:cs typeface="Meiryo" pitchFamily="34" charset="-120"/>
              </a:rPr>
              <a:t>▶  Next  |  動画⑤：振り返り「インサイト」</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7">
    <p:bg>
      <p:bgPr>
        <a:solidFill>
          <a:srgbClr val="FF4DB8"/>
        </a:solidFill>
      </p:bgPr>
    </p:bg>
    <p:spTree>
      <p:nvGrpSpPr>
        <p:cNvPr id="1" name=""/>
        <p:cNvGrpSpPr/>
        <p:nvPr/>
      </p:nvGrpSpPr>
      <p:grpSpPr>
        <a:xfrm>
          <a:off x="0" y="0"/>
          <a:ext cx="0" cy="0"/>
          <a:chOff x="0" y="0"/>
          <a:chExt cx="0" cy="0"/>
        </a:xfrm>
      </p:grpSpPr>
      <p:sp>
        <p:nvSpPr>
          <p:cNvPr id="2" name="Text 0"/>
          <p:cNvSpPr/>
          <p:nvPr/>
        </p:nvSpPr>
        <p:spPr>
          <a:xfrm>
            <a:off x="-274320" y="91440"/>
            <a:ext cx="4114800" cy="4937760"/>
          </a:xfrm>
          <a:prstGeom prst="rect">
            <a:avLst/>
          </a:prstGeom>
          <a:noFill/>
          <a:ln/>
        </p:spPr>
        <p:txBody>
          <a:bodyPr wrap="square" lIns="0" tIns="0" rIns="0" bIns="0" rtlCol="0" anchor="ctr"/>
          <a:lstStyle/>
          <a:p>
            <a:pPr algn="l" indent="0" marL="0">
              <a:buNone/>
            </a:pPr>
            <a:r>
              <a:rPr lang="en-US" sz="30000" b="1" dirty="0">
                <a:solidFill>
                  <a:srgbClr val="FFFFFF">
                    <a:alpha val="80000"/>
                  </a:srgbClr>
                </a:solidFill>
                <a:latin typeface="Meiryo" pitchFamily="34" charset="0"/>
                <a:ea typeface="Meiryo" pitchFamily="34" charset="-122"/>
                <a:cs typeface="Meiryo" pitchFamily="34" charset="-120"/>
              </a:rPr>
              <a:t>5</a:t>
            </a:r>
            <a:endParaRPr lang="en-US" sz="30000" dirty="0"/>
          </a:p>
        </p:txBody>
      </p:sp>
      <p:pic>
        <p:nvPicPr>
          <p:cNvPr id="3" name="Image 0" descr="C:\Users\長澤開\Downloads\pptx-editor\public\illustrations\megaphone.svg"/>
          <p:cNvPicPr>
            <a:picLocks noChangeAspect="1"/>
          </p:cNvPicPr>
          <p:nvPr/>
        </p:nvPicPr>
        <p:blipFill>
          <a:blip r:embed="rId1">
            <a:alphaModFix amt="90000"/>
            <a:extLst>
              <a:ext uri="{96DAC541-7B7A-43D3-8B79-37D633B846F1}">
                <asvg:svgBlip xmlns:asvg="http://schemas.microsoft.com/office/drawing/2016/SVG/main" r:embed="rId2"/>
              </a:ext>
            </a:extLst>
          </a:blip>
          <a:stretch>
            <a:fillRect/>
          </a:stretch>
        </p:blipFill>
        <p:spPr>
          <a:xfrm>
            <a:off x="6400800" y="91440"/>
            <a:ext cx="2468880" cy="2194560"/>
          </a:xfrm>
          <a:prstGeom prst="rect">
            <a:avLst/>
          </a:prstGeom>
        </p:spPr>
      </p:pic>
      <p:pic>
        <p:nvPicPr>
          <p:cNvPr id="4" name="Image 1" descr="C:\Users\長澤開\Downloads\pptx-editor\public\illustrations\warning-person.svg"/>
          <p:cNvPicPr>
            <a:picLocks noChangeAspect="1"/>
          </p:cNvPicPr>
          <p:nvPr/>
        </p:nvPicPr>
        <p:blipFill>
          <a:blip r:embed="rId3">
            <a:alphaModFix amt="90000"/>
            <a:extLst>
              <a:ext uri="{96DAC541-7B7A-43D3-8B79-37D633B846F1}">
                <asvg:svgBlip xmlns:asvg="http://schemas.microsoft.com/office/drawing/2016/SVG/main" r:embed="rId4"/>
              </a:ext>
            </a:extLst>
          </a:blip>
          <a:stretch>
            <a:fillRect/>
          </a:stretch>
        </p:blipFill>
        <p:spPr>
          <a:xfrm>
            <a:off x="6858000" y="3108960"/>
            <a:ext cx="2011680" cy="1920240"/>
          </a:xfrm>
          <a:prstGeom prst="rect">
            <a:avLst/>
          </a:prstGeom>
        </p:spPr>
      </p:pic>
      <p:pic>
        <p:nvPicPr>
          <p:cNvPr id="5" name="Image 2" descr="C:\Users\長澤開\Downloads\pptx-editor\public\illustrations\arrow.png"/>
          <p:cNvPicPr>
            <a:picLocks noChangeAspect="1"/>
          </p:cNvPicPr>
          <p:nvPr/>
        </p:nvPicPr>
        <p:blipFill>
          <a:blip r:embed="rId5">
            <a:alphaModFix amt="70000"/>
          </a:blip>
          <a:stretch>
            <a:fillRect/>
          </a:stretch>
        </p:blipFill>
        <p:spPr>
          <a:xfrm>
            <a:off x="182880" y="3474720"/>
            <a:ext cx="1645920" cy="1554480"/>
          </a:xfrm>
          <a:prstGeom prst="rect">
            <a:avLst/>
          </a:prstGeom>
        </p:spPr>
      </p:pic>
      <p:sp>
        <p:nvSpPr>
          <p:cNvPr id="6" name="Shape 1"/>
          <p:cNvSpPr/>
          <p:nvPr/>
        </p:nvSpPr>
        <p:spPr>
          <a:xfrm>
            <a:off x="2743200" y="1371600"/>
            <a:ext cx="5760720" cy="2377440"/>
          </a:xfrm>
          <a:prstGeom prst="roundRect">
            <a:avLst>
              <a:gd name="adj" fmla="val 6923"/>
            </a:avLst>
          </a:prstGeom>
          <a:solidFill>
            <a:srgbClr val="FFFFFF"/>
          </a:solidFill>
          <a:ln w="12700">
            <a:solidFill>
              <a:srgbClr val="FFFFFF"/>
            </a:solidFill>
            <a:prstDash val="solid"/>
          </a:ln>
        </p:spPr>
      </p:sp>
      <p:sp>
        <p:nvSpPr>
          <p:cNvPr id="7" name="Text 2"/>
          <p:cNvSpPr/>
          <p:nvPr/>
        </p:nvSpPr>
        <p:spPr>
          <a:xfrm>
            <a:off x="2926080" y="1600200"/>
            <a:ext cx="5394960" cy="1005840"/>
          </a:xfrm>
          <a:prstGeom prst="rect">
            <a:avLst/>
          </a:prstGeom>
          <a:noFill/>
          <a:ln/>
        </p:spPr>
        <p:txBody>
          <a:bodyPr wrap="square" rtlCol="0" anchor="ctr"/>
          <a:lstStyle/>
          <a:p>
            <a:pPr indent="0" marL="0">
              <a:buNone/>
            </a:pPr>
            <a:r>
              <a:rPr lang="en-US" sz="3800" b="1" dirty="0">
                <a:solidFill>
                  <a:srgbClr val="1A1A1A"/>
                </a:solidFill>
                <a:latin typeface="Meiryo" pitchFamily="34" charset="0"/>
                <a:ea typeface="Meiryo" pitchFamily="34" charset="-122"/>
                <a:cs typeface="Meiryo" pitchFamily="34" charset="-120"/>
              </a:rPr>
              <a:t>動画⑤</a:t>
            </a:r>
            <a:endParaRPr lang="en-US" sz="3800" dirty="0"/>
          </a:p>
        </p:txBody>
      </p:sp>
      <p:sp>
        <p:nvSpPr>
          <p:cNvPr id="8" name="Text 3"/>
          <p:cNvSpPr/>
          <p:nvPr/>
        </p:nvSpPr>
        <p:spPr>
          <a:xfrm>
            <a:off x="2926080" y="2606040"/>
            <a:ext cx="5394960" cy="594360"/>
          </a:xfrm>
          <a:prstGeom prst="rect">
            <a:avLst/>
          </a:prstGeom>
          <a:noFill/>
          <a:ln/>
        </p:spPr>
        <p:txBody>
          <a:bodyPr wrap="square" rtlCol="0" anchor="ctr"/>
          <a:lstStyle/>
          <a:p>
            <a:pPr indent="0" marL="0">
              <a:buNone/>
            </a:pPr>
            <a:r>
              <a:rPr lang="en-US" sz="1700" dirty="0">
                <a:solidFill>
                  <a:srgbClr val="555555"/>
                </a:solidFill>
                <a:latin typeface="Meiryo" pitchFamily="34" charset="0"/>
                <a:ea typeface="Meiryo" pitchFamily="34" charset="-122"/>
                <a:cs typeface="Meiryo" pitchFamily="34" charset="-120"/>
              </a:rPr>
              <a:t>振り返り「インサイト」</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Text 55"/>
          <p:cNvSpPr/>
          <p:nvPr/>
        </p:nvSpPr>
        <p:spPr>
          <a:xfrm>
            <a:off x="457200" y="228600"/>
            <a:ext cx="8229600" cy="640080"/>
          </a:xfrm>
          <a:prstGeom prst="rect">
            <a:avLst/>
          </a:prstGeom>
          <a:noFill/>
          <a:ln/>
        </p:spPr>
        <p:txBody>
          <a:bodyPr wrap="square" rtlCol="0" anchor="ctr"/>
          <a:lstStyle/>
          <a:p>
            <a:pPr indent="0" marL="0">
              <a:buNone/>
            </a:pPr>
            <a:r>
              <a:rPr lang="en-US" sz="3200" b="1" dirty="0">
                <a:solidFill>
                  <a:srgbClr val="1A1A1A"/>
                </a:solidFill>
                <a:latin typeface="Meiryo" pitchFamily="34" charset="0"/>
                <a:ea typeface="Meiryo" pitchFamily="34" charset="-122"/>
                <a:cs typeface="Meiryo" pitchFamily="34" charset="-120"/>
              </a:rPr>
              <a:t>この動画で学ぶこと</a:t>
            </a:r>
            <a:endParaRPr lang="en-US" sz="3200" dirty="0"/>
          </a:p>
        </p:txBody>
      </p:sp>
      <p:sp>
        <p:nvSpPr>
          <p:cNvPr id="58" name="Shape 56"/>
          <p:cNvSpPr/>
          <p:nvPr/>
        </p:nvSpPr>
        <p:spPr>
          <a:xfrm>
            <a:off x="457200" y="850392"/>
            <a:ext cx="8229600" cy="36576"/>
          </a:xfrm>
          <a:prstGeom prst="rect">
            <a:avLst/>
          </a:prstGeom>
          <a:solidFill>
            <a:srgbClr val="FFB3E0"/>
          </a:solidFill>
          <a:ln w="12700">
            <a:solidFill>
              <a:srgbClr val="FFB3E0"/>
            </a:solidFill>
            <a:prstDash val="solid"/>
          </a:ln>
        </p:spPr>
      </p:sp>
      <p:sp>
        <p:nvSpPr>
          <p:cNvPr id="59" name="Shape 57"/>
          <p:cNvSpPr/>
          <p:nvPr/>
        </p:nvSpPr>
        <p:spPr>
          <a:xfrm>
            <a:off x="45720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60" name="Image 0" descr="C:\Users\長澤開\Downloads\pptx-editor\public\illustrations\handshake.png"/>
          <p:cNvPicPr>
            <a:picLocks noChangeAspect="1"/>
          </p:cNvPicPr>
          <p:nvPr/>
        </p:nvPicPr>
        <p:blipFill>
          <a:blip r:embed="rId1"/>
          <a:stretch>
            <a:fillRect/>
          </a:stretch>
        </p:blipFill>
        <p:spPr>
          <a:xfrm>
            <a:off x="868680" y="1051560"/>
            <a:ext cx="1828800" cy="1417320"/>
          </a:xfrm>
          <a:prstGeom prst="rect">
            <a:avLst/>
          </a:prstGeom>
        </p:spPr>
      </p:pic>
      <p:sp>
        <p:nvSpPr>
          <p:cNvPr id="61" name="Shape 58"/>
          <p:cNvSpPr/>
          <p:nvPr/>
        </p:nvSpPr>
        <p:spPr>
          <a:xfrm>
            <a:off x="566928" y="2578608"/>
            <a:ext cx="548640" cy="548640"/>
          </a:xfrm>
          <a:prstGeom prst="ellipse">
            <a:avLst/>
          </a:prstGeom>
          <a:solidFill>
            <a:srgbClr val="FF4DB8"/>
          </a:solidFill>
          <a:ln w="12700">
            <a:solidFill>
              <a:srgbClr val="FF4DB8"/>
            </a:solidFill>
            <a:prstDash val="solid"/>
          </a:ln>
        </p:spPr>
      </p:sp>
      <p:sp>
        <p:nvSpPr>
          <p:cNvPr id="62" name="Text 59"/>
          <p:cNvSpPr/>
          <p:nvPr/>
        </p:nvSpPr>
        <p:spPr>
          <a:xfrm>
            <a:off x="56692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01</a:t>
            </a:r>
            <a:endParaRPr lang="en-US" sz="1800" dirty="0"/>
          </a:p>
        </p:txBody>
      </p:sp>
      <p:sp>
        <p:nvSpPr>
          <p:cNvPr id="63" name="Text 60"/>
          <p:cNvSpPr/>
          <p:nvPr/>
        </p:nvSpPr>
        <p:spPr>
          <a:xfrm>
            <a:off x="59436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インサイトとは何か</a:t>
            </a:r>
            <a:endParaRPr lang="en-US" sz="1500" dirty="0"/>
          </a:p>
        </p:txBody>
      </p:sp>
      <p:sp>
        <p:nvSpPr>
          <p:cNvPr id="64" name="Text 61"/>
          <p:cNvSpPr/>
          <p:nvPr/>
        </p:nvSpPr>
        <p:spPr>
          <a:xfrm>
            <a:off x="59436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動画の「成績表」を</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読む力をつける</a:t>
            </a:r>
            <a:endParaRPr lang="en-US" sz="1200" dirty="0"/>
          </a:p>
        </p:txBody>
      </p:sp>
      <p:sp>
        <p:nvSpPr>
          <p:cNvPr id="65" name="Shape 62"/>
          <p:cNvSpPr/>
          <p:nvPr/>
        </p:nvSpPr>
        <p:spPr>
          <a:xfrm>
            <a:off x="329184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66" name="Image 1" descr="C:\Users\長澤開\Downloads\pptx-editor\public\illustrations\star.png"/>
          <p:cNvPicPr>
            <a:picLocks noChangeAspect="1"/>
          </p:cNvPicPr>
          <p:nvPr/>
        </p:nvPicPr>
        <p:blipFill>
          <a:blip r:embed="rId2"/>
          <a:stretch>
            <a:fillRect/>
          </a:stretch>
        </p:blipFill>
        <p:spPr>
          <a:xfrm>
            <a:off x="3703320" y="1051560"/>
            <a:ext cx="1828800" cy="1417320"/>
          </a:xfrm>
          <a:prstGeom prst="rect">
            <a:avLst/>
          </a:prstGeom>
        </p:spPr>
      </p:pic>
      <p:sp>
        <p:nvSpPr>
          <p:cNvPr id="67" name="Shape 63"/>
          <p:cNvSpPr/>
          <p:nvPr/>
        </p:nvSpPr>
        <p:spPr>
          <a:xfrm>
            <a:off x="3401568" y="2578608"/>
            <a:ext cx="548640" cy="548640"/>
          </a:xfrm>
          <a:prstGeom prst="ellipse">
            <a:avLst/>
          </a:prstGeom>
          <a:solidFill>
            <a:srgbClr val="FF4DB8"/>
          </a:solidFill>
          <a:ln w="12700">
            <a:solidFill>
              <a:srgbClr val="FF4DB8"/>
            </a:solidFill>
            <a:prstDash val="solid"/>
          </a:ln>
        </p:spPr>
      </p:sp>
      <p:sp>
        <p:nvSpPr>
          <p:cNvPr id="68" name="Text 64"/>
          <p:cNvSpPr/>
          <p:nvPr/>
        </p:nvSpPr>
        <p:spPr>
          <a:xfrm>
            <a:off x="340156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02</a:t>
            </a:r>
            <a:endParaRPr lang="en-US" sz="1800" dirty="0"/>
          </a:p>
        </p:txBody>
      </p:sp>
      <p:sp>
        <p:nvSpPr>
          <p:cNvPr id="69" name="Text 65"/>
          <p:cNvSpPr/>
          <p:nvPr/>
        </p:nvSpPr>
        <p:spPr>
          <a:xfrm>
            <a:off x="342900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なぜ提出が必要か</a:t>
            </a:r>
            <a:endParaRPr lang="en-US" sz="1500" dirty="0"/>
          </a:p>
        </p:txBody>
      </p:sp>
      <p:sp>
        <p:nvSpPr>
          <p:cNvPr id="70" name="Text 66"/>
          <p:cNvSpPr/>
          <p:nvPr/>
        </p:nvSpPr>
        <p:spPr>
          <a:xfrm>
            <a:off x="342900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クライアントへの効果報告と</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次案件への活用</a:t>
            </a:r>
            <a:endParaRPr lang="en-US" sz="1200" dirty="0"/>
          </a:p>
        </p:txBody>
      </p:sp>
      <p:sp>
        <p:nvSpPr>
          <p:cNvPr id="71" name="Shape 67"/>
          <p:cNvSpPr/>
          <p:nvPr/>
        </p:nvSpPr>
        <p:spPr>
          <a:xfrm>
            <a:off x="612648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72" name="Image 2" descr="C:\Users\長澤開\Downloads\pptx-editor\public\illustrations\lightbulb.png"/>
          <p:cNvPicPr>
            <a:picLocks noChangeAspect="1"/>
          </p:cNvPicPr>
          <p:nvPr/>
        </p:nvPicPr>
        <p:blipFill>
          <a:blip r:embed="rId3"/>
          <a:stretch>
            <a:fillRect/>
          </a:stretch>
        </p:blipFill>
        <p:spPr>
          <a:xfrm>
            <a:off x="6537960" y="1051560"/>
            <a:ext cx="1828800" cy="1417320"/>
          </a:xfrm>
          <a:prstGeom prst="rect">
            <a:avLst/>
          </a:prstGeom>
        </p:spPr>
      </p:pic>
      <p:sp>
        <p:nvSpPr>
          <p:cNvPr id="73" name="Shape 68"/>
          <p:cNvSpPr/>
          <p:nvPr/>
        </p:nvSpPr>
        <p:spPr>
          <a:xfrm>
            <a:off x="6236208" y="2578608"/>
            <a:ext cx="548640" cy="548640"/>
          </a:xfrm>
          <a:prstGeom prst="ellipse">
            <a:avLst/>
          </a:prstGeom>
          <a:solidFill>
            <a:srgbClr val="FF4DB8"/>
          </a:solidFill>
          <a:ln w="12700">
            <a:solidFill>
              <a:srgbClr val="FF4DB8"/>
            </a:solidFill>
            <a:prstDash val="solid"/>
          </a:ln>
        </p:spPr>
      </p:sp>
      <p:sp>
        <p:nvSpPr>
          <p:cNvPr id="74" name="Text 69"/>
          <p:cNvSpPr/>
          <p:nvPr/>
        </p:nvSpPr>
        <p:spPr>
          <a:xfrm>
            <a:off x="623620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03</a:t>
            </a:r>
            <a:endParaRPr lang="en-US" sz="1800" dirty="0"/>
          </a:p>
        </p:txBody>
      </p:sp>
      <p:sp>
        <p:nvSpPr>
          <p:cNvPr id="75" name="Text 70"/>
          <p:cNvSpPr/>
          <p:nvPr/>
        </p:nvSpPr>
        <p:spPr>
          <a:xfrm>
            <a:off x="626364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TikTok・Instagram提出方法</a:t>
            </a:r>
            <a:endParaRPr lang="en-US" sz="1500" dirty="0"/>
          </a:p>
        </p:txBody>
      </p:sp>
      <p:sp>
        <p:nvSpPr>
          <p:cNvPr id="76" name="Text 71"/>
          <p:cNvSpPr/>
          <p:nvPr/>
        </p:nvSpPr>
        <p:spPr>
          <a:xfrm>
            <a:off x="626364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どの画面をスクショするか</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具体的に学ぶ</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9">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73075"/>
            <a:ext cx="8321040" cy="344729"/>
          </a:xfrm>
          <a:prstGeom prst="rect">
            <a:avLst/>
          </a:prstGeom>
          <a:solidFill>
            <a:srgbClr val="FFE455"/>
          </a:solidFill>
          <a:ln w="12700">
            <a:solidFill>
              <a:srgbClr val="FFE455"/>
            </a:solidFill>
            <a:prstDash val="solid"/>
          </a:ln>
        </p:spPr>
      </p:sp>
      <p:sp>
        <p:nvSpPr>
          <p:cNvPr id="58" name="Text 56"/>
          <p:cNvSpPr/>
          <p:nvPr/>
        </p:nvSpPr>
        <p:spPr>
          <a:xfrm>
            <a:off x="457200" y="182880"/>
            <a:ext cx="8229600" cy="594360"/>
          </a:xfrm>
          <a:prstGeom prst="rect">
            <a:avLst/>
          </a:prstGeom>
          <a:noFill/>
          <a:ln/>
        </p:spPr>
        <p:txBody>
          <a:bodyPr wrap="square" rtlCol="0" anchor="ctr"/>
          <a:lstStyle/>
          <a:p>
            <a:pPr indent="0" marL="0">
              <a:buNone/>
            </a:pPr>
            <a:r>
              <a:rPr lang="en-US" sz="2600" b="1" dirty="0">
                <a:solidFill>
                  <a:srgbClr val="1A1A1A"/>
                </a:solidFill>
                <a:latin typeface="Meiryo" pitchFamily="34" charset="0"/>
                <a:ea typeface="Meiryo" pitchFamily="34" charset="-122"/>
                <a:cs typeface="Meiryo" pitchFamily="34" charset="-120"/>
              </a:rPr>
              <a:t>インサイト＝動画の「成績表」</a:t>
            </a:r>
            <a:endParaRPr lang="en-US" sz="2600" dirty="0"/>
          </a:p>
        </p:txBody>
      </p:sp>
      <p:sp>
        <p:nvSpPr>
          <p:cNvPr id="59" name="Shape 57"/>
          <p:cNvSpPr/>
          <p:nvPr/>
        </p:nvSpPr>
        <p:spPr>
          <a:xfrm>
            <a:off x="457200" y="758952"/>
            <a:ext cx="8229600" cy="36576"/>
          </a:xfrm>
          <a:prstGeom prst="rect">
            <a:avLst/>
          </a:prstGeom>
          <a:solidFill>
            <a:srgbClr val="FFB3E0"/>
          </a:solidFill>
          <a:ln w="12700">
            <a:solidFill>
              <a:srgbClr val="FFB3E0"/>
            </a:solidFill>
            <a:prstDash val="solid"/>
          </a:ln>
        </p:spPr>
      </p:sp>
      <p:sp>
        <p:nvSpPr>
          <p:cNvPr id="60" name="Shape 58"/>
          <p:cNvSpPr/>
          <p:nvPr/>
        </p:nvSpPr>
        <p:spPr>
          <a:xfrm>
            <a:off x="36576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1" name="Shape 59"/>
          <p:cNvSpPr/>
          <p:nvPr/>
        </p:nvSpPr>
        <p:spPr>
          <a:xfrm>
            <a:off x="457200" y="1143000"/>
            <a:ext cx="548640" cy="411480"/>
          </a:xfrm>
          <a:prstGeom prst="roundRect">
            <a:avLst>
              <a:gd name="adj" fmla="val 15556"/>
            </a:avLst>
          </a:prstGeom>
          <a:solidFill>
            <a:srgbClr val="E63946"/>
          </a:solidFill>
          <a:ln w="12700">
            <a:solidFill>
              <a:srgbClr val="E63946"/>
            </a:solidFill>
            <a:prstDash val="solid"/>
          </a:ln>
        </p:spPr>
      </p:sp>
      <p:sp>
        <p:nvSpPr>
          <p:cNvPr id="62" name="Text 60"/>
          <p:cNvSpPr/>
          <p:nvPr/>
        </p:nvSpPr>
        <p:spPr>
          <a:xfrm>
            <a:off x="45720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63" name="Shape 61"/>
          <p:cNvSpPr/>
          <p:nvPr/>
        </p:nvSpPr>
        <p:spPr>
          <a:xfrm>
            <a:off x="3749040" y="1143000"/>
            <a:ext cx="685800" cy="365760"/>
          </a:xfrm>
          <a:prstGeom prst="roundRect">
            <a:avLst>
              <a:gd name="adj" fmla="val 12500"/>
            </a:avLst>
          </a:prstGeom>
          <a:solidFill>
            <a:srgbClr val="FFE6F3"/>
          </a:solidFill>
          <a:ln w="12700">
            <a:solidFill>
              <a:srgbClr val="FF4DB8"/>
            </a:solidFill>
            <a:prstDash val="solid"/>
          </a:ln>
        </p:spPr>
      </p:sp>
      <p:sp>
        <p:nvSpPr>
          <p:cNvPr id="64" name="Text 62"/>
          <p:cNvSpPr/>
          <p:nvPr/>
        </p:nvSpPr>
        <p:spPr>
          <a:xfrm>
            <a:off x="374904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65" name="Text 63"/>
          <p:cNvSpPr/>
          <p:nvPr/>
        </p:nvSpPr>
        <p:spPr>
          <a:xfrm>
            <a:off x="109728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動画の再生数・いいね数・保存数・視聴完了率など、投稿のパフォーマンスを示すデータ</a:t>
            </a:r>
            <a:endParaRPr lang="en-US" sz="1300" dirty="0"/>
          </a:p>
        </p:txBody>
      </p:sp>
      <p:sp>
        <p:nvSpPr>
          <p:cNvPr id="66" name="Text 64"/>
          <p:cNvSpPr/>
          <p:nvPr/>
        </p:nvSpPr>
        <p:spPr>
          <a:xfrm>
            <a:off x="45720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67" name="Shape 65"/>
          <p:cNvSpPr/>
          <p:nvPr/>
        </p:nvSpPr>
        <p:spPr>
          <a:xfrm>
            <a:off x="475488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8" name="Shape 66"/>
          <p:cNvSpPr/>
          <p:nvPr/>
        </p:nvSpPr>
        <p:spPr>
          <a:xfrm>
            <a:off x="4846320" y="1143000"/>
            <a:ext cx="548640" cy="411480"/>
          </a:xfrm>
          <a:prstGeom prst="roundRect">
            <a:avLst>
              <a:gd name="adj" fmla="val 15556"/>
            </a:avLst>
          </a:prstGeom>
          <a:solidFill>
            <a:srgbClr val="E63946"/>
          </a:solidFill>
          <a:ln w="12700">
            <a:solidFill>
              <a:srgbClr val="E63946"/>
            </a:solidFill>
            <a:prstDash val="solid"/>
          </a:ln>
        </p:spPr>
      </p:sp>
      <p:sp>
        <p:nvSpPr>
          <p:cNvPr id="69" name="Text 67"/>
          <p:cNvSpPr/>
          <p:nvPr/>
        </p:nvSpPr>
        <p:spPr>
          <a:xfrm>
            <a:off x="484632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0" name="Shape 68"/>
          <p:cNvSpPr/>
          <p:nvPr/>
        </p:nvSpPr>
        <p:spPr>
          <a:xfrm>
            <a:off x="8138160" y="1143000"/>
            <a:ext cx="685800" cy="365760"/>
          </a:xfrm>
          <a:prstGeom prst="roundRect">
            <a:avLst>
              <a:gd name="adj" fmla="val 12500"/>
            </a:avLst>
          </a:prstGeom>
          <a:solidFill>
            <a:srgbClr val="FFE6F3"/>
          </a:solidFill>
          <a:ln w="12700">
            <a:solidFill>
              <a:srgbClr val="FF4DB8"/>
            </a:solidFill>
            <a:prstDash val="solid"/>
          </a:ln>
        </p:spPr>
      </p:sp>
      <p:sp>
        <p:nvSpPr>
          <p:cNvPr id="71" name="Text 69"/>
          <p:cNvSpPr/>
          <p:nvPr/>
        </p:nvSpPr>
        <p:spPr>
          <a:xfrm>
            <a:off x="813816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2" name="Text 70"/>
          <p:cNvSpPr/>
          <p:nvPr/>
        </p:nvSpPr>
        <p:spPr>
          <a:xfrm>
            <a:off x="548640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何人が最後まで見たか（視聴完了率）・どこで離脱したか</a:t>
            </a:r>
            <a:endParaRPr lang="en-US" sz="1300" dirty="0"/>
          </a:p>
        </p:txBody>
      </p:sp>
      <p:sp>
        <p:nvSpPr>
          <p:cNvPr id="73" name="Text 71"/>
          <p:cNvSpPr/>
          <p:nvPr/>
        </p:nvSpPr>
        <p:spPr>
          <a:xfrm>
            <a:off x="484632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74" name="Shape 72"/>
          <p:cNvSpPr/>
          <p:nvPr/>
        </p:nvSpPr>
        <p:spPr>
          <a:xfrm>
            <a:off x="36576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75" name="Shape 73"/>
          <p:cNvSpPr/>
          <p:nvPr/>
        </p:nvSpPr>
        <p:spPr>
          <a:xfrm>
            <a:off x="457200" y="3017520"/>
            <a:ext cx="548640" cy="411480"/>
          </a:xfrm>
          <a:prstGeom prst="roundRect">
            <a:avLst>
              <a:gd name="adj" fmla="val 15556"/>
            </a:avLst>
          </a:prstGeom>
          <a:solidFill>
            <a:srgbClr val="E63946"/>
          </a:solidFill>
          <a:ln w="12700">
            <a:solidFill>
              <a:srgbClr val="E63946"/>
            </a:solidFill>
            <a:prstDash val="solid"/>
          </a:ln>
        </p:spPr>
      </p:sp>
      <p:sp>
        <p:nvSpPr>
          <p:cNvPr id="76" name="Text 74"/>
          <p:cNvSpPr/>
          <p:nvPr/>
        </p:nvSpPr>
        <p:spPr>
          <a:xfrm>
            <a:off x="45720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7" name="Shape 75"/>
          <p:cNvSpPr/>
          <p:nvPr/>
        </p:nvSpPr>
        <p:spPr>
          <a:xfrm>
            <a:off x="3749040" y="3017520"/>
            <a:ext cx="685800" cy="365760"/>
          </a:xfrm>
          <a:prstGeom prst="roundRect">
            <a:avLst>
              <a:gd name="adj" fmla="val 12500"/>
            </a:avLst>
          </a:prstGeom>
          <a:solidFill>
            <a:srgbClr val="FFE6F3"/>
          </a:solidFill>
          <a:ln w="12700">
            <a:solidFill>
              <a:srgbClr val="FF4DB8"/>
            </a:solidFill>
            <a:prstDash val="solid"/>
          </a:ln>
        </p:spPr>
      </p:sp>
      <p:sp>
        <p:nvSpPr>
          <p:cNvPr id="78" name="Text 76"/>
          <p:cNvSpPr/>
          <p:nvPr/>
        </p:nvSpPr>
        <p:spPr>
          <a:xfrm>
            <a:off x="374904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9" name="Text 77"/>
          <p:cNvSpPr/>
          <p:nvPr/>
        </p:nvSpPr>
        <p:spPr>
          <a:xfrm>
            <a:off x="109728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どんな属性の人が見たか（性別・年齢・地域）</a:t>
            </a:r>
            <a:endParaRPr lang="en-US" sz="1300" dirty="0"/>
          </a:p>
        </p:txBody>
      </p:sp>
      <p:sp>
        <p:nvSpPr>
          <p:cNvPr id="80" name="Text 78"/>
          <p:cNvSpPr/>
          <p:nvPr/>
        </p:nvSpPr>
        <p:spPr>
          <a:xfrm>
            <a:off x="45720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81" name="Shape 79"/>
          <p:cNvSpPr/>
          <p:nvPr/>
        </p:nvSpPr>
        <p:spPr>
          <a:xfrm>
            <a:off x="475488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82" name="Shape 80"/>
          <p:cNvSpPr/>
          <p:nvPr/>
        </p:nvSpPr>
        <p:spPr>
          <a:xfrm>
            <a:off x="4846320" y="3017520"/>
            <a:ext cx="548640" cy="411480"/>
          </a:xfrm>
          <a:prstGeom prst="roundRect">
            <a:avLst>
              <a:gd name="adj" fmla="val 15556"/>
            </a:avLst>
          </a:prstGeom>
          <a:solidFill>
            <a:srgbClr val="E63946"/>
          </a:solidFill>
          <a:ln w="12700">
            <a:solidFill>
              <a:srgbClr val="E63946"/>
            </a:solidFill>
            <a:prstDash val="solid"/>
          </a:ln>
        </p:spPr>
      </p:sp>
      <p:sp>
        <p:nvSpPr>
          <p:cNvPr id="83" name="Text 81"/>
          <p:cNvSpPr/>
          <p:nvPr/>
        </p:nvSpPr>
        <p:spPr>
          <a:xfrm>
            <a:off x="484632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84" name="Shape 82"/>
          <p:cNvSpPr/>
          <p:nvPr/>
        </p:nvSpPr>
        <p:spPr>
          <a:xfrm>
            <a:off x="8138160" y="3017520"/>
            <a:ext cx="685800" cy="365760"/>
          </a:xfrm>
          <a:prstGeom prst="roundRect">
            <a:avLst>
              <a:gd name="adj" fmla="val 12500"/>
            </a:avLst>
          </a:prstGeom>
          <a:solidFill>
            <a:srgbClr val="FFE6F3"/>
          </a:solidFill>
          <a:ln w="12700">
            <a:solidFill>
              <a:srgbClr val="FF4DB8"/>
            </a:solidFill>
            <a:prstDash val="solid"/>
          </a:ln>
        </p:spPr>
      </p:sp>
      <p:sp>
        <p:nvSpPr>
          <p:cNvPr id="85" name="Text 83"/>
          <p:cNvSpPr/>
          <p:nvPr/>
        </p:nvSpPr>
        <p:spPr>
          <a:xfrm>
            <a:off x="813816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86" name="Text 84"/>
          <p:cNvSpPr/>
          <p:nvPr/>
        </p:nvSpPr>
        <p:spPr>
          <a:xfrm>
            <a:off x="548640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どこから流入したか（フォロワー・おすすめ・ハッシュタグ）</a:t>
            </a:r>
            <a:endParaRPr lang="en-US" sz="1300" dirty="0"/>
          </a:p>
        </p:txBody>
      </p:sp>
      <p:sp>
        <p:nvSpPr>
          <p:cNvPr id="87" name="Text 85"/>
          <p:cNvSpPr/>
          <p:nvPr/>
        </p:nvSpPr>
        <p:spPr>
          <a:xfrm>
            <a:off x="484632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インサイト（Insight）＝「洞察」。SNSではパフォーマンスデータのことを指します</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5">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0" y="0"/>
            <a:ext cx="9144000" cy="914400"/>
          </a:xfrm>
          <a:prstGeom prst="rect">
            <a:avLst/>
          </a:prstGeom>
          <a:solidFill>
            <a:srgbClr val="FF4DB8"/>
          </a:solidFill>
          <a:ln w="12700">
            <a:solidFill>
              <a:srgbClr val="FF4DB8"/>
            </a:solidFill>
            <a:prstDash val="solid"/>
          </a:ln>
        </p:spPr>
      </p:sp>
      <p:sp>
        <p:nvSpPr>
          <p:cNvPr id="58" name="Shape 56"/>
          <p:cNvSpPr/>
          <p:nvPr/>
        </p:nvSpPr>
        <p:spPr>
          <a:xfrm>
            <a:off x="320040" y="235915"/>
            <a:ext cx="6035040" cy="344729"/>
          </a:xfrm>
          <a:prstGeom prst="rect">
            <a:avLst/>
          </a:prstGeom>
          <a:solidFill>
            <a:srgbClr val="FFE455"/>
          </a:solidFill>
          <a:ln w="12700">
            <a:solidFill>
              <a:srgbClr val="FFE455"/>
            </a:solidFill>
            <a:prstDash val="solid"/>
          </a:ln>
        </p:spPr>
      </p:sp>
      <p:sp>
        <p:nvSpPr>
          <p:cNvPr id="59" name="Text 57"/>
          <p:cNvSpPr/>
          <p:nvPr/>
        </p:nvSpPr>
        <p:spPr>
          <a:xfrm>
            <a:off x="365760" y="45720"/>
            <a:ext cx="5943600" cy="594360"/>
          </a:xfrm>
          <a:prstGeom prst="rect">
            <a:avLst/>
          </a:prstGeom>
          <a:noFill/>
          <a:ln/>
        </p:spPr>
        <p:txBody>
          <a:bodyPr wrap="square"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インサイトを提出する3つの理由</a:t>
            </a:r>
            <a:endParaRPr lang="en-US" sz="3000" dirty="0"/>
          </a:p>
        </p:txBody>
      </p:sp>
      <p:sp>
        <p:nvSpPr>
          <p:cNvPr id="60" name="Text 58"/>
          <p:cNvSpPr/>
          <p:nvPr/>
        </p:nvSpPr>
        <p:spPr>
          <a:xfrm>
            <a:off x="365760" y="621792"/>
            <a:ext cx="8229600" cy="256032"/>
          </a:xfrm>
          <a:prstGeom prst="rect">
            <a:avLst/>
          </a:prstGeom>
          <a:noFill/>
          <a:ln/>
        </p:spPr>
        <p:txBody>
          <a:bodyPr wrap="square" rtlCol="0" anchor="ctr"/>
          <a:lstStyle/>
          <a:p>
            <a:pPr indent="0" marL="0">
              <a:buNone/>
            </a:pPr>
            <a:r>
              <a:rPr lang="en-US" sz="1200" i="1" dirty="0">
                <a:solidFill>
                  <a:srgbClr val="FFFFFF"/>
                </a:solidFill>
                <a:latin typeface="Meiryo" pitchFamily="34" charset="0"/>
                <a:ea typeface="Meiryo" pitchFamily="34" charset="-122"/>
                <a:cs typeface="Meiryo" pitchFamily="34" charset="-120"/>
              </a:rPr>
              <a:t>インサイトを提出することが大切な理由</a:t>
            </a:r>
            <a:endParaRPr lang="en-US" sz="1200" dirty="0"/>
          </a:p>
        </p:txBody>
      </p:sp>
      <p:sp>
        <p:nvSpPr>
          <p:cNvPr id="61" name="Shape 59"/>
          <p:cNvSpPr/>
          <p:nvPr/>
        </p:nvSpPr>
        <p:spPr>
          <a:xfrm>
            <a:off x="0" y="3017520"/>
            <a:ext cx="9144000" cy="0"/>
          </a:xfrm>
          <a:prstGeom prst="line">
            <a:avLst/>
          </a:prstGeom>
          <a:noFill/>
          <a:ln w="25400">
            <a:solidFill>
              <a:srgbClr val="1A1A1A"/>
            </a:solidFill>
            <a:prstDash val="solid"/>
          </a:ln>
        </p:spPr>
      </p:sp>
      <p:sp>
        <p:nvSpPr>
          <p:cNvPr id="62" name="Shape 60"/>
          <p:cNvSpPr/>
          <p:nvPr/>
        </p:nvSpPr>
        <p:spPr>
          <a:xfrm>
            <a:off x="4572000" y="914400"/>
            <a:ext cx="0" cy="4229100"/>
          </a:xfrm>
          <a:prstGeom prst="line">
            <a:avLst/>
          </a:prstGeom>
          <a:noFill/>
          <a:ln w="25400">
            <a:solidFill>
              <a:srgbClr val="1A1A1A"/>
            </a:solidFill>
            <a:prstDash val="solid"/>
          </a:ln>
        </p:spPr>
      </p:sp>
      <p:pic>
        <p:nvPicPr>
          <p:cNvPr id="63" name="Image 0" descr="C:\Users\長澤開\Downloads\pptx-editor\public\illustrations\calendar.png"/>
          <p:cNvPicPr>
            <a:picLocks noChangeAspect="1"/>
          </p:cNvPicPr>
          <p:nvPr/>
        </p:nvPicPr>
        <p:blipFill>
          <a:blip r:embed="rId1"/>
          <a:stretch>
            <a:fillRect/>
          </a:stretch>
        </p:blipFill>
        <p:spPr>
          <a:xfrm>
            <a:off x="594360" y="1051560"/>
            <a:ext cx="1508760" cy="1508760"/>
          </a:xfrm>
          <a:prstGeom prst="rect">
            <a:avLst/>
          </a:prstGeom>
        </p:spPr>
      </p:pic>
      <p:sp>
        <p:nvSpPr>
          <p:cNvPr id="64" name="Text 61"/>
          <p:cNvSpPr/>
          <p:nvPr/>
        </p:nvSpPr>
        <p:spPr>
          <a:xfrm>
            <a:off x="2194560" y="1325880"/>
            <a:ext cx="2286000" cy="50292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①</a:t>
            </a:r>
            <a:endParaRPr lang="en-US" sz="1500" dirty="0"/>
          </a:p>
        </p:txBody>
      </p:sp>
      <p:sp>
        <p:nvSpPr>
          <p:cNvPr id="65" name="Text 62"/>
          <p:cNvSpPr/>
          <p:nvPr/>
        </p:nvSpPr>
        <p:spPr>
          <a:xfrm>
            <a:off x="2194560" y="1847088"/>
            <a:ext cx="2286000" cy="822960"/>
          </a:xfrm>
          <a:prstGeom prst="rect">
            <a:avLst/>
          </a:prstGeom>
          <a:noFill/>
          <a:ln/>
        </p:spPr>
        <p:txBody>
          <a:bodyPr wrap="square" rtlCol="0" anchor="ctr"/>
          <a:lstStyle/>
          <a:p>
            <a:pPr indent="0" marL="0">
              <a:buNone/>
            </a:pPr>
            <a:r>
              <a:rPr lang="en-US" sz="1100" dirty="0">
                <a:solidFill>
                  <a:srgbClr val="555555"/>
                </a:solidFill>
                <a:latin typeface="Meiryo" pitchFamily="34" charset="0"/>
                <a:ea typeface="Meiryo" pitchFamily="34" charset="-122"/>
                <a:cs typeface="Meiryo" pitchFamily="34" charset="-120"/>
              </a:rPr>
              <a:t>クライアントへの「効果報告」として必要（広告費に見合う効果があったか）</a:t>
            </a:r>
            <a:endParaRPr lang="en-US" sz="1100" dirty="0"/>
          </a:p>
          <a:p>
            <a:pPr indent="0" marL="0">
              <a:buNone/>
            </a:pPr>
            <a:r>
              <a:rPr lang="en-US" sz="1100" dirty="0">
                <a:solidFill>
                  <a:srgbClr val="555555"/>
                </a:solidFill>
                <a:latin typeface="Meiryo" pitchFamily="34" charset="0"/>
                <a:ea typeface="Meiryo" pitchFamily="34" charset="-122"/>
                <a:cs typeface="Meiryo" pitchFamily="34" charset="-120"/>
              </a:rPr>
              <a:t/>
            </a:r>
            <a:endParaRPr lang="en-US" sz="1100" dirty="0"/>
          </a:p>
        </p:txBody>
      </p:sp>
      <p:pic>
        <p:nvPicPr>
          <p:cNvPr id="66" name="Image 1" descr="C:\Users\長澤開\Downloads\pptx-editor\public\illustrations\checklist.png"/>
          <p:cNvPicPr>
            <a:picLocks noChangeAspect="1"/>
          </p:cNvPicPr>
          <p:nvPr/>
        </p:nvPicPr>
        <p:blipFill>
          <a:blip r:embed="rId2"/>
          <a:stretch>
            <a:fillRect/>
          </a:stretch>
        </p:blipFill>
        <p:spPr>
          <a:xfrm>
            <a:off x="5074920" y="1051560"/>
            <a:ext cx="1508760" cy="1508760"/>
          </a:xfrm>
          <a:prstGeom prst="rect">
            <a:avLst/>
          </a:prstGeom>
        </p:spPr>
      </p:pic>
      <p:sp>
        <p:nvSpPr>
          <p:cNvPr id="67" name="Text 63"/>
          <p:cNvSpPr/>
          <p:nvPr/>
        </p:nvSpPr>
        <p:spPr>
          <a:xfrm>
            <a:off x="6675120" y="1325880"/>
            <a:ext cx="2286000" cy="50292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②</a:t>
            </a:r>
            <a:endParaRPr lang="en-US" sz="1500" dirty="0"/>
          </a:p>
        </p:txBody>
      </p:sp>
      <p:sp>
        <p:nvSpPr>
          <p:cNvPr id="68" name="Text 64"/>
          <p:cNvSpPr/>
          <p:nvPr/>
        </p:nvSpPr>
        <p:spPr>
          <a:xfrm>
            <a:off x="6675120" y="1847088"/>
            <a:ext cx="2286000" cy="822960"/>
          </a:xfrm>
          <a:prstGeom prst="rect">
            <a:avLst/>
          </a:prstGeom>
          <a:noFill/>
          <a:ln/>
        </p:spPr>
        <p:txBody>
          <a:bodyPr wrap="square" rtlCol="0" anchor="ctr"/>
          <a:lstStyle/>
          <a:p>
            <a:pPr indent="0" marL="0">
              <a:buNone/>
            </a:pPr>
            <a:r>
              <a:rPr lang="en-US" sz="1100" dirty="0">
                <a:solidFill>
                  <a:srgbClr val="555555"/>
                </a:solidFill>
                <a:latin typeface="Meiryo" pitchFamily="34" charset="0"/>
                <a:ea typeface="Meiryo" pitchFamily="34" charset="-122"/>
                <a:cs typeface="Meiryo" pitchFamily="34" charset="-120"/>
              </a:rPr>
              <a:t>次の案件で「改善提案」のデータになる（どう変えれば伸びるか）</a:t>
            </a:r>
            <a:endParaRPr lang="en-US" sz="1100" dirty="0"/>
          </a:p>
          <a:p>
            <a:pPr indent="0" marL="0">
              <a:buNone/>
            </a:pPr>
            <a:r>
              <a:rPr lang="en-US" sz="1100" dirty="0">
                <a:solidFill>
                  <a:srgbClr val="555555"/>
                </a:solidFill>
                <a:latin typeface="Meiryo" pitchFamily="34" charset="0"/>
                <a:ea typeface="Meiryo" pitchFamily="34" charset="-122"/>
                <a:cs typeface="Meiryo" pitchFamily="34" charset="-120"/>
              </a:rPr>
              <a:t/>
            </a:r>
            <a:endParaRPr lang="en-US" sz="1100" dirty="0"/>
          </a:p>
        </p:txBody>
      </p:sp>
      <p:pic>
        <p:nvPicPr>
          <p:cNvPr id="69" name="Image 2" descr="C:\Users\長澤開\Downloads\pptx-editor\public\illustrations\document.png"/>
          <p:cNvPicPr>
            <a:picLocks noChangeAspect="1"/>
          </p:cNvPicPr>
          <p:nvPr/>
        </p:nvPicPr>
        <p:blipFill>
          <a:blip r:embed="rId3"/>
          <a:stretch>
            <a:fillRect/>
          </a:stretch>
        </p:blipFill>
        <p:spPr>
          <a:xfrm>
            <a:off x="594360" y="3154680"/>
            <a:ext cx="1508760" cy="1508760"/>
          </a:xfrm>
          <a:prstGeom prst="rect">
            <a:avLst/>
          </a:prstGeom>
        </p:spPr>
      </p:pic>
      <p:sp>
        <p:nvSpPr>
          <p:cNvPr id="70" name="Text 65"/>
          <p:cNvSpPr/>
          <p:nvPr/>
        </p:nvSpPr>
        <p:spPr>
          <a:xfrm>
            <a:off x="2194560" y="3429000"/>
            <a:ext cx="2286000" cy="50292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③</a:t>
            </a:r>
            <a:endParaRPr lang="en-US" sz="1500" dirty="0"/>
          </a:p>
        </p:txBody>
      </p:sp>
      <p:sp>
        <p:nvSpPr>
          <p:cNvPr id="71" name="Text 66"/>
          <p:cNvSpPr/>
          <p:nvPr/>
        </p:nvSpPr>
        <p:spPr>
          <a:xfrm>
            <a:off x="2194560" y="3950208"/>
            <a:ext cx="2286000" cy="822960"/>
          </a:xfrm>
          <a:prstGeom prst="rect">
            <a:avLst/>
          </a:prstGeom>
          <a:noFill/>
          <a:ln/>
        </p:spPr>
        <p:txBody>
          <a:bodyPr wrap="square" rtlCol="0" anchor="ctr"/>
          <a:lstStyle/>
          <a:p>
            <a:pPr indent="0" marL="0">
              <a:buNone/>
            </a:pPr>
            <a:r>
              <a:rPr lang="en-US" sz="1100" dirty="0">
                <a:solidFill>
                  <a:srgbClr val="555555"/>
                </a:solidFill>
                <a:latin typeface="Meiryo" pitchFamily="34" charset="0"/>
                <a:ea typeface="Meiryo" pitchFamily="34" charset="-122"/>
                <a:cs typeface="Meiryo" pitchFamily="34" charset="-120"/>
              </a:rPr>
              <a:t>あなた自身の「実績データ」として次のオファー交渉に使える</a:t>
            </a:r>
            <a:endParaRPr lang="en-US" sz="1100" dirty="0"/>
          </a:p>
          <a:p>
            <a:pPr indent="0" marL="0">
              <a:buNone/>
            </a:pPr>
            <a:r>
              <a:rPr lang="en-US" sz="1100" dirty="0">
                <a:solidFill>
                  <a:srgbClr val="555555"/>
                </a:solidFill>
                <a:latin typeface="Meiryo" pitchFamily="34" charset="0"/>
                <a:ea typeface="Meiryo" pitchFamily="34" charset="-122"/>
                <a:cs typeface="Meiryo" pitchFamily="34" charset="-120"/>
              </a:rPr>
              <a:t/>
            </a:r>
            <a:endParaRPr lang="en-US" sz="1100" dirty="0"/>
          </a:p>
        </p:txBody>
      </p:sp>
      <p:pic>
        <p:nvPicPr>
          <p:cNvPr id="72" name="Image 3" descr="C:\Users\長澤開\Downloads\pptx-editor\public\illustrations\speech-bubble.png"/>
          <p:cNvPicPr>
            <a:picLocks noChangeAspect="1"/>
          </p:cNvPicPr>
          <p:nvPr/>
        </p:nvPicPr>
        <p:blipFill>
          <a:blip r:embed="rId4"/>
          <a:stretch>
            <a:fillRect/>
          </a:stretch>
        </p:blipFill>
        <p:spPr>
          <a:xfrm>
            <a:off x="5074920" y="3154680"/>
            <a:ext cx="1508760" cy="1508760"/>
          </a:xfrm>
          <a:prstGeom prst="rect">
            <a:avLst/>
          </a:prstGeom>
        </p:spPr>
      </p:pic>
      <p:sp>
        <p:nvSpPr>
          <p:cNvPr id="73" name="Text 67"/>
          <p:cNvSpPr/>
          <p:nvPr/>
        </p:nvSpPr>
        <p:spPr>
          <a:xfrm>
            <a:off x="6675120" y="3429000"/>
            <a:ext cx="2286000" cy="50292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
            </a:r>
            <a:endParaRPr lang="en-US" sz="1500" dirty="0"/>
          </a:p>
        </p:txBody>
      </p:sp>
      <p:sp>
        <p:nvSpPr>
          <p:cNvPr id="74" name="Text 68"/>
          <p:cNvSpPr/>
          <p:nvPr/>
        </p:nvSpPr>
        <p:spPr>
          <a:xfrm>
            <a:off x="6675120" y="3950208"/>
            <a:ext cx="2286000" cy="822960"/>
          </a:xfrm>
          <a:prstGeom prst="rect">
            <a:avLst/>
          </a:prstGeom>
          <a:noFill/>
          <a:ln/>
        </p:spPr>
        <p:txBody>
          <a:bodyPr wrap="square" rtlCol="0" anchor="ctr"/>
          <a:lstStyle/>
          <a:p>
            <a:pPr indent="0" marL="0">
              <a:buNone/>
            </a:pPr>
            <a:r>
              <a:rPr lang="en-US" sz="1100" dirty="0">
                <a:solidFill>
                  <a:srgbClr val="555555"/>
                </a:solidFill>
                <a:latin typeface="Meiryo" pitchFamily="34" charset="0"/>
                <a:ea typeface="Meiryo" pitchFamily="34" charset="-122"/>
                <a:cs typeface="Meiryo" pitchFamily="34" charset="-120"/>
              </a:rPr>
              <a:t/>
            </a:r>
            <a:endParaRPr lang="en-US" sz="1100" dirty="0"/>
          </a:p>
          <a:p>
            <a:pPr indent="0" marL="0">
              <a:buNone/>
            </a:pPr>
            <a:r>
              <a:rPr lang="en-US" sz="1100" dirty="0">
                <a:solidFill>
                  <a:srgbClr val="555555"/>
                </a:solidFill>
                <a:latin typeface="Meiryo" pitchFamily="34" charset="0"/>
                <a:ea typeface="Meiryo" pitchFamily="34" charset="-122"/>
                <a:cs typeface="Meiryo" pitchFamily="34" charset="-120"/>
              </a:rPr>
              <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4">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73075"/>
            <a:ext cx="8321040" cy="344729"/>
          </a:xfrm>
          <a:prstGeom prst="rect">
            <a:avLst/>
          </a:prstGeom>
          <a:solidFill>
            <a:srgbClr val="FFE455"/>
          </a:solidFill>
          <a:ln w="12700">
            <a:solidFill>
              <a:srgbClr val="FFE455"/>
            </a:solidFill>
            <a:prstDash val="solid"/>
          </a:ln>
        </p:spPr>
      </p:sp>
      <p:sp>
        <p:nvSpPr>
          <p:cNvPr id="58" name="Text 56"/>
          <p:cNvSpPr/>
          <p:nvPr/>
        </p:nvSpPr>
        <p:spPr>
          <a:xfrm>
            <a:off x="457200" y="182880"/>
            <a:ext cx="8229600" cy="594360"/>
          </a:xfrm>
          <a:prstGeom prst="rect">
            <a:avLst/>
          </a:prstGeom>
          <a:noFill/>
          <a:ln/>
        </p:spPr>
        <p:txBody>
          <a:bodyPr wrap="square" rtlCol="0" anchor="ctr"/>
          <a:lstStyle/>
          <a:p>
            <a:pPr indent="0" marL="0">
              <a:buNone/>
            </a:pPr>
            <a:r>
              <a:rPr lang="en-US" sz="2200" b="1" dirty="0">
                <a:solidFill>
                  <a:srgbClr val="1A1A1A"/>
                </a:solidFill>
                <a:latin typeface="Meiryo" pitchFamily="34" charset="0"/>
                <a:ea typeface="Meiryo" pitchFamily="34" charset="-122"/>
                <a:cs typeface="Meiryo" pitchFamily="34" charset="-120"/>
              </a:rPr>
              <a:t>インサイトの取り方・提出方法</a:t>
            </a:r>
            <a:endParaRPr lang="en-US" sz="2200" dirty="0"/>
          </a:p>
        </p:txBody>
      </p:sp>
      <p:sp>
        <p:nvSpPr>
          <p:cNvPr id="59" name="Shape 57"/>
          <p:cNvSpPr/>
          <p:nvPr/>
        </p:nvSpPr>
        <p:spPr>
          <a:xfrm>
            <a:off x="457200" y="758952"/>
            <a:ext cx="8229600" cy="36576"/>
          </a:xfrm>
          <a:prstGeom prst="rect">
            <a:avLst/>
          </a:prstGeom>
          <a:solidFill>
            <a:srgbClr val="FFB3E0"/>
          </a:solidFill>
          <a:ln w="12700">
            <a:solidFill>
              <a:srgbClr val="FFB3E0"/>
            </a:solidFill>
            <a:prstDash val="solid"/>
          </a:ln>
        </p:spPr>
      </p:sp>
      <p:sp>
        <p:nvSpPr>
          <p:cNvPr id="60" name="Shape 58"/>
          <p:cNvSpPr/>
          <p:nvPr/>
        </p:nvSpPr>
        <p:spPr>
          <a:xfrm>
            <a:off x="365760" y="960120"/>
            <a:ext cx="3840480" cy="3749040"/>
          </a:xfrm>
          <a:prstGeom prst="roundRect">
            <a:avLst>
              <a:gd name="adj" fmla="val 2439"/>
            </a:avLst>
          </a:prstGeom>
          <a:solidFill>
            <a:srgbClr val="F9F9F9"/>
          </a:solidFill>
          <a:ln w="12700">
            <a:solidFill>
              <a:srgbClr val="DDDDDD"/>
            </a:solidFill>
            <a:prstDash val="solid"/>
          </a:ln>
        </p:spPr>
      </p:sp>
      <p:sp>
        <p:nvSpPr>
          <p:cNvPr id="61" name="Shape 59"/>
          <p:cNvSpPr/>
          <p:nvPr/>
        </p:nvSpPr>
        <p:spPr>
          <a:xfrm>
            <a:off x="365760" y="960120"/>
            <a:ext cx="3840480" cy="548640"/>
          </a:xfrm>
          <a:prstGeom prst="roundRect">
            <a:avLst>
              <a:gd name="adj" fmla="val 16667"/>
            </a:avLst>
          </a:prstGeom>
          <a:solidFill>
            <a:srgbClr val="CCCCCC"/>
          </a:solidFill>
          <a:ln w="12700">
            <a:solidFill>
              <a:srgbClr val="CCCCCC"/>
            </a:solidFill>
            <a:prstDash val="solid"/>
          </a:ln>
        </p:spPr>
      </p:sp>
      <p:sp>
        <p:nvSpPr>
          <p:cNvPr id="62" name="Text 60"/>
          <p:cNvSpPr/>
          <p:nvPr/>
        </p:nvSpPr>
        <p:spPr>
          <a:xfrm>
            <a:off x="365760" y="960120"/>
            <a:ext cx="3840480" cy="548640"/>
          </a:xfrm>
          <a:prstGeom prst="rect">
            <a:avLst/>
          </a:prstGeom>
          <a:noFill/>
          <a:ln/>
        </p:spPr>
        <p:txBody>
          <a:bodyPr wrap="square"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TikTok</a:t>
            </a:r>
            <a:endParaRPr lang="en-US" sz="1700" dirty="0"/>
          </a:p>
        </p:txBody>
      </p:sp>
      <p:sp>
        <p:nvSpPr>
          <p:cNvPr id="63" name="Text 61"/>
          <p:cNvSpPr/>
          <p:nvPr/>
        </p:nvSpPr>
        <p:spPr>
          <a:xfrm>
            <a:off x="548640" y="1664208"/>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投稿した動画の「インサイトを見る」をタップ</a:t>
            </a:r>
            <a:endParaRPr lang="en-US" sz="1300" dirty="0"/>
          </a:p>
        </p:txBody>
      </p:sp>
      <p:sp>
        <p:nvSpPr>
          <p:cNvPr id="64" name="Text 62"/>
          <p:cNvSpPr/>
          <p:nvPr/>
        </p:nvSpPr>
        <p:spPr>
          <a:xfrm>
            <a:off x="548640" y="2322576"/>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規定の画面をスクリーンショット</a:t>
            </a:r>
            <a:endParaRPr lang="en-US" sz="1300" dirty="0"/>
          </a:p>
        </p:txBody>
      </p:sp>
      <p:sp>
        <p:nvSpPr>
          <p:cNvPr id="65" name="Text 63"/>
          <p:cNvSpPr/>
          <p:nvPr/>
        </p:nvSpPr>
        <p:spPr>
          <a:xfrm>
            <a:off x="548640" y="2980944"/>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 Notionで必要な画面を確認</a:t>
            </a:r>
            <a:endParaRPr lang="en-US" sz="1300" dirty="0"/>
          </a:p>
        </p:txBody>
      </p:sp>
      <p:sp>
        <p:nvSpPr>
          <p:cNvPr id="66" name="Text 64"/>
          <p:cNvSpPr/>
          <p:nvPr/>
        </p:nvSpPr>
        <p:spPr>
          <a:xfrm>
            <a:off x="548640" y="3639312"/>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
            </a:r>
            <a:endParaRPr lang="en-US" sz="1300" dirty="0"/>
          </a:p>
        </p:txBody>
      </p:sp>
      <p:sp>
        <p:nvSpPr>
          <p:cNvPr id="67" name="Shape 65"/>
          <p:cNvSpPr/>
          <p:nvPr/>
        </p:nvSpPr>
        <p:spPr>
          <a:xfrm>
            <a:off x="4251960" y="2286000"/>
            <a:ext cx="640080" cy="640080"/>
          </a:xfrm>
          <a:prstGeom prst="ellipse">
            <a:avLst/>
          </a:prstGeom>
          <a:solidFill>
            <a:srgbClr val="FF4DB8"/>
          </a:solidFill>
          <a:ln w="12700">
            <a:solidFill>
              <a:srgbClr val="FF4DB8"/>
            </a:solidFill>
            <a:prstDash val="solid"/>
          </a:ln>
        </p:spPr>
      </p:sp>
      <p:sp>
        <p:nvSpPr>
          <p:cNvPr id="68" name="Text 66"/>
          <p:cNvSpPr/>
          <p:nvPr/>
        </p:nvSpPr>
        <p:spPr>
          <a:xfrm>
            <a:off x="4251960" y="2313432"/>
            <a:ext cx="640080" cy="6400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VS</a:t>
            </a:r>
            <a:endParaRPr lang="en-US" sz="1300" dirty="0"/>
          </a:p>
        </p:txBody>
      </p:sp>
      <p:sp>
        <p:nvSpPr>
          <p:cNvPr id="69" name="Shape 67"/>
          <p:cNvSpPr/>
          <p:nvPr/>
        </p:nvSpPr>
        <p:spPr>
          <a:xfrm>
            <a:off x="4937760" y="960120"/>
            <a:ext cx="3840480" cy="3749040"/>
          </a:xfrm>
          <a:prstGeom prst="roundRect">
            <a:avLst>
              <a:gd name="adj" fmla="val 2439"/>
            </a:avLst>
          </a:prstGeom>
          <a:solidFill>
            <a:srgbClr val="FFF5FB"/>
          </a:solidFill>
          <a:ln w="19050">
            <a:solidFill>
              <a:srgbClr val="FF4DB8"/>
            </a:solidFill>
            <a:prstDash val="solid"/>
          </a:ln>
        </p:spPr>
      </p:sp>
      <p:sp>
        <p:nvSpPr>
          <p:cNvPr id="70" name="Shape 68"/>
          <p:cNvSpPr/>
          <p:nvPr/>
        </p:nvSpPr>
        <p:spPr>
          <a:xfrm>
            <a:off x="4937760" y="960120"/>
            <a:ext cx="3840480" cy="548640"/>
          </a:xfrm>
          <a:prstGeom prst="roundRect">
            <a:avLst>
              <a:gd name="adj" fmla="val 16667"/>
            </a:avLst>
          </a:prstGeom>
          <a:solidFill>
            <a:srgbClr val="FF4DB8"/>
          </a:solidFill>
          <a:ln w="12700">
            <a:solidFill>
              <a:srgbClr val="FF4DB8"/>
            </a:solidFill>
            <a:prstDash val="solid"/>
          </a:ln>
        </p:spPr>
      </p:sp>
      <p:sp>
        <p:nvSpPr>
          <p:cNvPr id="71" name="Text 69"/>
          <p:cNvSpPr/>
          <p:nvPr/>
        </p:nvSpPr>
        <p:spPr>
          <a:xfrm>
            <a:off x="4937760" y="960120"/>
            <a:ext cx="3840480" cy="548640"/>
          </a:xfrm>
          <a:prstGeom prst="rect">
            <a:avLst/>
          </a:prstGeom>
          <a:noFill/>
          <a:ln/>
        </p:spPr>
        <p:txBody>
          <a:bodyPr wrap="square"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Instagram Reels</a:t>
            </a:r>
            <a:endParaRPr lang="en-US" sz="1700" dirty="0"/>
          </a:p>
        </p:txBody>
      </p:sp>
      <p:sp>
        <p:nvSpPr>
          <p:cNvPr id="72" name="Text 70"/>
          <p:cNvSpPr/>
          <p:nvPr/>
        </p:nvSpPr>
        <p:spPr>
          <a:xfrm>
            <a:off x="5120640" y="1664208"/>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まずプロアカウントに切り替える（無料・すぐできる）</a:t>
            </a:r>
            <a:endParaRPr lang="en-US" sz="1300" dirty="0"/>
          </a:p>
        </p:txBody>
      </p:sp>
      <p:sp>
        <p:nvSpPr>
          <p:cNvPr id="73" name="Text 71"/>
          <p:cNvSpPr/>
          <p:nvPr/>
        </p:nvSpPr>
        <p:spPr>
          <a:xfrm>
            <a:off x="5120640" y="2322576"/>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投稿の「インサイトを見る」をタップ</a:t>
            </a:r>
            <a:endParaRPr lang="en-US" sz="1300" dirty="0"/>
          </a:p>
        </p:txBody>
      </p:sp>
      <p:sp>
        <p:nvSpPr>
          <p:cNvPr id="74" name="Text 72"/>
          <p:cNvSpPr/>
          <p:nvPr/>
        </p:nvSpPr>
        <p:spPr>
          <a:xfrm>
            <a:off x="5120640" y="2980944"/>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 Notionで必要な画面を確認</a:t>
            </a:r>
            <a:endParaRPr lang="en-US" sz="1300" dirty="0"/>
          </a:p>
        </p:txBody>
      </p:sp>
      <p:sp>
        <p:nvSpPr>
          <p:cNvPr id="75" name="Text 73"/>
          <p:cNvSpPr/>
          <p:nvPr/>
        </p:nvSpPr>
        <p:spPr>
          <a:xfrm>
            <a:off x="5120640" y="3639312"/>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
            </a:r>
            <a:endParaRPr lang="en-US" sz="1300" dirty="0"/>
          </a:p>
        </p:txBody>
      </p:sp>
      <p:pic>
        <p:nvPicPr>
          <p:cNvPr id="76" name="Image 0" descr="C:\Users\長澤開\Downloads\pptx-editor\public\illustrations\trophy-badge.svg"/>
          <p:cNvPicPr>
            <a:picLocks noChangeAspect="1"/>
          </p:cNvPicPr>
          <p:nvPr/>
        </p:nvPicPr>
        <p:blipFill>
          <a:blip r:embed="rId1">
            <a:alphaModFix amt="90000"/>
            <a:extLst>
              <a:ext uri="{96DAC541-7B7A-43D3-8B79-37D633B846F1}">
                <asvg:svgBlip xmlns:asvg="http://schemas.microsoft.com/office/drawing/2016/SVG/main" r:embed="rId2"/>
              </a:ext>
            </a:extLst>
          </a:blip>
          <a:stretch>
            <a:fillRect/>
          </a:stretch>
        </p:blipFill>
        <p:spPr>
          <a:xfrm>
            <a:off x="6492240" y="4160520"/>
            <a:ext cx="1371600" cy="9144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6">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0" y="0"/>
            <a:ext cx="9144000" cy="713232"/>
          </a:xfrm>
          <a:prstGeom prst="rect">
            <a:avLst/>
          </a:prstGeom>
          <a:solidFill>
            <a:srgbClr val="FF4DB8"/>
          </a:solidFill>
          <a:ln w="12700">
            <a:solidFill>
              <a:srgbClr val="FF4DB8"/>
            </a:solidFill>
            <a:prstDash val="solid"/>
          </a:ln>
        </p:spPr>
      </p:sp>
      <p:sp>
        <p:nvSpPr>
          <p:cNvPr id="58" name="Text 56"/>
          <p:cNvSpPr/>
          <p:nvPr/>
        </p:nvSpPr>
        <p:spPr>
          <a:xfrm>
            <a:off x="365760" y="73152"/>
            <a:ext cx="7315200" cy="566928"/>
          </a:xfrm>
          <a:prstGeom prst="rect">
            <a:avLst/>
          </a:prstGeom>
          <a:noFill/>
          <a:ln/>
        </p:spPr>
        <p:txBody>
          <a:bodyPr wrap="square"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まとめ　動画⑤</a:t>
            </a:r>
            <a:endParaRPr lang="en-US" sz="2200" dirty="0"/>
          </a:p>
        </p:txBody>
      </p:sp>
      <p:sp>
        <p:nvSpPr>
          <p:cNvPr id="59" name="Shape 57"/>
          <p:cNvSpPr/>
          <p:nvPr/>
        </p:nvSpPr>
        <p:spPr>
          <a:xfrm>
            <a:off x="457200" y="1005840"/>
            <a:ext cx="594360" cy="594360"/>
          </a:xfrm>
          <a:prstGeom prst="ellipse">
            <a:avLst/>
          </a:prstGeom>
          <a:solidFill>
            <a:srgbClr val="FF4DB8"/>
          </a:solidFill>
          <a:ln w="12700">
            <a:solidFill>
              <a:srgbClr val="FF4DB8"/>
            </a:solidFill>
            <a:prstDash val="solid"/>
          </a:ln>
        </p:spPr>
      </p:sp>
      <p:sp>
        <p:nvSpPr>
          <p:cNvPr id="60" name="Text 58"/>
          <p:cNvSpPr/>
          <p:nvPr/>
        </p:nvSpPr>
        <p:spPr>
          <a:xfrm>
            <a:off x="457200" y="1005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1</a:t>
            </a:r>
            <a:endParaRPr lang="en-US" sz="1800" dirty="0"/>
          </a:p>
        </p:txBody>
      </p:sp>
      <p:sp>
        <p:nvSpPr>
          <p:cNvPr id="61" name="Shape 59"/>
          <p:cNvSpPr/>
          <p:nvPr/>
        </p:nvSpPr>
        <p:spPr>
          <a:xfrm>
            <a:off x="1188720" y="914400"/>
            <a:ext cx="7498080" cy="822960"/>
          </a:xfrm>
          <a:prstGeom prst="roundRect">
            <a:avLst>
              <a:gd name="adj" fmla="val 7778"/>
            </a:avLst>
          </a:prstGeom>
          <a:solidFill>
            <a:srgbClr val="FFFFFF"/>
          </a:solidFill>
          <a:ln w="12700">
            <a:solidFill>
              <a:srgbClr val="E8C0DA"/>
            </a:solidFill>
            <a:prstDash val="solid"/>
          </a:ln>
        </p:spPr>
      </p:sp>
      <p:sp>
        <p:nvSpPr>
          <p:cNvPr id="62" name="Text 60"/>
          <p:cNvSpPr/>
          <p:nvPr/>
        </p:nvSpPr>
        <p:spPr>
          <a:xfrm>
            <a:off x="1371600" y="987552"/>
            <a:ext cx="7132320" cy="685800"/>
          </a:xfrm>
          <a:prstGeom prst="rect">
            <a:avLst/>
          </a:prstGeom>
          <a:noFill/>
          <a:ln/>
        </p:spPr>
        <p:txBody>
          <a:bodyPr wrap="square" rtlCol="0" anchor="ctr"/>
          <a:lstStyle/>
          <a:p>
            <a:pPr indent="0" marL="0">
              <a:buNone/>
            </a:pPr>
            <a:r>
              <a:rPr lang="en-US" sz="1600" dirty="0">
                <a:solidFill>
                  <a:srgbClr val="1A1A1A"/>
                </a:solidFill>
                <a:latin typeface="Meiryo" pitchFamily="34" charset="0"/>
                <a:ea typeface="Meiryo" pitchFamily="34" charset="-122"/>
                <a:cs typeface="Meiryo" pitchFamily="34" charset="-120"/>
              </a:rPr>
              <a:t>インサイト＝動画の成績表。提出はクライアントへの効果報告</a:t>
            </a:r>
            <a:endParaRPr lang="en-US" sz="1600" dirty="0"/>
          </a:p>
        </p:txBody>
      </p:sp>
      <p:sp>
        <p:nvSpPr>
          <p:cNvPr id="63" name="Shape 61"/>
          <p:cNvSpPr/>
          <p:nvPr/>
        </p:nvSpPr>
        <p:spPr>
          <a:xfrm>
            <a:off x="457200" y="2148840"/>
            <a:ext cx="594360" cy="594360"/>
          </a:xfrm>
          <a:prstGeom prst="ellipse">
            <a:avLst/>
          </a:prstGeom>
          <a:solidFill>
            <a:srgbClr val="FF4DB8"/>
          </a:solidFill>
          <a:ln w="12700">
            <a:solidFill>
              <a:srgbClr val="FF4DB8"/>
            </a:solidFill>
            <a:prstDash val="solid"/>
          </a:ln>
        </p:spPr>
      </p:sp>
      <p:sp>
        <p:nvSpPr>
          <p:cNvPr id="64" name="Text 62"/>
          <p:cNvSpPr/>
          <p:nvPr/>
        </p:nvSpPr>
        <p:spPr>
          <a:xfrm>
            <a:off x="457200" y="2148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2</a:t>
            </a:r>
            <a:endParaRPr lang="en-US" sz="1800" dirty="0"/>
          </a:p>
        </p:txBody>
      </p:sp>
      <p:sp>
        <p:nvSpPr>
          <p:cNvPr id="65" name="Shape 63"/>
          <p:cNvSpPr/>
          <p:nvPr/>
        </p:nvSpPr>
        <p:spPr>
          <a:xfrm>
            <a:off x="1188720" y="2057400"/>
            <a:ext cx="7498080" cy="822960"/>
          </a:xfrm>
          <a:prstGeom prst="roundRect">
            <a:avLst>
              <a:gd name="adj" fmla="val 7778"/>
            </a:avLst>
          </a:prstGeom>
          <a:solidFill>
            <a:srgbClr val="FFFFFF"/>
          </a:solidFill>
          <a:ln w="12700">
            <a:solidFill>
              <a:srgbClr val="E8C0DA"/>
            </a:solidFill>
            <a:prstDash val="solid"/>
          </a:ln>
        </p:spPr>
      </p:sp>
      <p:sp>
        <p:nvSpPr>
          <p:cNvPr id="66" name="Text 64"/>
          <p:cNvSpPr/>
          <p:nvPr/>
        </p:nvSpPr>
        <p:spPr>
          <a:xfrm>
            <a:off x="1371600" y="2130552"/>
            <a:ext cx="7132320" cy="685800"/>
          </a:xfrm>
          <a:prstGeom prst="rect">
            <a:avLst/>
          </a:prstGeom>
          <a:noFill/>
          <a:ln/>
        </p:spPr>
        <p:txBody>
          <a:bodyPr wrap="square" rtlCol="0" anchor="ctr"/>
          <a:lstStyle/>
          <a:p>
            <a:pPr indent="0" marL="0">
              <a:buNone/>
            </a:pPr>
            <a:r>
              <a:rPr lang="en-US" sz="1600" dirty="0">
                <a:solidFill>
                  <a:srgbClr val="1A1A1A"/>
                </a:solidFill>
                <a:latin typeface="Meiryo" pitchFamily="34" charset="0"/>
                <a:ea typeface="Meiryo" pitchFamily="34" charset="-122"/>
                <a:cs typeface="Meiryo" pitchFamily="34" charset="-120"/>
              </a:rPr>
              <a:t>TikTok・Instagramそれぞれの規定画面をスクショして提出</a:t>
            </a:r>
            <a:endParaRPr lang="en-US" sz="1600" dirty="0"/>
          </a:p>
        </p:txBody>
      </p:sp>
      <p:sp>
        <p:nvSpPr>
          <p:cNvPr id="67" name="Shape 65"/>
          <p:cNvSpPr/>
          <p:nvPr/>
        </p:nvSpPr>
        <p:spPr>
          <a:xfrm>
            <a:off x="457200" y="3291840"/>
            <a:ext cx="594360" cy="594360"/>
          </a:xfrm>
          <a:prstGeom prst="ellipse">
            <a:avLst/>
          </a:prstGeom>
          <a:solidFill>
            <a:srgbClr val="FF4DB8"/>
          </a:solidFill>
          <a:ln w="12700">
            <a:solidFill>
              <a:srgbClr val="FF4DB8"/>
            </a:solidFill>
            <a:prstDash val="solid"/>
          </a:ln>
        </p:spPr>
      </p:sp>
      <p:sp>
        <p:nvSpPr>
          <p:cNvPr id="68" name="Text 66"/>
          <p:cNvSpPr/>
          <p:nvPr/>
        </p:nvSpPr>
        <p:spPr>
          <a:xfrm>
            <a:off x="457200" y="3291840"/>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3</a:t>
            </a:r>
            <a:endParaRPr lang="en-US" sz="1800" dirty="0"/>
          </a:p>
        </p:txBody>
      </p:sp>
      <p:sp>
        <p:nvSpPr>
          <p:cNvPr id="69" name="Shape 67"/>
          <p:cNvSpPr/>
          <p:nvPr/>
        </p:nvSpPr>
        <p:spPr>
          <a:xfrm>
            <a:off x="1188720" y="3200400"/>
            <a:ext cx="7498080" cy="822960"/>
          </a:xfrm>
          <a:prstGeom prst="roundRect">
            <a:avLst>
              <a:gd name="adj" fmla="val 7778"/>
            </a:avLst>
          </a:prstGeom>
          <a:solidFill>
            <a:srgbClr val="FFFFFF"/>
          </a:solidFill>
          <a:ln w="12700">
            <a:solidFill>
              <a:srgbClr val="E8C0DA"/>
            </a:solidFill>
            <a:prstDash val="solid"/>
          </a:ln>
        </p:spPr>
      </p:sp>
      <p:sp>
        <p:nvSpPr>
          <p:cNvPr id="70" name="Text 68"/>
          <p:cNvSpPr/>
          <p:nvPr/>
        </p:nvSpPr>
        <p:spPr>
          <a:xfrm>
            <a:off x="1371600" y="3273552"/>
            <a:ext cx="7132320" cy="685800"/>
          </a:xfrm>
          <a:prstGeom prst="rect">
            <a:avLst/>
          </a:prstGeom>
          <a:noFill/>
          <a:ln/>
        </p:spPr>
        <p:txBody>
          <a:bodyPr wrap="square" rtlCol="0" anchor="ctr"/>
          <a:lstStyle/>
          <a:p>
            <a:pPr indent="0" marL="0">
              <a:buNone/>
            </a:pPr>
            <a:r>
              <a:rPr lang="en-US" sz="1600" dirty="0">
                <a:solidFill>
                  <a:srgbClr val="1A1A1A"/>
                </a:solidFill>
                <a:latin typeface="Meiryo" pitchFamily="34" charset="0"/>
                <a:ea typeface="Meiryo" pitchFamily="34" charset="-122"/>
                <a:cs typeface="Meiryo" pitchFamily="34" charset="-120"/>
              </a:rPr>
              <a:t>Instagramはプロアカウント設定が必要（無料でできる）</a:t>
            </a:r>
            <a:endParaRPr lang="en-US" sz="1600" dirty="0"/>
          </a:p>
        </p:txBody>
      </p:sp>
      <p:pic>
        <p:nvPicPr>
          <p:cNvPr id="71" name="Image 0" descr="C:\Users\長澤開\Downloads\pptx-editor\public\illustrations\star.png"/>
          <p:cNvPicPr>
            <a:picLocks noChangeAspect="1"/>
          </p:cNvPicPr>
          <p:nvPr/>
        </p:nvPicPr>
        <p:blipFill>
          <a:blip r:embed="rId1">
            <a:alphaModFix amt="80000"/>
          </a:blip>
          <a:stretch>
            <a:fillRect/>
          </a:stretch>
        </p:blipFill>
        <p:spPr>
          <a:xfrm>
            <a:off x="7406640" y="3200400"/>
            <a:ext cx="1280160" cy="1005840"/>
          </a:xfrm>
          <a:prstGeom prst="rect">
            <a:avLst/>
          </a:prstGeom>
        </p:spPr>
      </p:pic>
      <p:sp>
        <p:nvSpPr>
          <p:cNvPr id="72" name="Shape 69"/>
          <p:cNvSpPr/>
          <p:nvPr/>
        </p:nvSpPr>
        <p:spPr>
          <a:xfrm>
            <a:off x="365760" y="4370832"/>
            <a:ext cx="8412480" cy="548640"/>
          </a:xfrm>
          <a:prstGeom prst="roundRect">
            <a:avLst>
              <a:gd name="adj" fmla="val 11667"/>
            </a:avLst>
          </a:prstGeom>
          <a:solidFill>
            <a:srgbClr val="FFF0F5"/>
          </a:solidFill>
          <a:ln w="12700">
            <a:solidFill>
              <a:srgbClr val="FF4DB8"/>
            </a:solidFill>
            <a:prstDash val="solid"/>
          </a:ln>
        </p:spPr>
      </p:sp>
      <p:sp>
        <p:nvSpPr>
          <p:cNvPr id="73" name="Text 70"/>
          <p:cNvSpPr/>
          <p:nvPr/>
        </p:nvSpPr>
        <p:spPr>
          <a:xfrm>
            <a:off x="502920" y="4416552"/>
            <a:ext cx="8046720" cy="457200"/>
          </a:xfrm>
          <a:prstGeom prst="rect">
            <a:avLst/>
          </a:prstGeom>
          <a:noFill/>
          <a:ln/>
        </p:spPr>
        <p:txBody>
          <a:bodyPr wrap="square" rtlCol="0" anchor="ctr"/>
          <a:lstStyle/>
          <a:p>
            <a:pPr indent="0" marL="0">
              <a:buNone/>
            </a:pPr>
            <a:r>
              <a:rPr lang="en-US" sz="1400" dirty="0">
                <a:solidFill>
                  <a:srgbClr val="FF4DB8"/>
                </a:solidFill>
                <a:latin typeface="Meiryo" pitchFamily="34" charset="0"/>
                <a:ea typeface="Meiryo" pitchFamily="34" charset="-122"/>
                <a:cs typeface="Meiryo" pitchFamily="34" charset="-120"/>
              </a:rPr>
              <a:t>▶  Next  |  動画⑥：プロの仕事術</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7">
    <p:bg>
      <p:bgPr>
        <a:solidFill>
          <a:srgbClr val="FF4DB8"/>
        </a:solidFill>
      </p:bgPr>
    </p:bg>
    <p:spTree>
      <p:nvGrpSpPr>
        <p:cNvPr id="1" name=""/>
        <p:cNvGrpSpPr/>
        <p:nvPr/>
      </p:nvGrpSpPr>
      <p:grpSpPr>
        <a:xfrm>
          <a:off x="0" y="0"/>
          <a:ext cx="0" cy="0"/>
          <a:chOff x="0" y="0"/>
          <a:chExt cx="0" cy="0"/>
        </a:xfrm>
      </p:grpSpPr>
      <p:sp>
        <p:nvSpPr>
          <p:cNvPr id="2" name="Text 0"/>
          <p:cNvSpPr/>
          <p:nvPr/>
        </p:nvSpPr>
        <p:spPr>
          <a:xfrm>
            <a:off x="-274320" y="91440"/>
            <a:ext cx="4114800" cy="4937760"/>
          </a:xfrm>
          <a:prstGeom prst="rect">
            <a:avLst/>
          </a:prstGeom>
          <a:noFill/>
          <a:ln/>
        </p:spPr>
        <p:txBody>
          <a:bodyPr wrap="square" lIns="0" tIns="0" rIns="0" bIns="0" rtlCol="0" anchor="ctr"/>
          <a:lstStyle/>
          <a:p>
            <a:pPr algn="l" indent="0" marL="0">
              <a:buNone/>
            </a:pPr>
            <a:r>
              <a:rPr lang="en-US" sz="30000" b="1" dirty="0">
                <a:solidFill>
                  <a:srgbClr val="FFFFFF">
                    <a:alpha val="80000"/>
                  </a:srgbClr>
                </a:solidFill>
                <a:latin typeface="Meiryo" pitchFamily="34" charset="0"/>
                <a:ea typeface="Meiryo" pitchFamily="34" charset="-122"/>
                <a:cs typeface="Meiryo" pitchFamily="34" charset="-120"/>
              </a:rPr>
              <a:t>6</a:t>
            </a:r>
            <a:endParaRPr lang="en-US" sz="30000" dirty="0"/>
          </a:p>
        </p:txBody>
      </p:sp>
      <p:pic>
        <p:nvPicPr>
          <p:cNvPr id="3" name="Image 0" descr="C:\Users\長澤開\Downloads\pptx-editor\public\illustrations\megaphone.svg"/>
          <p:cNvPicPr>
            <a:picLocks noChangeAspect="1"/>
          </p:cNvPicPr>
          <p:nvPr/>
        </p:nvPicPr>
        <p:blipFill>
          <a:blip r:embed="rId1">
            <a:alphaModFix amt="90000"/>
            <a:extLst>
              <a:ext uri="{96DAC541-7B7A-43D3-8B79-37D633B846F1}">
                <asvg:svgBlip xmlns:asvg="http://schemas.microsoft.com/office/drawing/2016/SVG/main" r:embed="rId2"/>
              </a:ext>
            </a:extLst>
          </a:blip>
          <a:stretch>
            <a:fillRect/>
          </a:stretch>
        </p:blipFill>
        <p:spPr>
          <a:xfrm>
            <a:off x="6400800" y="91440"/>
            <a:ext cx="2468880" cy="2194560"/>
          </a:xfrm>
          <a:prstGeom prst="rect">
            <a:avLst/>
          </a:prstGeom>
        </p:spPr>
      </p:pic>
      <p:pic>
        <p:nvPicPr>
          <p:cNvPr id="4" name="Image 1" descr="C:\Users\長澤開\Downloads\pptx-editor\public\illustrations\warning-person.svg"/>
          <p:cNvPicPr>
            <a:picLocks noChangeAspect="1"/>
          </p:cNvPicPr>
          <p:nvPr/>
        </p:nvPicPr>
        <p:blipFill>
          <a:blip r:embed="rId3">
            <a:alphaModFix amt="90000"/>
            <a:extLst>
              <a:ext uri="{96DAC541-7B7A-43D3-8B79-37D633B846F1}">
                <asvg:svgBlip xmlns:asvg="http://schemas.microsoft.com/office/drawing/2016/SVG/main" r:embed="rId4"/>
              </a:ext>
            </a:extLst>
          </a:blip>
          <a:stretch>
            <a:fillRect/>
          </a:stretch>
        </p:blipFill>
        <p:spPr>
          <a:xfrm>
            <a:off x="6858000" y="3108960"/>
            <a:ext cx="2011680" cy="1920240"/>
          </a:xfrm>
          <a:prstGeom prst="rect">
            <a:avLst/>
          </a:prstGeom>
        </p:spPr>
      </p:pic>
      <p:pic>
        <p:nvPicPr>
          <p:cNvPr id="5" name="Image 2" descr="C:\Users\長澤開\Downloads\pptx-editor\public\illustrations\arrow.png"/>
          <p:cNvPicPr>
            <a:picLocks noChangeAspect="1"/>
          </p:cNvPicPr>
          <p:nvPr/>
        </p:nvPicPr>
        <p:blipFill>
          <a:blip r:embed="rId5">
            <a:alphaModFix amt="70000"/>
          </a:blip>
          <a:stretch>
            <a:fillRect/>
          </a:stretch>
        </p:blipFill>
        <p:spPr>
          <a:xfrm>
            <a:off x="182880" y="3474720"/>
            <a:ext cx="1645920" cy="1554480"/>
          </a:xfrm>
          <a:prstGeom prst="rect">
            <a:avLst/>
          </a:prstGeom>
        </p:spPr>
      </p:pic>
      <p:sp>
        <p:nvSpPr>
          <p:cNvPr id="6" name="Shape 1"/>
          <p:cNvSpPr/>
          <p:nvPr/>
        </p:nvSpPr>
        <p:spPr>
          <a:xfrm>
            <a:off x="2743200" y="1371600"/>
            <a:ext cx="5760720" cy="2377440"/>
          </a:xfrm>
          <a:prstGeom prst="roundRect">
            <a:avLst>
              <a:gd name="adj" fmla="val 6923"/>
            </a:avLst>
          </a:prstGeom>
          <a:solidFill>
            <a:srgbClr val="FFFFFF"/>
          </a:solidFill>
          <a:ln w="12700">
            <a:solidFill>
              <a:srgbClr val="FFFFFF"/>
            </a:solidFill>
            <a:prstDash val="solid"/>
          </a:ln>
        </p:spPr>
      </p:sp>
      <p:sp>
        <p:nvSpPr>
          <p:cNvPr id="7" name="Text 2"/>
          <p:cNvSpPr/>
          <p:nvPr/>
        </p:nvSpPr>
        <p:spPr>
          <a:xfrm>
            <a:off x="2926080" y="1600200"/>
            <a:ext cx="5394960" cy="1005840"/>
          </a:xfrm>
          <a:prstGeom prst="rect">
            <a:avLst/>
          </a:prstGeom>
          <a:noFill/>
          <a:ln/>
        </p:spPr>
        <p:txBody>
          <a:bodyPr wrap="square" rtlCol="0" anchor="ctr"/>
          <a:lstStyle/>
          <a:p>
            <a:pPr indent="0" marL="0">
              <a:buNone/>
            </a:pPr>
            <a:r>
              <a:rPr lang="en-US" sz="3800" b="1" dirty="0">
                <a:solidFill>
                  <a:srgbClr val="1A1A1A"/>
                </a:solidFill>
                <a:latin typeface="Meiryo" pitchFamily="34" charset="0"/>
                <a:ea typeface="Meiryo" pitchFamily="34" charset="-122"/>
                <a:cs typeface="Meiryo" pitchFamily="34" charset="-120"/>
              </a:rPr>
              <a:t>動画⑥</a:t>
            </a:r>
            <a:endParaRPr lang="en-US" sz="3800" dirty="0"/>
          </a:p>
        </p:txBody>
      </p:sp>
      <p:sp>
        <p:nvSpPr>
          <p:cNvPr id="8" name="Text 3"/>
          <p:cNvSpPr/>
          <p:nvPr/>
        </p:nvSpPr>
        <p:spPr>
          <a:xfrm>
            <a:off x="2926080" y="2606040"/>
            <a:ext cx="5394960" cy="594360"/>
          </a:xfrm>
          <a:prstGeom prst="rect">
            <a:avLst/>
          </a:prstGeom>
          <a:noFill/>
          <a:ln/>
        </p:spPr>
        <p:txBody>
          <a:bodyPr wrap="square" rtlCol="0" anchor="ctr"/>
          <a:lstStyle/>
          <a:p>
            <a:pPr indent="0" marL="0">
              <a:buNone/>
            </a:pPr>
            <a:r>
              <a:rPr lang="en-US" sz="1700" dirty="0">
                <a:solidFill>
                  <a:srgbClr val="555555"/>
                </a:solidFill>
                <a:latin typeface="Meiryo" pitchFamily="34" charset="0"/>
                <a:ea typeface="Meiryo" pitchFamily="34" charset="-122"/>
                <a:cs typeface="Meiryo" pitchFamily="34" charset="-120"/>
              </a:rPr>
              <a:t>プロの仕事術</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Text 55"/>
          <p:cNvSpPr/>
          <p:nvPr/>
        </p:nvSpPr>
        <p:spPr>
          <a:xfrm>
            <a:off x="457200" y="228600"/>
            <a:ext cx="8229600" cy="640080"/>
          </a:xfrm>
          <a:prstGeom prst="rect">
            <a:avLst/>
          </a:prstGeom>
          <a:noFill/>
          <a:ln/>
        </p:spPr>
        <p:txBody>
          <a:bodyPr wrap="square" rtlCol="0" anchor="ctr"/>
          <a:lstStyle/>
          <a:p>
            <a:pPr indent="0" marL="0">
              <a:buNone/>
            </a:pPr>
            <a:r>
              <a:rPr lang="en-US" sz="3200" b="1" dirty="0">
                <a:solidFill>
                  <a:srgbClr val="1A1A1A"/>
                </a:solidFill>
                <a:latin typeface="Meiryo" pitchFamily="34" charset="0"/>
                <a:ea typeface="Meiryo" pitchFamily="34" charset="-122"/>
                <a:cs typeface="Meiryo" pitchFamily="34" charset="-120"/>
              </a:rPr>
              <a:t>この動画で学ぶこと</a:t>
            </a:r>
            <a:endParaRPr lang="en-US" sz="3200" dirty="0"/>
          </a:p>
        </p:txBody>
      </p:sp>
      <p:sp>
        <p:nvSpPr>
          <p:cNvPr id="58" name="Shape 56"/>
          <p:cNvSpPr/>
          <p:nvPr/>
        </p:nvSpPr>
        <p:spPr>
          <a:xfrm>
            <a:off x="457200" y="850392"/>
            <a:ext cx="8229600" cy="36576"/>
          </a:xfrm>
          <a:prstGeom prst="rect">
            <a:avLst/>
          </a:prstGeom>
          <a:solidFill>
            <a:srgbClr val="FFB3E0"/>
          </a:solidFill>
          <a:ln w="12700">
            <a:solidFill>
              <a:srgbClr val="FFB3E0"/>
            </a:solidFill>
            <a:prstDash val="solid"/>
          </a:ln>
        </p:spPr>
      </p:sp>
      <p:sp>
        <p:nvSpPr>
          <p:cNvPr id="59" name="Shape 57"/>
          <p:cNvSpPr/>
          <p:nvPr/>
        </p:nvSpPr>
        <p:spPr>
          <a:xfrm>
            <a:off x="45720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60" name="Image 0" descr="C:\Users\長澤開\Downloads\pptx-editor\public\illustrations\handshake.png"/>
          <p:cNvPicPr>
            <a:picLocks noChangeAspect="1"/>
          </p:cNvPicPr>
          <p:nvPr/>
        </p:nvPicPr>
        <p:blipFill>
          <a:blip r:embed="rId1"/>
          <a:stretch>
            <a:fillRect/>
          </a:stretch>
        </p:blipFill>
        <p:spPr>
          <a:xfrm>
            <a:off x="868680" y="1051560"/>
            <a:ext cx="1828800" cy="1417320"/>
          </a:xfrm>
          <a:prstGeom prst="rect">
            <a:avLst/>
          </a:prstGeom>
        </p:spPr>
      </p:pic>
      <p:sp>
        <p:nvSpPr>
          <p:cNvPr id="61" name="Shape 58"/>
          <p:cNvSpPr/>
          <p:nvPr/>
        </p:nvSpPr>
        <p:spPr>
          <a:xfrm>
            <a:off x="566928" y="2578608"/>
            <a:ext cx="548640" cy="548640"/>
          </a:xfrm>
          <a:prstGeom prst="ellipse">
            <a:avLst/>
          </a:prstGeom>
          <a:solidFill>
            <a:srgbClr val="FF4DB8"/>
          </a:solidFill>
          <a:ln w="12700">
            <a:solidFill>
              <a:srgbClr val="FF4DB8"/>
            </a:solidFill>
            <a:prstDash val="solid"/>
          </a:ln>
        </p:spPr>
      </p:sp>
      <p:sp>
        <p:nvSpPr>
          <p:cNvPr id="62" name="Text 59"/>
          <p:cNvSpPr/>
          <p:nvPr/>
        </p:nvSpPr>
        <p:spPr>
          <a:xfrm>
            <a:off x="56692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01</a:t>
            </a:r>
            <a:endParaRPr lang="en-US" sz="1800" dirty="0"/>
          </a:p>
        </p:txBody>
      </p:sp>
      <p:sp>
        <p:nvSpPr>
          <p:cNvPr id="63" name="Text 60"/>
          <p:cNvSpPr/>
          <p:nvPr/>
        </p:nvSpPr>
        <p:spPr>
          <a:xfrm>
            <a:off x="59436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コアタイムとは</a:t>
            </a:r>
            <a:endParaRPr lang="en-US" sz="1500" dirty="0"/>
          </a:p>
        </p:txBody>
      </p:sp>
      <p:sp>
        <p:nvSpPr>
          <p:cNvPr id="64" name="Text 61"/>
          <p:cNvSpPr/>
          <p:nvPr/>
        </p:nvSpPr>
        <p:spPr>
          <a:xfrm>
            <a:off x="59436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連絡が取れる状態にしておく</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中心的な時間帯</a:t>
            </a:r>
            <a:endParaRPr lang="en-US" sz="1200" dirty="0"/>
          </a:p>
        </p:txBody>
      </p:sp>
      <p:sp>
        <p:nvSpPr>
          <p:cNvPr id="65" name="Shape 62"/>
          <p:cNvSpPr/>
          <p:nvPr/>
        </p:nvSpPr>
        <p:spPr>
          <a:xfrm>
            <a:off x="329184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66" name="Image 1" descr="C:\Users\長澤開\Downloads\pptx-editor\public\illustrations\star.png"/>
          <p:cNvPicPr>
            <a:picLocks noChangeAspect="1"/>
          </p:cNvPicPr>
          <p:nvPr/>
        </p:nvPicPr>
        <p:blipFill>
          <a:blip r:embed="rId2"/>
          <a:stretch>
            <a:fillRect/>
          </a:stretch>
        </p:blipFill>
        <p:spPr>
          <a:xfrm>
            <a:off x="3703320" y="1051560"/>
            <a:ext cx="1828800" cy="1417320"/>
          </a:xfrm>
          <a:prstGeom prst="rect">
            <a:avLst/>
          </a:prstGeom>
        </p:spPr>
      </p:pic>
      <p:sp>
        <p:nvSpPr>
          <p:cNvPr id="67" name="Shape 63"/>
          <p:cNvSpPr/>
          <p:nvPr/>
        </p:nvSpPr>
        <p:spPr>
          <a:xfrm>
            <a:off x="3401568" y="2578608"/>
            <a:ext cx="548640" cy="548640"/>
          </a:xfrm>
          <a:prstGeom prst="ellipse">
            <a:avLst/>
          </a:prstGeom>
          <a:solidFill>
            <a:srgbClr val="FF4DB8"/>
          </a:solidFill>
          <a:ln w="12700">
            <a:solidFill>
              <a:srgbClr val="FF4DB8"/>
            </a:solidFill>
            <a:prstDash val="solid"/>
          </a:ln>
        </p:spPr>
      </p:sp>
      <p:sp>
        <p:nvSpPr>
          <p:cNvPr id="68" name="Text 64"/>
          <p:cNvSpPr/>
          <p:nvPr/>
        </p:nvSpPr>
        <p:spPr>
          <a:xfrm>
            <a:off x="340156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02</a:t>
            </a:r>
            <a:endParaRPr lang="en-US" sz="1800" dirty="0"/>
          </a:p>
        </p:txBody>
      </p:sp>
      <p:sp>
        <p:nvSpPr>
          <p:cNvPr id="69" name="Text 65"/>
          <p:cNvSpPr/>
          <p:nvPr/>
        </p:nvSpPr>
        <p:spPr>
          <a:xfrm>
            <a:off x="342900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「18時の壁」と締め切り時間</a:t>
            </a:r>
            <a:endParaRPr lang="en-US" sz="1500" dirty="0"/>
          </a:p>
        </p:txBody>
      </p:sp>
      <p:sp>
        <p:nvSpPr>
          <p:cNvPr id="70" name="Text 66"/>
          <p:cNvSpPr/>
          <p:nvPr/>
        </p:nvSpPr>
        <p:spPr>
          <a:xfrm>
            <a:off x="342900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知らないと損する</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時間管理の鉄則</a:t>
            </a:r>
            <a:endParaRPr lang="en-US" sz="1200" dirty="0"/>
          </a:p>
        </p:txBody>
      </p:sp>
      <p:sp>
        <p:nvSpPr>
          <p:cNvPr id="71" name="Shape 67"/>
          <p:cNvSpPr/>
          <p:nvPr/>
        </p:nvSpPr>
        <p:spPr>
          <a:xfrm>
            <a:off x="6126480" y="960120"/>
            <a:ext cx="2651760" cy="3749040"/>
          </a:xfrm>
          <a:prstGeom prst="roundRect">
            <a:avLst>
              <a:gd name="adj" fmla="val 3448"/>
            </a:avLst>
          </a:prstGeom>
          <a:solidFill>
            <a:srgbClr val="FFFFFF"/>
          </a:solidFill>
          <a:ln w="12700">
            <a:solidFill>
              <a:srgbClr val="E0E0E0"/>
            </a:solidFill>
            <a:prstDash val="solid"/>
          </a:ln>
          <a:effectLst>
            <a:outerShdw sx="100000" sy="100000" kx="0" ky="0" algn="bl" rotWithShape="0" blurRad="101600" dist="25400" dir="8100000">
              <a:srgbClr val="000000">
                <a:alpha val="8000"/>
              </a:srgbClr>
            </a:outerShdw>
          </a:effectLst>
        </p:spPr>
      </p:sp>
      <p:pic>
        <p:nvPicPr>
          <p:cNvPr id="72" name="Image 2" descr="C:\Users\長澤開\Downloads\pptx-editor\public\illustrations\lightbulb.png"/>
          <p:cNvPicPr>
            <a:picLocks noChangeAspect="1"/>
          </p:cNvPicPr>
          <p:nvPr/>
        </p:nvPicPr>
        <p:blipFill>
          <a:blip r:embed="rId3"/>
          <a:stretch>
            <a:fillRect/>
          </a:stretch>
        </p:blipFill>
        <p:spPr>
          <a:xfrm>
            <a:off x="6537960" y="1051560"/>
            <a:ext cx="1828800" cy="1417320"/>
          </a:xfrm>
          <a:prstGeom prst="rect">
            <a:avLst/>
          </a:prstGeom>
        </p:spPr>
      </p:pic>
      <p:sp>
        <p:nvSpPr>
          <p:cNvPr id="73" name="Shape 68"/>
          <p:cNvSpPr/>
          <p:nvPr/>
        </p:nvSpPr>
        <p:spPr>
          <a:xfrm>
            <a:off x="6236208" y="2578608"/>
            <a:ext cx="548640" cy="548640"/>
          </a:xfrm>
          <a:prstGeom prst="ellipse">
            <a:avLst/>
          </a:prstGeom>
          <a:solidFill>
            <a:srgbClr val="FF4DB8"/>
          </a:solidFill>
          <a:ln w="12700">
            <a:solidFill>
              <a:srgbClr val="FF4DB8"/>
            </a:solidFill>
            <a:prstDash val="solid"/>
          </a:ln>
        </p:spPr>
      </p:sp>
      <p:sp>
        <p:nvSpPr>
          <p:cNvPr id="74" name="Text 69"/>
          <p:cNvSpPr/>
          <p:nvPr/>
        </p:nvSpPr>
        <p:spPr>
          <a:xfrm>
            <a:off x="6236208" y="257860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Meiryo" pitchFamily="34" charset="0"/>
                <a:ea typeface="Meiryo" pitchFamily="34" charset="-122"/>
                <a:cs typeface="Meiryo" pitchFamily="34" charset="-120"/>
              </a:rPr>
              <a:t>03</a:t>
            </a:r>
            <a:endParaRPr lang="en-US" sz="1800" dirty="0"/>
          </a:p>
        </p:txBody>
      </p:sp>
      <p:sp>
        <p:nvSpPr>
          <p:cNvPr id="75" name="Text 70"/>
          <p:cNvSpPr/>
          <p:nvPr/>
        </p:nvSpPr>
        <p:spPr>
          <a:xfrm>
            <a:off x="6263640" y="3200400"/>
            <a:ext cx="2377440" cy="548640"/>
          </a:xfrm>
          <a:prstGeom prst="rect">
            <a:avLst/>
          </a:prstGeom>
          <a:noFill/>
          <a:ln/>
        </p:spPr>
        <p:txBody>
          <a:bodyPr wrap="square" rtlCol="0" anchor="ctr"/>
          <a:lstStyle/>
          <a:p>
            <a:pPr indent="0" marL="0">
              <a:buNone/>
            </a:pPr>
            <a:r>
              <a:rPr lang="en-US" sz="1500" b="1" dirty="0">
                <a:solidFill>
                  <a:srgbClr val="1A1A1A"/>
                </a:solidFill>
                <a:latin typeface="Meiryo" pitchFamily="34" charset="0"/>
                <a:ea typeface="Meiryo" pitchFamily="34" charset="-122"/>
                <a:cs typeface="Meiryo" pitchFamily="34" charset="-120"/>
              </a:rPr>
              <a:t>通知設定と即相談の重要性</a:t>
            </a:r>
            <a:endParaRPr lang="en-US" sz="1500" dirty="0"/>
          </a:p>
        </p:txBody>
      </p:sp>
      <p:sp>
        <p:nvSpPr>
          <p:cNvPr id="76" name="Text 71"/>
          <p:cNvSpPr/>
          <p:nvPr/>
        </p:nvSpPr>
        <p:spPr>
          <a:xfrm>
            <a:off x="6263640" y="3794760"/>
            <a:ext cx="2377440" cy="77724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信頼はレスポンスの</a:t>
            </a:r>
            <a:endParaRPr lang="en-US" sz="1200" dirty="0"/>
          </a:p>
          <a:p>
            <a:pPr indent="0" marL="0">
              <a:buNone/>
            </a:pPr>
            <a:r>
              <a:rPr lang="en-US" sz="1200" dirty="0">
                <a:solidFill>
                  <a:srgbClr val="555555"/>
                </a:solidFill>
                <a:latin typeface="Meiryo" pitchFamily="34" charset="0"/>
                <a:ea typeface="Meiryo" pitchFamily="34" charset="-122"/>
                <a:cs typeface="Meiryo" pitchFamily="34" charset="-120"/>
              </a:rPr>
              <a:t>速さから始まる</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9">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73075"/>
            <a:ext cx="8321040" cy="344729"/>
          </a:xfrm>
          <a:prstGeom prst="rect">
            <a:avLst/>
          </a:prstGeom>
          <a:solidFill>
            <a:srgbClr val="FFE455"/>
          </a:solidFill>
          <a:ln w="12700">
            <a:solidFill>
              <a:srgbClr val="FFE455"/>
            </a:solidFill>
            <a:prstDash val="solid"/>
          </a:ln>
        </p:spPr>
      </p:sp>
      <p:sp>
        <p:nvSpPr>
          <p:cNvPr id="58" name="Text 56"/>
          <p:cNvSpPr/>
          <p:nvPr/>
        </p:nvSpPr>
        <p:spPr>
          <a:xfrm>
            <a:off x="457200" y="182880"/>
            <a:ext cx="8229600" cy="594360"/>
          </a:xfrm>
          <a:prstGeom prst="rect">
            <a:avLst/>
          </a:prstGeom>
          <a:noFill/>
          <a:ln/>
        </p:spPr>
        <p:txBody>
          <a:bodyPr wrap="square" rtlCol="0" anchor="ctr"/>
          <a:lstStyle/>
          <a:p>
            <a:pPr indent="0" marL="0">
              <a:buNone/>
            </a:pPr>
            <a:r>
              <a:rPr lang="en-US" sz="2600" b="1" dirty="0">
                <a:solidFill>
                  <a:srgbClr val="1A1A1A"/>
                </a:solidFill>
                <a:latin typeface="Meiryo" pitchFamily="34" charset="0"/>
                <a:ea typeface="Meiryo" pitchFamily="34" charset="-122"/>
                <a:cs typeface="Meiryo" pitchFamily="34" charset="-120"/>
              </a:rPr>
              <a:t>コアタイム 10:00 〜 19:00</a:t>
            </a:r>
            <a:endParaRPr lang="en-US" sz="2600" dirty="0"/>
          </a:p>
        </p:txBody>
      </p:sp>
      <p:sp>
        <p:nvSpPr>
          <p:cNvPr id="59" name="Shape 57"/>
          <p:cNvSpPr/>
          <p:nvPr/>
        </p:nvSpPr>
        <p:spPr>
          <a:xfrm>
            <a:off x="457200" y="758952"/>
            <a:ext cx="8229600" cy="36576"/>
          </a:xfrm>
          <a:prstGeom prst="rect">
            <a:avLst/>
          </a:prstGeom>
          <a:solidFill>
            <a:srgbClr val="FFB3E0"/>
          </a:solidFill>
          <a:ln w="12700">
            <a:solidFill>
              <a:srgbClr val="FFB3E0"/>
            </a:solidFill>
            <a:prstDash val="solid"/>
          </a:ln>
        </p:spPr>
      </p:sp>
      <p:sp>
        <p:nvSpPr>
          <p:cNvPr id="60" name="Shape 58"/>
          <p:cNvSpPr/>
          <p:nvPr/>
        </p:nvSpPr>
        <p:spPr>
          <a:xfrm>
            <a:off x="36576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1" name="Shape 59"/>
          <p:cNvSpPr/>
          <p:nvPr/>
        </p:nvSpPr>
        <p:spPr>
          <a:xfrm>
            <a:off x="457200" y="1143000"/>
            <a:ext cx="548640" cy="411480"/>
          </a:xfrm>
          <a:prstGeom prst="roundRect">
            <a:avLst>
              <a:gd name="adj" fmla="val 15556"/>
            </a:avLst>
          </a:prstGeom>
          <a:solidFill>
            <a:srgbClr val="E63946"/>
          </a:solidFill>
          <a:ln w="12700">
            <a:solidFill>
              <a:srgbClr val="E63946"/>
            </a:solidFill>
            <a:prstDash val="solid"/>
          </a:ln>
        </p:spPr>
      </p:sp>
      <p:sp>
        <p:nvSpPr>
          <p:cNvPr id="62" name="Text 60"/>
          <p:cNvSpPr/>
          <p:nvPr/>
        </p:nvSpPr>
        <p:spPr>
          <a:xfrm>
            <a:off x="45720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63" name="Shape 61"/>
          <p:cNvSpPr/>
          <p:nvPr/>
        </p:nvSpPr>
        <p:spPr>
          <a:xfrm>
            <a:off x="3749040" y="1143000"/>
            <a:ext cx="685800" cy="365760"/>
          </a:xfrm>
          <a:prstGeom prst="roundRect">
            <a:avLst>
              <a:gd name="adj" fmla="val 12500"/>
            </a:avLst>
          </a:prstGeom>
          <a:solidFill>
            <a:srgbClr val="FFE6F3"/>
          </a:solidFill>
          <a:ln w="12700">
            <a:solidFill>
              <a:srgbClr val="FF4DB8"/>
            </a:solidFill>
            <a:prstDash val="solid"/>
          </a:ln>
        </p:spPr>
      </p:sp>
      <p:sp>
        <p:nvSpPr>
          <p:cNvPr id="64" name="Text 62"/>
          <p:cNvSpPr/>
          <p:nvPr/>
        </p:nvSpPr>
        <p:spPr>
          <a:xfrm>
            <a:off x="374904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65" name="Text 63"/>
          <p:cNvSpPr/>
          <p:nvPr/>
        </p:nvSpPr>
        <p:spPr>
          <a:xfrm>
            <a:off x="109728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コアタイム内は連絡が取れる状態にしておく（＝毎日確認が必須）</a:t>
            </a:r>
            <a:endParaRPr lang="en-US" sz="1300" dirty="0"/>
          </a:p>
        </p:txBody>
      </p:sp>
      <p:sp>
        <p:nvSpPr>
          <p:cNvPr id="66" name="Text 64"/>
          <p:cNvSpPr/>
          <p:nvPr/>
        </p:nvSpPr>
        <p:spPr>
          <a:xfrm>
            <a:off x="45720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67" name="Shape 65"/>
          <p:cNvSpPr/>
          <p:nvPr/>
        </p:nvSpPr>
        <p:spPr>
          <a:xfrm>
            <a:off x="4754880" y="100584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68" name="Shape 66"/>
          <p:cNvSpPr/>
          <p:nvPr/>
        </p:nvSpPr>
        <p:spPr>
          <a:xfrm>
            <a:off x="4846320" y="1143000"/>
            <a:ext cx="548640" cy="411480"/>
          </a:xfrm>
          <a:prstGeom prst="roundRect">
            <a:avLst>
              <a:gd name="adj" fmla="val 15556"/>
            </a:avLst>
          </a:prstGeom>
          <a:solidFill>
            <a:srgbClr val="E63946"/>
          </a:solidFill>
          <a:ln w="12700">
            <a:solidFill>
              <a:srgbClr val="E63946"/>
            </a:solidFill>
            <a:prstDash val="solid"/>
          </a:ln>
        </p:spPr>
      </p:sp>
      <p:sp>
        <p:nvSpPr>
          <p:cNvPr id="69" name="Text 67"/>
          <p:cNvSpPr/>
          <p:nvPr/>
        </p:nvSpPr>
        <p:spPr>
          <a:xfrm>
            <a:off x="4846320" y="114300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0" name="Shape 68"/>
          <p:cNvSpPr/>
          <p:nvPr/>
        </p:nvSpPr>
        <p:spPr>
          <a:xfrm>
            <a:off x="8138160" y="1143000"/>
            <a:ext cx="685800" cy="365760"/>
          </a:xfrm>
          <a:prstGeom prst="roundRect">
            <a:avLst>
              <a:gd name="adj" fmla="val 12500"/>
            </a:avLst>
          </a:prstGeom>
          <a:solidFill>
            <a:srgbClr val="FFE6F3"/>
          </a:solidFill>
          <a:ln w="12700">
            <a:solidFill>
              <a:srgbClr val="FF4DB8"/>
            </a:solidFill>
            <a:prstDash val="solid"/>
          </a:ln>
        </p:spPr>
      </p:sp>
      <p:sp>
        <p:nvSpPr>
          <p:cNvPr id="71" name="Text 69"/>
          <p:cNvSpPr/>
          <p:nvPr/>
        </p:nvSpPr>
        <p:spPr>
          <a:xfrm>
            <a:off x="8138160" y="114300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2" name="Text 70"/>
          <p:cNvSpPr/>
          <p:nvPr/>
        </p:nvSpPr>
        <p:spPr>
          <a:xfrm>
            <a:off x="5486400" y="117043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10:00〜19:00の間は基本的にメッセージを確認できる状態に</a:t>
            </a:r>
            <a:endParaRPr lang="en-US" sz="1300" dirty="0"/>
          </a:p>
        </p:txBody>
      </p:sp>
      <p:sp>
        <p:nvSpPr>
          <p:cNvPr id="73" name="Text 71"/>
          <p:cNvSpPr/>
          <p:nvPr/>
        </p:nvSpPr>
        <p:spPr>
          <a:xfrm>
            <a:off x="4846320" y="169164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74" name="Shape 72"/>
          <p:cNvSpPr/>
          <p:nvPr/>
        </p:nvSpPr>
        <p:spPr>
          <a:xfrm>
            <a:off x="36576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75" name="Shape 73"/>
          <p:cNvSpPr/>
          <p:nvPr/>
        </p:nvSpPr>
        <p:spPr>
          <a:xfrm>
            <a:off x="457200" y="3017520"/>
            <a:ext cx="548640" cy="411480"/>
          </a:xfrm>
          <a:prstGeom prst="roundRect">
            <a:avLst>
              <a:gd name="adj" fmla="val 15556"/>
            </a:avLst>
          </a:prstGeom>
          <a:solidFill>
            <a:srgbClr val="E63946"/>
          </a:solidFill>
          <a:ln w="12700">
            <a:solidFill>
              <a:srgbClr val="E63946"/>
            </a:solidFill>
            <a:prstDash val="solid"/>
          </a:ln>
        </p:spPr>
      </p:sp>
      <p:sp>
        <p:nvSpPr>
          <p:cNvPr id="76" name="Text 74"/>
          <p:cNvSpPr/>
          <p:nvPr/>
        </p:nvSpPr>
        <p:spPr>
          <a:xfrm>
            <a:off x="45720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77" name="Shape 75"/>
          <p:cNvSpPr/>
          <p:nvPr/>
        </p:nvSpPr>
        <p:spPr>
          <a:xfrm>
            <a:off x="3749040" y="3017520"/>
            <a:ext cx="685800" cy="365760"/>
          </a:xfrm>
          <a:prstGeom prst="roundRect">
            <a:avLst>
              <a:gd name="adj" fmla="val 12500"/>
            </a:avLst>
          </a:prstGeom>
          <a:solidFill>
            <a:srgbClr val="FFE6F3"/>
          </a:solidFill>
          <a:ln w="12700">
            <a:solidFill>
              <a:srgbClr val="FF4DB8"/>
            </a:solidFill>
            <a:prstDash val="solid"/>
          </a:ln>
        </p:spPr>
      </p:sp>
      <p:sp>
        <p:nvSpPr>
          <p:cNvPr id="78" name="Text 76"/>
          <p:cNvSpPr/>
          <p:nvPr/>
        </p:nvSpPr>
        <p:spPr>
          <a:xfrm>
            <a:off x="374904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79" name="Text 77"/>
          <p:cNvSpPr/>
          <p:nvPr/>
        </p:nvSpPr>
        <p:spPr>
          <a:xfrm>
            <a:off x="109728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夜間・早朝の連絡への回答は翌朝10時以降でOK（緊急は除く）</a:t>
            </a:r>
            <a:endParaRPr lang="en-US" sz="1300" dirty="0"/>
          </a:p>
        </p:txBody>
      </p:sp>
      <p:sp>
        <p:nvSpPr>
          <p:cNvPr id="80" name="Text 78"/>
          <p:cNvSpPr/>
          <p:nvPr/>
        </p:nvSpPr>
        <p:spPr>
          <a:xfrm>
            <a:off x="45720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
            </a:r>
            <a:endParaRPr lang="en-US" sz="1200" dirty="0"/>
          </a:p>
        </p:txBody>
      </p:sp>
      <p:sp>
        <p:nvSpPr>
          <p:cNvPr id="81" name="Shape 79"/>
          <p:cNvSpPr/>
          <p:nvPr/>
        </p:nvSpPr>
        <p:spPr>
          <a:xfrm>
            <a:off x="4754880" y="2880360"/>
            <a:ext cx="4160520" cy="1691640"/>
          </a:xfrm>
          <a:prstGeom prst="roundRect">
            <a:avLst>
              <a:gd name="adj" fmla="val 5405"/>
            </a:avLst>
          </a:prstGeom>
          <a:solidFill>
            <a:srgbClr val="FFF5F5"/>
          </a:solidFill>
          <a:ln w="12700">
            <a:solidFill>
              <a:srgbClr val="FFCCCC"/>
            </a:solidFill>
            <a:prstDash val="solid"/>
          </a:ln>
          <a:effectLst>
            <a:outerShdw sx="100000" sy="100000" kx="0" ky="0" algn="bl" rotWithShape="0" blurRad="63500" dist="12700" dir="8100000">
              <a:srgbClr val="000000">
                <a:alpha val="7000"/>
              </a:srgbClr>
            </a:outerShdw>
          </a:effectLst>
        </p:spPr>
      </p:sp>
      <p:sp>
        <p:nvSpPr>
          <p:cNvPr id="82" name="Shape 80"/>
          <p:cNvSpPr/>
          <p:nvPr/>
        </p:nvSpPr>
        <p:spPr>
          <a:xfrm>
            <a:off x="4846320" y="3017520"/>
            <a:ext cx="548640" cy="411480"/>
          </a:xfrm>
          <a:prstGeom prst="roundRect">
            <a:avLst>
              <a:gd name="adj" fmla="val 15556"/>
            </a:avLst>
          </a:prstGeom>
          <a:solidFill>
            <a:srgbClr val="E63946"/>
          </a:solidFill>
          <a:ln w="12700">
            <a:solidFill>
              <a:srgbClr val="E63946"/>
            </a:solidFill>
            <a:prstDash val="solid"/>
          </a:ln>
        </p:spPr>
      </p:sp>
      <p:sp>
        <p:nvSpPr>
          <p:cNvPr id="83" name="Text 81"/>
          <p:cNvSpPr/>
          <p:nvPr/>
        </p:nvSpPr>
        <p:spPr>
          <a:xfrm>
            <a:off x="4846320" y="3017520"/>
            <a:ext cx="548640" cy="4114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a:t>
            </a:r>
            <a:endParaRPr lang="en-US" sz="1300" dirty="0"/>
          </a:p>
        </p:txBody>
      </p:sp>
      <p:sp>
        <p:nvSpPr>
          <p:cNvPr id="84" name="Shape 82"/>
          <p:cNvSpPr/>
          <p:nvPr/>
        </p:nvSpPr>
        <p:spPr>
          <a:xfrm>
            <a:off x="8138160" y="3017520"/>
            <a:ext cx="685800" cy="365760"/>
          </a:xfrm>
          <a:prstGeom prst="roundRect">
            <a:avLst>
              <a:gd name="adj" fmla="val 12500"/>
            </a:avLst>
          </a:prstGeom>
          <a:solidFill>
            <a:srgbClr val="FFE6F3"/>
          </a:solidFill>
          <a:ln w="12700">
            <a:solidFill>
              <a:srgbClr val="FF4DB8"/>
            </a:solidFill>
            <a:prstDash val="solid"/>
          </a:ln>
        </p:spPr>
      </p:sp>
      <p:sp>
        <p:nvSpPr>
          <p:cNvPr id="85" name="Text 83"/>
          <p:cNvSpPr/>
          <p:nvPr/>
        </p:nvSpPr>
        <p:spPr>
          <a:xfrm>
            <a:off x="8138160" y="3017520"/>
            <a:ext cx="685800" cy="365760"/>
          </a:xfrm>
          <a:prstGeom prst="rect">
            <a:avLst/>
          </a:prstGeom>
          <a:noFill/>
          <a:ln/>
        </p:spPr>
        <p:txBody>
          <a:bodyPr wrap="square" rtlCol="0" anchor="ctr"/>
          <a:lstStyle/>
          <a:p>
            <a:pPr algn="ctr" indent="0" marL="0">
              <a:buNone/>
            </a:pPr>
            <a:r>
              <a:rPr lang="en-US" sz="1000" b="1" dirty="0">
                <a:solidFill>
                  <a:srgbClr val="FF4DB8"/>
                </a:solidFill>
                <a:latin typeface="Meiryo" pitchFamily="34" charset="0"/>
                <a:ea typeface="Meiryo" pitchFamily="34" charset="-122"/>
                <a:cs typeface="Meiryo" pitchFamily="34" charset="-120"/>
              </a:rPr>
              <a:t/>
            </a:r>
            <a:endParaRPr lang="en-US" sz="1000" dirty="0"/>
          </a:p>
        </p:txBody>
      </p:sp>
      <p:sp>
        <p:nvSpPr>
          <p:cNvPr id="86" name="Text 84"/>
          <p:cNvSpPr/>
          <p:nvPr/>
        </p:nvSpPr>
        <p:spPr>
          <a:xfrm>
            <a:off x="5486400" y="3044952"/>
            <a:ext cx="2606040" cy="457200"/>
          </a:xfrm>
          <a:prstGeom prst="rect">
            <a:avLst/>
          </a:prstGeom>
          <a:noFill/>
          <a:ln/>
        </p:spPr>
        <p:txBody>
          <a:bodyPr wrap="square" rtlCol="0" anchor="ctr"/>
          <a:lstStyle/>
          <a:p>
            <a:pPr indent="0" marL="0">
              <a:buNone/>
            </a:pPr>
            <a:r>
              <a:rPr lang="en-US" sz="1300" b="1" dirty="0">
                <a:solidFill>
                  <a:srgbClr val="E63946"/>
                </a:solidFill>
                <a:latin typeface="Meiryo" pitchFamily="34" charset="0"/>
                <a:ea typeface="Meiryo" pitchFamily="34" charset="-122"/>
                <a:cs typeface="Meiryo" pitchFamily="34" charset="-120"/>
              </a:rPr>
              <a:t>案件進行中は特に、コアタイム内の反応速度が信頼に直結する</a:t>
            </a:r>
            <a:endParaRPr lang="en-US" sz="1300" dirty="0"/>
          </a:p>
        </p:txBody>
      </p:sp>
      <p:sp>
        <p:nvSpPr>
          <p:cNvPr id="87" name="Text 85"/>
          <p:cNvSpPr/>
          <p:nvPr/>
        </p:nvSpPr>
        <p:spPr>
          <a:xfrm>
            <a:off x="4846320" y="3566160"/>
            <a:ext cx="3977640" cy="868680"/>
          </a:xfrm>
          <a:prstGeom prst="rect">
            <a:avLst/>
          </a:prstGeom>
          <a:noFill/>
          <a:ln/>
        </p:spPr>
        <p:txBody>
          <a:bodyPr wrap="square" rtlCol="0" anchor="ctr"/>
          <a:lstStyle/>
          <a:p>
            <a:pPr indent="0" marL="0">
              <a:buNone/>
            </a:pPr>
            <a:r>
              <a:rPr lang="en-US" sz="1200" dirty="0">
                <a:solidFill>
                  <a:srgbClr val="555555"/>
                </a:solidFill>
                <a:latin typeface="Meiryo" pitchFamily="34" charset="0"/>
                <a:ea typeface="Meiryo" pitchFamily="34" charset="-122"/>
                <a:cs typeface="Meiryo" pitchFamily="34" charset="-120"/>
              </a:rPr>
              <a:t>コアタイムは「絶対に仕事しなければいけない時間」ではなく「連絡が取れる時間帯」です</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73075"/>
            <a:ext cx="8321040" cy="344729"/>
          </a:xfrm>
          <a:prstGeom prst="rect">
            <a:avLst/>
          </a:prstGeom>
          <a:solidFill>
            <a:srgbClr val="FFE455"/>
          </a:solidFill>
          <a:ln w="12700">
            <a:solidFill>
              <a:srgbClr val="FFE455"/>
            </a:solidFill>
            <a:prstDash val="solid"/>
          </a:ln>
        </p:spPr>
      </p:sp>
      <p:sp>
        <p:nvSpPr>
          <p:cNvPr id="58" name="Text 56"/>
          <p:cNvSpPr/>
          <p:nvPr/>
        </p:nvSpPr>
        <p:spPr>
          <a:xfrm>
            <a:off x="457200" y="182880"/>
            <a:ext cx="8229600" cy="594360"/>
          </a:xfrm>
          <a:prstGeom prst="rect">
            <a:avLst/>
          </a:prstGeom>
          <a:noFill/>
          <a:ln/>
        </p:spPr>
        <p:txBody>
          <a:bodyPr wrap="square" rtlCol="0" anchor="ctr"/>
          <a:lstStyle/>
          <a:p>
            <a:pPr indent="0" marL="0">
              <a:buNone/>
            </a:pPr>
            <a:r>
              <a:rPr lang="en-US" sz="2200" b="1" dirty="0">
                <a:solidFill>
                  <a:srgbClr val="1A1A1A"/>
                </a:solidFill>
                <a:latin typeface="Meiryo" pitchFamily="34" charset="0"/>
                <a:ea typeface="Meiryo" pitchFamily="34" charset="-122"/>
                <a:cs typeface="Meiryo" pitchFamily="34" charset="-120"/>
              </a:rPr>
              <a:t>「18時の壁」を知っておこう</a:t>
            </a:r>
            <a:endParaRPr lang="en-US" sz="2200" dirty="0"/>
          </a:p>
        </p:txBody>
      </p:sp>
      <p:sp>
        <p:nvSpPr>
          <p:cNvPr id="59" name="Shape 57"/>
          <p:cNvSpPr/>
          <p:nvPr/>
        </p:nvSpPr>
        <p:spPr>
          <a:xfrm>
            <a:off x="457200" y="758952"/>
            <a:ext cx="8229600" cy="36576"/>
          </a:xfrm>
          <a:prstGeom prst="rect">
            <a:avLst/>
          </a:prstGeom>
          <a:solidFill>
            <a:srgbClr val="FFB3E0"/>
          </a:solidFill>
          <a:ln w="12700">
            <a:solidFill>
              <a:srgbClr val="FFB3E0"/>
            </a:solidFill>
            <a:prstDash val="solid"/>
          </a:ln>
        </p:spPr>
      </p:sp>
      <p:sp>
        <p:nvSpPr>
          <p:cNvPr id="60" name="Shape 58"/>
          <p:cNvSpPr/>
          <p:nvPr/>
        </p:nvSpPr>
        <p:spPr>
          <a:xfrm>
            <a:off x="365760" y="960120"/>
            <a:ext cx="3840480" cy="3749040"/>
          </a:xfrm>
          <a:prstGeom prst="roundRect">
            <a:avLst>
              <a:gd name="adj" fmla="val 2439"/>
            </a:avLst>
          </a:prstGeom>
          <a:solidFill>
            <a:srgbClr val="F9F9F9"/>
          </a:solidFill>
          <a:ln w="12700">
            <a:solidFill>
              <a:srgbClr val="DDDDDD"/>
            </a:solidFill>
            <a:prstDash val="solid"/>
          </a:ln>
        </p:spPr>
      </p:sp>
      <p:sp>
        <p:nvSpPr>
          <p:cNvPr id="61" name="Shape 59"/>
          <p:cNvSpPr/>
          <p:nvPr/>
        </p:nvSpPr>
        <p:spPr>
          <a:xfrm>
            <a:off x="365760" y="960120"/>
            <a:ext cx="3840480" cy="548640"/>
          </a:xfrm>
          <a:prstGeom prst="roundRect">
            <a:avLst>
              <a:gd name="adj" fmla="val 16667"/>
            </a:avLst>
          </a:prstGeom>
          <a:solidFill>
            <a:srgbClr val="CCCCCC"/>
          </a:solidFill>
          <a:ln w="12700">
            <a:solidFill>
              <a:srgbClr val="CCCCCC"/>
            </a:solidFill>
            <a:prstDash val="solid"/>
          </a:ln>
        </p:spPr>
      </p:sp>
      <p:sp>
        <p:nvSpPr>
          <p:cNvPr id="62" name="Text 60"/>
          <p:cNvSpPr/>
          <p:nvPr/>
        </p:nvSpPr>
        <p:spPr>
          <a:xfrm>
            <a:off x="365760" y="960120"/>
            <a:ext cx="3840480" cy="548640"/>
          </a:xfrm>
          <a:prstGeom prst="rect">
            <a:avLst/>
          </a:prstGeom>
          <a:noFill/>
          <a:ln/>
        </p:spPr>
        <p:txBody>
          <a:bodyPr wrap="square"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 危険なパターン</a:t>
            </a:r>
            <a:endParaRPr lang="en-US" sz="1700" dirty="0"/>
          </a:p>
        </p:txBody>
      </p:sp>
      <p:sp>
        <p:nvSpPr>
          <p:cNvPr id="63" name="Text 61"/>
          <p:cNvSpPr/>
          <p:nvPr/>
        </p:nvSpPr>
        <p:spPr>
          <a:xfrm>
            <a:off x="548640" y="1664208"/>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 18時ちょうどに確認メッセージを送る</a:t>
            </a:r>
            <a:endParaRPr lang="en-US" sz="1300" dirty="0"/>
          </a:p>
        </p:txBody>
      </p:sp>
      <p:sp>
        <p:nvSpPr>
          <p:cNvPr id="64" name="Text 62"/>
          <p:cNvSpPr/>
          <p:nvPr/>
        </p:nvSpPr>
        <p:spPr>
          <a:xfrm>
            <a:off x="548640" y="2322576"/>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 夜になってから「今日中」の作業を始める</a:t>
            </a:r>
            <a:endParaRPr lang="en-US" sz="1300" dirty="0"/>
          </a:p>
        </p:txBody>
      </p:sp>
      <p:sp>
        <p:nvSpPr>
          <p:cNvPr id="65" name="Text 63"/>
          <p:cNvSpPr/>
          <p:nvPr/>
        </p:nvSpPr>
        <p:spPr>
          <a:xfrm>
            <a:off x="548640" y="2980944"/>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 締め切りの日付だけ確認して時間を見ない</a:t>
            </a:r>
            <a:endParaRPr lang="en-US" sz="1300" dirty="0"/>
          </a:p>
        </p:txBody>
      </p:sp>
      <p:sp>
        <p:nvSpPr>
          <p:cNvPr id="66" name="Text 64"/>
          <p:cNvSpPr/>
          <p:nvPr/>
        </p:nvSpPr>
        <p:spPr>
          <a:xfrm>
            <a:off x="548640" y="3639312"/>
            <a:ext cx="3474720" cy="548640"/>
          </a:xfrm>
          <a:prstGeom prst="rect">
            <a:avLst/>
          </a:prstGeom>
          <a:noFill/>
          <a:ln/>
        </p:spPr>
        <p:txBody>
          <a:bodyPr wrap="square" rtlCol="0" anchor="ctr"/>
          <a:lstStyle/>
          <a:p>
            <a:pPr indent="0" marL="0">
              <a:buNone/>
            </a:pPr>
            <a:r>
              <a:rPr lang="en-US" sz="1300" dirty="0">
                <a:solidFill>
                  <a:srgbClr val="E63946"/>
                </a:solidFill>
                <a:latin typeface="Meiryo" pitchFamily="34" charset="0"/>
                <a:ea typeface="Meiryo" pitchFamily="34" charset="-122"/>
                <a:cs typeface="Meiryo" pitchFamily="34" charset="-120"/>
              </a:rPr>
              <a:t/>
            </a:r>
            <a:endParaRPr lang="en-US" sz="1300" dirty="0"/>
          </a:p>
        </p:txBody>
      </p:sp>
      <p:sp>
        <p:nvSpPr>
          <p:cNvPr id="67" name="Shape 65"/>
          <p:cNvSpPr/>
          <p:nvPr/>
        </p:nvSpPr>
        <p:spPr>
          <a:xfrm>
            <a:off x="4251960" y="2286000"/>
            <a:ext cx="640080" cy="640080"/>
          </a:xfrm>
          <a:prstGeom prst="ellipse">
            <a:avLst/>
          </a:prstGeom>
          <a:solidFill>
            <a:srgbClr val="FF4DB8"/>
          </a:solidFill>
          <a:ln w="12700">
            <a:solidFill>
              <a:srgbClr val="FF4DB8"/>
            </a:solidFill>
            <a:prstDash val="solid"/>
          </a:ln>
        </p:spPr>
      </p:sp>
      <p:sp>
        <p:nvSpPr>
          <p:cNvPr id="68" name="Text 66"/>
          <p:cNvSpPr/>
          <p:nvPr/>
        </p:nvSpPr>
        <p:spPr>
          <a:xfrm>
            <a:off x="4251960" y="2313432"/>
            <a:ext cx="640080" cy="640080"/>
          </a:xfrm>
          <a:prstGeom prst="rect">
            <a:avLst/>
          </a:prstGeom>
          <a:noFill/>
          <a:ln/>
        </p:spPr>
        <p:txBody>
          <a:bodyPr wrap="square"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VS</a:t>
            </a:r>
            <a:endParaRPr lang="en-US" sz="1300" dirty="0"/>
          </a:p>
        </p:txBody>
      </p:sp>
      <p:sp>
        <p:nvSpPr>
          <p:cNvPr id="69" name="Shape 67"/>
          <p:cNvSpPr/>
          <p:nvPr/>
        </p:nvSpPr>
        <p:spPr>
          <a:xfrm>
            <a:off x="4937760" y="960120"/>
            <a:ext cx="3840480" cy="3749040"/>
          </a:xfrm>
          <a:prstGeom prst="roundRect">
            <a:avLst>
              <a:gd name="adj" fmla="val 2439"/>
            </a:avLst>
          </a:prstGeom>
          <a:solidFill>
            <a:srgbClr val="FFF5FB"/>
          </a:solidFill>
          <a:ln w="19050">
            <a:solidFill>
              <a:srgbClr val="FF4DB8"/>
            </a:solidFill>
            <a:prstDash val="solid"/>
          </a:ln>
        </p:spPr>
      </p:sp>
      <p:sp>
        <p:nvSpPr>
          <p:cNvPr id="70" name="Shape 68"/>
          <p:cNvSpPr/>
          <p:nvPr/>
        </p:nvSpPr>
        <p:spPr>
          <a:xfrm>
            <a:off x="4937760" y="960120"/>
            <a:ext cx="3840480" cy="548640"/>
          </a:xfrm>
          <a:prstGeom prst="roundRect">
            <a:avLst>
              <a:gd name="adj" fmla="val 16667"/>
            </a:avLst>
          </a:prstGeom>
          <a:solidFill>
            <a:srgbClr val="FF4DB8"/>
          </a:solidFill>
          <a:ln w="12700">
            <a:solidFill>
              <a:srgbClr val="FF4DB8"/>
            </a:solidFill>
            <a:prstDash val="solid"/>
          </a:ln>
        </p:spPr>
      </p:sp>
      <p:sp>
        <p:nvSpPr>
          <p:cNvPr id="71" name="Text 69"/>
          <p:cNvSpPr/>
          <p:nvPr/>
        </p:nvSpPr>
        <p:spPr>
          <a:xfrm>
            <a:off x="4937760" y="960120"/>
            <a:ext cx="3840480" cy="548640"/>
          </a:xfrm>
          <a:prstGeom prst="rect">
            <a:avLst/>
          </a:prstGeom>
          <a:noFill/>
          <a:ln/>
        </p:spPr>
        <p:txBody>
          <a:bodyPr wrap="square"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 安全なパターン</a:t>
            </a:r>
            <a:endParaRPr lang="en-US" sz="1700" dirty="0"/>
          </a:p>
        </p:txBody>
      </p:sp>
      <p:sp>
        <p:nvSpPr>
          <p:cNvPr id="72" name="Text 70"/>
          <p:cNvSpPr/>
          <p:nvPr/>
        </p:nvSpPr>
        <p:spPr>
          <a:xfrm>
            <a:off x="5120640" y="1664208"/>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 17時までに確認事項をすべて送る</a:t>
            </a:r>
            <a:endParaRPr lang="en-US" sz="1300" dirty="0"/>
          </a:p>
        </p:txBody>
      </p:sp>
      <p:sp>
        <p:nvSpPr>
          <p:cNvPr id="73" name="Text 71"/>
          <p:cNvSpPr/>
          <p:nvPr/>
        </p:nvSpPr>
        <p:spPr>
          <a:xfrm>
            <a:off x="5120640" y="2322576"/>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 締め切りは「日付＋時間」で確認する</a:t>
            </a:r>
            <a:endParaRPr lang="en-US" sz="1300" dirty="0"/>
          </a:p>
        </p:txBody>
      </p:sp>
      <p:sp>
        <p:nvSpPr>
          <p:cNvPr id="74" name="Text 72"/>
          <p:cNvSpPr/>
          <p:nvPr/>
        </p:nvSpPr>
        <p:spPr>
          <a:xfrm>
            <a:off x="5120640" y="2980944"/>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 前日までに疑問点をつぶしておく</a:t>
            </a:r>
            <a:endParaRPr lang="en-US" sz="1300" dirty="0"/>
          </a:p>
        </p:txBody>
      </p:sp>
      <p:sp>
        <p:nvSpPr>
          <p:cNvPr id="75" name="Text 73"/>
          <p:cNvSpPr/>
          <p:nvPr/>
        </p:nvSpPr>
        <p:spPr>
          <a:xfrm>
            <a:off x="5120640" y="3639312"/>
            <a:ext cx="3474720" cy="548640"/>
          </a:xfrm>
          <a:prstGeom prst="rect">
            <a:avLst/>
          </a:prstGeom>
          <a:noFill/>
          <a:ln/>
        </p:spPr>
        <p:txBody>
          <a:bodyPr wrap="square" rtlCol="0" anchor="ctr"/>
          <a:lstStyle/>
          <a:p>
            <a:pPr indent="0" marL="0">
              <a:buNone/>
            </a:pPr>
            <a:r>
              <a:rPr lang="en-US" sz="1300" b="1" dirty="0">
                <a:solidFill>
                  <a:srgbClr val="2A9D8F"/>
                </a:solidFill>
                <a:latin typeface="Meiryo" pitchFamily="34" charset="0"/>
                <a:ea typeface="Meiryo" pitchFamily="34" charset="-122"/>
                <a:cs typeface="Meiryo" pitchFamily="34" charset="-120"/>
              </a:rPr>
              <a:t/>
            </a:r>
            <a:endParaRPr lang="en-US" sz="1300" dirty="0"/>
          </a:p>
        </p:txBody>
      </p:sp>
      <p:pic>
        <p:nvPicPr>
          <p:cNvPr id="76" name="Image 0" descr="C:\Users\長澤開\Downloads\pptx-editor\public\illustrations\trophy-badge.svg"/>
          <p:cNvPicPr>
            <a:picLocks noChangeAspect="1"/>
          </p:cNvPicPr>
          <p:nvPr/>
        </p:nvPicPr>
        <p:blipFill>
          <a:blip r:embed="rId1">
            <a:alphaModFix amt="90000"/>
            <a:extLst>
              <a:ext uri="{96DAC541-7B7A-43D3-8B79-37D633B846F1}">
                <asvg:svgBlip xmlns:asvg="http://schemas.microsoft.com/office/drawing/2016/SVG/main" r:embed="rId2"/>
              </a:ext>
            </a:extLst>
          </a:blip>
          <a:stretch>
            <a:fillRect/>
          </a:stretch>
        </p:blipFill>
        <p:spPr>
          <a:xfrm>
            <a:off x="6492240" y="4160520"/>
            <a:ext cx="1371600" cy="9144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8">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411480" y="312725"/>
            <a:ext cx="8321040" cy="318211"/>
          </a:xfrm>
          <a:prstGeom prst="rect">
            <a:avLst/>
          </a:prstGeom>
          <a:solidFill>
            <a:srgbClr val="FFE455"/>
          </a:solidFill>
          <a:ln w="12700">
            <a:solidFill>
              <a:srgbClr val="FFE455"/>
            </a:solidFill>
            <a:prstDash val="solid"/>
          </a:ln>
        </p:spPr>
      </p:sp>
      <p:sp>
        <p:nvSpPr>
          <p:cNvPr id="58" name="Text 56"/>
          <p:cNvSpPr/>
          <p:nvPr/>
        </p:nvSpPr>
        <p:spPr>
          <a:xfrm>
            <a:off x="457200" y="137160"/>
            <a:ext cx="8229600" cy="548640"/>
          </a:xfrm>
          <a:prstGeom prst="rect">
            <a:avLst/>
          </a:prstGeom>
          <a:noFill/>
          <a:ln/>
        </p:spPr>
        <p:txBody>
          <a:bodyPr wrap="square" rtlCol="0" anchor="ctr"/>
          <a:lstStyle/>
          <a:p>
            <a:pPr indent="0" marL="0">
              <a:buNone/>
            </a:pPr>
            <a:r>
              <a:rPr lang="en-US" sz="2600" b="1" dirty="0">
                <a:solidFill>
                  <a:srgbClr val="1A1A1A"/>
                </a:solidFill>
                <a:latin typeface="Meiryo" pitchFamily="34" charset="0"/>
                <a:ea typeface="Meiryo" pitchFamily="34" charset="-122"/>
                <a:cs typeface="Meiryo" pitchFamily="34" charset="-120"/>
              </a:rPr>
              <a:t>通知はON・迷ったら即相談</a:t>
            </a:r>
            <a:endParaRPr lang="en-US" sz="2600" dirty="0"/>
          </a:p>
        </p:txBody>
      </p:sp>
      <p:sp>
        <p:nvSpPr>
          <p:cNvPr id="59" name="Shape 57"/>
          <p:cNvSpPr/>
          <p:nvPr/>
        </p:nvSpPr>
        <p:spPr>
          <a:xfrm>
            <a:off x="457200" y="667512"/>
            <a:ext cx="8229600" cy="36576"/>
          </a:xfrm>
          <a:prstGeom prst="rect">
            <a:avLst/>
          </a:prstGeom>
          <a:solidFill>
            <a:srgbClr val="FFB3E0"/>
          </a:solidFill>
          <a:ln w="12700">
            <a:solidFill>
              <a:srgbClr val="FFB3E0"/>
            </a:solidFill>
            <a:prstDash val="solid"/>
          </a:ln>
        </p:spPr>
      </p:sp>
      <p:sp>
        <p:nvSpPr>
          <p:cNvPr id="60" name="Text 58"/>
          <p:cNvSpPr/>
          <p:nvPr/>
        </p:nvSpPr>
        <p:spPr>
          <a:xfrm>
            <a:off x="457200" y="713232"/>
            <a:ext cx="8229600" cy="292608"/>
          </a:xfrm>
          <a:prstGeom prst="rect">
            <a:avLst/>
          </a:prstGeom>
          <a:noFill/>
          <a:ln/>
        </p:spPr>
        <p:txBody>
          <a:bodyPr wrap="square" rtlCol="0" anchor="ctr"/>
          <a:lstStyle/>
          <a:p>
            <a:pPr indent="0" marL="0">
              <a:buNone/>
            </a:pPr>
            <a:r>
              <a:rPr lang="en-US" sz="1300" dirty="0">
                <a:solidFill>
                  <a:srgbClr val="555555"/>
                </a:solidFill>
                <a:latin typeface="Meiryo" pitchFamily="34" charset="0"/>
                <a:ea typeface="Meiryo" pitchFamily="34" charset="-122"/>
                <a:cs typeface="Meiryo" pitchFamily="34" charset="-120"/>
              </a:rPr>
              <a:t>プロとしてのコミュニケーション術</a:t>
            </a:r>
            <a:endParaRPr lang="en-US" sz="1300" dirty="0"/>
          </a:p>
        </p:txBody>
      </p:sp>
      <p:sp>
        <p:nvSpPr>
          <p:cNvPr id="61" name="Shape 59"/>
          <p:cNvSpPr/>
          <p:nvPr/>
        </p:nvSpPr>
        <p:spPr>
          <a:xfrm>
            <a:off x="365760" y="1097280"/>
            <a:ext cx="4206240" cy="347472"/>
          </a:xfrm>
          <a:prstGeom prst="roundRect">
            <a:avLst>
              <a:gd name="adj" fmla="val 18421"/>
            </a:avLst>
          </a:prstGeom>
          <a:solidFill>
            <a:srgbClr val="2A9D8F"/>
          </a:solidFill>
          <a:ln w="12700">
            <a:solidFill>
              <a:srgbClr val="2A9D8F"/>
            </a:solidFill>
            <a:prstDash val="solid"/>
          </a:ln>
        </p:spPr>
      </p:sp>
      <p:sp>
        <p:nvSpPr>
          <p:cNvPr id="62" name="Text 60"/>
          <p:cNvSpPr/>
          <p:nvPr/>
        </p:nvSpPr>
        <p:spPr>
          <a:xfrm>
            <a:off x="365760" y="1097280"/>
            <a:ext cx="4206240" cy="347472"/>
          </a:xfrm>
          <a:prstGeom prst="rect">
            <a:avLst/>
          </a:prstGeom>
          <a:noFill/>
          <a:ln/>
        </p:spPr>
        <p:txBody>
          <a:bodyPr wrap="square"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 守ること</a:t>
            </a:r>
            <a:endParaRPr lang="en-US" sz="1200" dirty="0"/>
          </a:p>
        </p:txBody>
      </p:sp>
      <p:sp>
        <p:nvSpPr>
          <p:cNvPr id="63" name="Shape 61"/>
          <p:cNvSpPr/>
          <p:nvPr/>
        </p:nvSpPr>
        <p:spPr>
          <a:xfrm>
            <a:off x="365760" y="1490472"/>
            <a:ext cx="4206240" cy="429768"/>
          </a:xfrm>
          <a:prstGeom prst="rect">
            <a:avLst/>
          </a:prstGeom>
          <a:solidFill>
            <a:srgbClr val="FFFFFF"/>
          </a:solidFill>
          <a:ln w="6350">
            <a:solidFill>
              <a:srgbClr val="C8E6C9"/>
            </a:solidFill>
            <a:prstDash val="solid"/>
          </a:ln>
        </p:spPr>
      </p:sp>
      <p:sp>
        <p:nvSpPr>
          <p:cNvPr id="64" name="Text 62"/>
          <p:cNvSpPr/>
          <p:nvPr/>
        </p:nvSpPr>
        <p:spPr>
          <a:xfrm>
            <a:off x="475488" y="1499616"/>
            <a:ext cx="3977640" cy="402336"/>
          </a:xfrm>
          <a:prstGeom prst="rect">
            <a:avLst/>
          </a:prstGeom>
          <a:noFill/>
          <a:ln/>
        </p:spPr>
        <p:txBody>
          <a:bodyPr wrap="square" rtlCol="0" anchor="ctr"/>
          <a:lstStyle/>
          <a:p>
            <a:pPr indent="0" marL="0">
              <a:buNone/>
            </a:pPr>
            <a:r>
              <a:rPr lang="en-US" sz="1000" dirty="0">
                <a:solidFill>
                  <a:srgbClr val="1A1A1A"/>
                </a:solidFill>
                <a:latin typeface="Meiryo" pitchFamily="34" charset="0"/>
                <a:ea typeface="Meiryo" pitchFamily="34" charset="-122"/>
                <a:cs typeface="Meiryo" pitchFamily="34" charset="-120"/>
              </a:rPr>
              <a:t>✓  案件進行中は連絡ツール（LINE・メール等）の通知をOFFにしない</a:t>
            </a:r>
            <a:endParaRPr lang="en-US" sz="1000" dirty="0"/>
          </a:p>
        </p:txBody>
      </p:sp>
      <p:sp>
        <p:nvSpPr>
          <p:cNvPr id="65" name="Shape 63"/>
          <p:cNvSpPr/>
          <p:nvPr/>
        </p:nvSpPr>
        <p:spPr>
          <a:xfrm>
            <a:off x="365760" y="1965960"/>
            <a:ext cx="4206240" cy="429768"/>
          </a:xfrm>
          <a:prstGeom prst="rect">
            <a:avLst/>
          </a:prstGeom>
          <a:solidFill>
            <a:srgbClr val="F5FFF7"/>
          </a:solidFill>
          <a:ln w="6350">
            <a:solidFill>
              <a:srgbClr val="C8E6C9"/>
            </a:solidFill>
            <a:prstDash val="solid"/>
          </a:ln>
        </p:spPr>
      </p:sp>
      <p:sp>
        <p:nvSpPr>
          <p:cNvPr id="66" name="Text 64"/>
          <p:cNvSpPr/>
          <p:nvPr/>
        </p:nvSpPr>
        <p:spPr>
          <a:xfrm>
            <a:off x="475488" y="1975104"/>
            <a:ext cx="3977640" cy="402336"/>
          </a:xfrm>
          <a:prstGeom prst="rect">
            <a:avLst/>
          </a:prstGeom>
          <a:noFill/>
          <a:ln/>
        </p:spPr>
        <p:txBody>
          <a:bodyPr wrap="square" rtlCol="0" anchor="ctr"/>
          <a:lstStyle/>
          <a:p>
            <a:pPr indent="0" marL="0">
              <a:buNone/>
            </a:pPr>
            <a:r>
              <a:rPr lang="en-US" sz="1000" dirty="0">
                <a:solidFill>
                  <a:srgbClr val="1A1A1A"/>
                </a:solidFill>
                <a:latin typeface="Meiryo" pitchFamily="34" charset="0"/>
                <a:ea typeface="Meiryo" pitchFamily="34" charset="-122"/>
                <a:cs typeface="Meiryo" pitchFamily="34" charset="-120"/>
              </a:rPr>
              <a:t>✓  わからない・迷ったら、勝手に進めずまず担当者に相談する</a:t>
            </a:r>
            <a:endParaRPr lang="en-US" sz="1000" dirty="0"/>
          </a:p>
        </p:txBody>
      </p:sp>
      <p:sp>
        <p:nvSpPr>
          <p:cNvPr id="67" name="Shape 65"/>
          <p:cNvSpPr/>
          <p:nvPr/>
        </p:nvSpPr>
        <p:spPr>
          <a:xfrm>
            <a:off x="365760" y="2441448"/>
            <a:ext cx="4206240" cy="429768"/>
          </a:xfrm>
          <a:prstGeom prst="rect">
            <a:avLst/>
          </a:prstGeom>
          <a:solidFill>
            <a:srgbClr val="FFFFFF"/>
          </a:solidFill>
          <a:ln w="6350">
            <a:solidFill>
              <a:srgbClr val="C8E6C9"/>
            </a:solidFill>
            <a:prstDash val="solid"/>
          </a:ln>
        </p:spPr>
      </p:sp>
      <p:sp>
        <p:nvSpPr>
          <p:cNvPr id="68" name="Text 66"/>
          <p:cNvSpPr/>
          <p:nvPr/>
        </p:nvSpPr>
        <p:spPr>
          <a:xfrm>
            <a:off x="475488" y="2450592"/>
            <a:ext cx="3977640" cy="402336"/>
          </a:xfrm>
          <a:prstGeom prst="rect">
            <a:avLst/>
          </a:prstGeom>
          <a:noFill/>
          <a:ln/>
        </p:spPr>
        <p:txBody>
          <a:bodyPr wrap="square" rtlCol="0" anchor="ctr"/>
          <a:lstStyle/>
          <a:p>
            <a:pPr indent="0" marL="0">
              <a:buNone/>
            </a:pPr>
            <a:r>
              <a:rPr lang="en-US" sz="1000" dirty="0">
                <a:solidFill>
                  <a:srgbClr val="1A1A1A"/>
                </a:solidFill>
                <a:latin typeface="Meiryo" pitchFamily="34" charset="0"/>
                <a:ea typeface="Meiryo" pitchFamily="34" charset="-122"/>
                <a:cs typeface="Meiryo" pitchFamily="34" charset="-120"/>
              </a:rPr>
              <a:t>✓  急な依頼や変更が発生することがある→気づかないと全員が止まる</a:t>
            </a:r>
            <a:endParaRPr lang="en-US" sz="1000" dirty="0"/>
          </a:p>
        </p:txBody>
      </p:sp>
      <p:sp>
        <p:nvSpPr>
          <p:cNvPr id="69" name="Shape 67"/>
          <p:cNvSpPr/>
          <p:nvPr/>
        </p:nvSpPr>
        <p:spPr>
          <a:xfrm>
            <a:off x="365760" y="2916936"/>
            <a:ext cx="4206240" cy="429768"/>
          </a:xfrm>
          <a:prstGeom prst="rect">
            <a:avLst/>
          </a:prstGeom>
          <a:solidFill>
            <a:srgbClr val="F5FFF7"/>
          </a:solidFill>
          <a:ln w="6350">
            <a:solidFill>
              <a:srgbClr val="C8E6C9"/>
            </a:solidFill>
            <a:prstDash val="solid"/>
          </a:ln>
        </p:spPr>
      </p:sp>
      <p:sp>
        <p:nvSpPr>
          <p:cNvPr id="70" name="Text 68"/>
          <p:cNvSpPr/>
          <p:nvPr/>
        </p:nvSpPr>
        <p:spPr>
          <a:xfrm>
            <a:off x="475488" y="2926080"/>
            <a:ext cx="3977640" cy="402336"/>
          </a:xfrm>
          <a:prstGeom prst="rect">
            <a:avLst/>
          </a:prstGeom>
          <a:noFill/>
          <a:ln/>
        </p:spPr>
        <p:txBody>
          <a:bodyPr wrap="square" rtlCol="0" anchor="ctr"/>
          <a:lstStyle/>
          <a:p>
            <a:pPr indent="0" marL="0">
              <a:buNone/>
            </a:pPr>
            <a:r>
              <a:rPr lang="en-US" sz="1000" dirty="0">
                <a:solidFill>
                  <a:srgbClr val="1A1A1A"/>
                </a:solidFill>
                <a:latin typeface="Meiryo" pitchFamily="34" charset="0"/>
                <a:ea typeface="Meiryo" pitchFamily="34" charset="-122"/>
                <a:cs typeface="Meiryo" pitchFamily="34" charset="-120"/>
              </a:rPr>
              <a:t>✓  ミスしたら隠さずすぐ報告（早期報告がダメージを最小化する）</a:t>
            </a:r>
            <a:endParaRPr lang="en-US" sz="1000" dirty="0"/>
          </a:p>
        </p:txBody>
      </p:sp>
      <p:sp>
        <p:nvSpPr>
          <p:cNvPr id="71" name="Shape 69"/>
          <p:cNvSpPr/>
          <p:nvPr/>
        </p:nvSpPr>
        <p:spPr>
          <a:xfrm>
            <a:off x="4754880" y="1097280"/>
            <a:ext cx="4023360" cy="347472"/>
          </a:xfrm>
          <a:prstGeom prst="roundRect">
            <a:avLst>
              <a:gd name="adj" fmla="val 18421"/>
            </a:avLst>
          </a:prstGeom>
          <a:solidFill>
            <a:srgbClr val="E63946"/>
          </a:solidFill>
          <a:ln w="12700">
            <a:solidFill>
              <a:srgbClr val="E63946"/>
            </a:solidFill>
            <a:prstDash val="solid"/>
          </a:ln>
        </p:spPr>
      </p:sp>
      <p:sp>
        <p:nvSpPr>
          <p:cNvPr id="72" name="Text 70"/>
          <p:cNvSpPr/>
          <p:nvPr/>
        </p:nvSpPr>
        <p:spPr>
          <a:xfrm>
            <a:off x="4754880" y="1097280"/>
            <a:ext cx="4023360" cy="347472"/>
          </a:xfrm>
          <a:prstGeom prst="rect">
            <a:avLst/>
          </a:prstGeom>
          <a:noFill/>
          <a:ln/>
        </p:spPr>
        <p:txBody>
          <a:bodyPr wrap="square" rtlCol="0" anchor="ctr"/>
          <a:lstStyle/>
          <a:p>
            <a:pPr algn="ctr" indent="0" marL="0">
              <a:buNone/>
            </a:pPr>
            <a:r>
              <a:rPr lang="en-US" sz="1200" b="1" dirty="0">
                <a:solidFill>
                  <a:srgbClr val="FFFFFF"/>
                </a:solidFill>
                <a:latin typeface="Meiryo" pitchFamily="34" charset="0"/>
                <a:ea typeface="Meiryo" pitchFamily="34" charset="-122"/>
                <a:cs typeface="Meiryo" pitchFamily="34" charset="-120"/>
              </a:rPr>
              <a:t>⚠️ 鉄則</a:t>
            </a:r>
            <a:endParaRPr lang="en-US" sz="1200" dirty="0"/>
          </a:p>
        </p:txBody>
      </p:sp>
      <p:sp>
        <p:nvSpPr>
          <p:cNvPr id="73" name="Shape 71"/>
          <p:cNvSpPr/>
          <p:nvPr/>
        </p:nvSpPr>
        <p:spPr>
          <a:xfrm>
            <a:off x="4754880" y="1490472"/>
            <a:ext cx="4023360" cy="429768"/>
          </a:xfrm>
          <a:prstGeom prst="rect">
            <a:avLst/>
          </a:prstGeom>
          <a:solidFill>
            <a:srgbClr val="FFFFFF"/>
          </a:solidFill>
          <a:ln w="6350">
            <a:solidFill>
              <a:srgbClr val="FFCCCC"/>
            </a:solidFill>
            <a:prstDash val="solid"/>
          </a:ln>
        </p:spPr>
      </p:sp>
      <p:sp>
        <p:nvSpPr>
          <p:cNvPr id="74" name="Text 72"/>
          <p:cNvSpPr/>
          <p:nvPr/>
        </p:nvSpPr>
        <p:spPr>
          <a:xfrm>
            <a:off x="4864608" y="1499616"/>
            <a:ext cx="3822192" cy="402336"/>
          </a:xfrm>
          <a:prstGeom prst="rect">
            <a:avLst/>
          </a:prstGeom>
          <a:noFill/>
          <a:ln/>
        </p:spPr>
        <p:txBody>
          <a:bodyPr wrap="square" rtlCol="0" anchor="ctr"/>
          <a:lstStyle/>
          <a:p>
            <a:pPr indent="0" marL="0">
              <a:buNone/>
            </a:pPr>
            <a:r>
              <a:rPr lang="en-US" sz="1000" dirty="0">
                <a:solidFill>
                  <a:srgbClr val="E63946"/>
                </a:solidFill>
                <a:latin typeface="Meiryo" pitchFamily="34" charset="0"/>
                <a:ea typeface="Meiryo" pitchFamily="34" charset="-122"/>
                <a:cs typeface="Meiryo" pitchFamily="34" charset="-120"/>
              </a:rPr>
              <a:t>⚠️ 「迷ったら即相談」がトラブルを最小限にするコミュニケーション術</a:t>
            </a:r>
            <a:endParaRPr lang="en-US" sz="1000" dirty="0"/>
          </a:p>
        </p:txBody>
      </p:sp>
      <p:sp>
        <p:nvSpPr>
          <p:cNvPr id="75" name="Shape 73"/>
          <p:cNvSpPr/>
          <p:nvPr/>
        </p:nvSpPr>
        <p:spPr>
          <a:xfrm>
            <a:off x="4754880" y="1965960"/>
            <a:ext cx="4023360" cy="429768"/>
          </a:xfrm>
          <a:prstGeom prst="rect">
            <a:avLst/>
          </a:prstGeom>
          <a:solidFill>
            <a:srgbClr val="FFF5F5"/>
          </a:solidFill>
          <a:ln w="6350">
            <a:solidFill>
              <a:srgbClr val="FFCCCC"/>
            </a:solidFill>
            <a:prstDash val="solid"/>
          </a:ln>
        </p:spPr>
      </p:sp>
      <p:sp>
        <p:nvSpPr>
          <p:cNvPr id="76" name="Text 74"/>
          <p:cNvSpPr/>
          <p:nvPr/>
        </p:nvSpPr>
        <p:spPr>
          <a:xfrm>
            <a:off x="4864608" y="1975104"/>
            <a:ext cx="3822192" cy="402336"/>
          </a:xfrm>
          <a:prstGeom prst="rect">
            <a:avLst/>
          </a:prstGeom>
          <a:noFill/>
          <a:ln/>
        </p:spPr>
        <p:txBody>
          <a:bodyPr wrap="square" rtlCol="0" anchor="ctr"/>
          <a:lstStyle/>
          <a:p>
            <a:pPr indent="0" marL="0">
              <a:buNone/>
            </a:pPr>
            <a:r>
              <a:rPr lang="en-US" sz="1000" dirty="0">
                <a:solidFill>
                  <a:srgbClr val="E63946"/>
                </a:solidFill>
                <a:latin typeface="Meiryo" pitchFamily="34" charset="0"/>
                <a:ea typeface="Meiryo" pitchFamily="34" charset="-122"/>
                <a:cs typeface="Meiryo" pitchFamily="34" charset="-120"/>
              </a:rPr>
              <a:t/>
            </a:r>
            <a:endParaRPr lang="en-US" sz="1000" dirty="0"/>
          </a:p>
        </p:txBody>
      </p:sp>
      <p:sp>
        <p:nvSpPr>
          <p:cNvPr id="77" name="Shape 75"/>
          <p:cNvSpPr/>
          <p:nvPr/>
        </p:nvSpPr>
        <p:spPr>
          <a:xfrm>
            <a:off x="4754880" y="2441448"/>
            <a:ext cx="4023360" cy="429768"/>
          </a:xfrm>
          <a:prstGeom prst="rect">
            <a:avLst/>
          </a:prstGeom>
          <a:solidFill>
            <a:srgbClr val="FFFFFF"/>
          </a:solidFill>
          <a:ln w="6350">
            <a:solidFill>
              <a:srgbClr val="FFCCCC"/>
            </a:solidFill>
            <a:prstDash val="solid"/>
          </a:ln>
        </p:spPr>
      </p:sp>
      <p:sp>
        <p:nvSpPr>
          <p:cNvPr id="78" name="Text 76"/>
          <p:cNvSpPr/>
          <p:nvPr/>
        </p:nvSpPr>
        <p:spPr>
          <a:xfrm>
            <a:off x="4864608" y="2450592"/>
            <a:ext cx="3822192" cy="402336"/>
          </a:xfrm>
          <a:prstGeom prst="rect">
            <a:avLst/>
          </a:prstGeom>
          <a:noFill/>
          <a:ln/>
        </p:spPr>
        <p:txBody>
          <a:bodyPr wrap="square" rtlCol="0" anchor="ctr"/>
          <a:lstStyle/>
          <a:p>
            <a:pPr indent="0" marL="0">
              <a:buNone/>
            </a:pPr>
            <a:r>
              <a:rPr lang="en-US" sz="1000" dirty="0">
                <a:solidFill>
                  <a:srgbClr val="E63946"/>
                </a:solidFill>
                <a:latin typeface="Meiryo" pitchFamily="34" charset="0"/>
                <a:ea typeface="Meiryo" pitchFamily="34" charset="-122"/>
                <a:cs typeface="Meiryo" pitchFamily="34" charset="-120"/>
              </a:rPr>
              <a:t/>
            </a:r>
            <a:endParaRPr lang="en-US" sz="1000" dirty="0"/>
          </a:p>
        </p:txBody>
      </p:sp>
      <p:sp>
        <p:nvSpPr>
          <p:cNvPr id="79" name="Shape 77"/>
          <p:cNvSpPr/>
          <p:nvPr/>
        </p:nvSpPr>
        <p:spPr>
          <a:xfrm>
            <a:off x="365760" y="3520440"/>
            <a:ext cx="8412480" cy="749808"/>
          </a:xfrm>
          <a:prstGeom prst="roundRect">
            <a:avLst>
              <a:gd name="adj" fmla="val 12195"/>
            </a:avLst>
          </a:prstGeom>
          <a:solidFill>
            <a:srgbClr val="FFE6F3"/>
          </a:solidFill>
          <a:ln w="19050">
            <a:solidFill>
              <a:srgbClr val="FF4DB8"/>
            </a:solidFill>
            <a:prstDash val="solid"/>
          </a:ln>
        </p:spPr>
      </p:sp>
      <p:sp>
        <p:nvSpPr>
          <p:cNvPr id="80" name="Shape 78"/>
          <p:cNvSpPr/>
          <p:nvPr/>
        </p:nvSpPr>
        <p:spPr>
          <a:xfrm>
            <a:off x="502920" y="3776838"/>
            <a:ext cx="8138160" cy="381853"/>
          </a:xfrm>
          <a:prstGeom prst="rect">
            <a:avLst/>
          </a:prstGeom>
          <a:solidFill>
            <a:srgbClr val="FFE455"/>
          </a:solidFill>
          <a:ln w="12700">
            <a:solidFill>
              <a:srgbClr val="FFE455"/>
            </a:solidFill>
            <a:prstDash val="solid"/>
          </a:ln>
        </p:spPr>
      </p:sp>
      <p:sp>
        <p:nvSpPr>
          <p:cNvPr id="81" name="Text 79"/>
          <p:cNvSpPr/>
          <p:nvPr/>
        </p:nvSpPr>
        <p:spPr>
          <a:xfrm>
            <a:off x="548640" y="3566160"/>
            <a:ext cx="8046720" cy="658368"/>
          </a:xfrm>
          <a:prstGeom prst="rect">
            <a:avLst/>
          </a:prstGeom>
          <a:noFill/>
          <a:ln/>
        </p:spPr>
        <p:txBody>
          <a:bodyPr wrap="square" rtlCol="0" anchor="ctr"/>
          <a:lstStyle/>
          <a:p>
            <a:pPr algn="ctr" indent="0" marL="0">
              <a:buNone/>
            </a:pPr>
            <a:r>
              <a:rPr lang="en-US" sz="1600" b="1" dirty="0">
                <a:solidFill>
                  <a:srgbClr val="FF4DB8"/>
                </a:solidFill>
                <a:latin typeface="Meiryo" pitchFamily="34" charset="0"/>
                <a:ea typeface="Meiryo" pitchFamily="34" charset="-122"/>
                <a:cs typeface="Meiryo" pitchFamily="34" charset="-120"/>
              </a:rPr>
              <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5">
    <p:bg>
      <p:bgPr>
        <a:solidFill>
          <a:srgbClr val="F9F9F9"/>
        </a:solidFill>
      </p:bgPr>
    </p:bg>
    <p:spTree>
      <p:nvGrpSpPr>
        <p:cNvPr id="1" name=""/>
        <p:cNvGrpSpPr/>
        <p:nvPr/>
      </p:nvGrpSpPr>
      <p:grpSpPr>
        <a:xfrm>
          <a:off x="0" y="0"/>
          <a:ext cx="0" cy="0"/>
          <a:chOff x="0" y="0"/>
          <a:chExt cx="0" cy="0"/>
        </a:xfrm>
      </p:grpSpPr>
      <p:sp>
        <p:nvSpPr>
          <p:cNvPr id="2" name="Shape 0"/>
          <p:cNvSpPr/>
          <p:nvPr/>
        </p:nvSpPr>
        <p:spPr>
          <a:xfrm>
            <a:off x="0" y="0"/>
            <a:ext cx="9144000" cy="0"/>
          </a:xfrm>
          <a:prstGeom prst="line">
            <a:avLst/>
          </a:prstGeom>
          <a:noFill/>
          <a:ln w="6350">
            <a:solidFill>
              <a:srgbClr val="E0E0E0"/>
            </a:solidFill>
            <a:prstDash val="solid"/>
          </a:ln>
        </p:spPr>
      </p:sp>
      <p:sp>
        <p:nvSpPr>
          <p:cNvPr id="3" name="Shape 1"/>
          <p:cNvSpPr/>
          <p:nvPr/>
        </p:nvSpPr>
        <p:spPr>
          <a:xfrm>
            <a:off x="0" y="274320"/>
            <a:ext cx="9144000" cy="0"/>
          </a:xfrm>
          <a:prstGeom prst="line">
            <a:avLst/>
          </a:prstGeom>
          <a:noFill/>
          <a:ln w="6350">
            <a:solidFill>
              <a:srgbClr val="E0E0E0"/>
            </a:solidFill>
            <a:prstDash val="solid"/>
          </a:ln>
        </p:spPr>
      </p:sp>
      <p:sp>
        <p:nvSpPr>
          <p:cNvPr id="4" name="Shape 2"/>
          <p:cNvSpPr/>
          <p:nvPr/>
        </p:nvSpPr>
        <p:spPr>
          <a:xfrm>
            <a:off x="0" y="548640"/>
            <a:ext cx="9144000" cy="0"/>
          </a:xfrm>
          <a:prstGeom prst="line">
            <a:avLst/>
          </a:prstGeom>
          <a:noFill/>
          <a:ln w="6350">
            <a:solidFill>
              <a:srgbClr val="E0E0E0"/>
            </a:solidFill>
            <a:prstDash val="solid"/>
          </a:ln>
        </p:spPr>
      </p:sp>
      <p:sp>
        <p:nvSpPr>
          <p:cNvPr id="5" name="Shape 3"/>
          <p:cNvSpPr/>
          <p:nvPr/>
        </p:nvSpPr>
        <p:spPr>
          <a:xfrm>
            <a:off x="0" y="822960"/>
            <a:ext cx="9144000" cy="0"/>
          </a:xfrm>
          <a:prstGeom prst="line">
            <a:avLst/>
          </a:prstGeom>
          <a:noFill/>
          <a:ln w="6350">
            <a:solidFill>
              <a:srgbClr val="E0E0E0"/>
            </a:solidFill>
            <a:prstDash val="solid"/>
          </a:ln>
        </p:spPr>
      </p:sp>
      <p:sp>
        <p:nvSpPr>
          <p:cNvPr id="6" name="Shape 4"/>
          <p:cNvSpPr/>
          <p:nvPr/>
        </p:nvSpPr>
        <p:spPr>
          <a:xfrm>
            <a:off x="0" y="1097280"/>
            <a:ext cx="9144000" cy="0"/>
          </a:xfrm>
          <a:prstGeom prst="line">
            <a:avLst/>
          </a:prstGeom>
          <a:noFill/>
          <a:ln w="6350">
            <a:solidFill>
              <a:srgbClr val="E0E0E0"/>
            </a:solidFill>
            <a:prstDash val="solid"/>
          </a:ln>
        </p:spPr>
      </p:sp>
      <p:sp>
        <p:nvSpPr>
          <p:cNvPr id="7" name="Shape 5"/>
          <p:cNvSpPr/>
          <p:nvPr/>
        </p:nvSpPr>
        <p:spPr>
          <a:xfrm>
            <a:off x="0" y="1371600"/>
            <a:ext cx="9144000" cy="0"/>
          </a:xfrm>
          <a:prstGeom prst="line">
            <a:avLst/>
          </a:prstGeom>
          <a:noFill/>
          <a:ln w="6350">
            <a:solidFill>
              <a:srgbClr val="E0E0E0"/>
            </a:solidFill>
            <a:prstDash val="solid"/>
          </a:ln>
        </p:spPr>
      </p:sp>
      <p:sp>
        <p:nvSpPr>
          <p:cNvPr id="8" name="Shape 6"/>
          <p:cNvSpPr/>
          <p:nvPr/>
        </p:nvSpPr>
        <p:spPr>
          <a:xfrm>
            <a:off x="0" y="1645920"/>
            <a:ext cx="9144000" cy="0"/>
          </a:xfrm>
          <a:prstGeom prst="line">
            <a:avLst/>
          </a:prstGeom>
          <a:noFill/>
          <a:ln w="6350">
            <a:solidFill>
              <a:srgbClr val="E0E0E0"/>
            </a:solidFill>
            <a:prstDash val="solid"/>
          </a:ln>
        </p:spPr>
      </p:sp>
      <p:sp>
        <p:nvSpPr>
          <p:cNvPr id="9" name="Shape 7"/>
          <p:cNvSpPr/>
          <p:nvPr/>
        </p:nvSpPr>
        <p:spPr>
          <a:xfrm>
            <a:off x="0" y="1920240"/>
            <a:ext cx="9144000" cy="0"/>
          </a:xfrm>
          <a:prstGeom prst="line">
            <a:avLst/>
          </a:prstGeom>
          <a:noFill/>
          <a:ln w="6350">
            <a:solidFill>
              <a:srgbClr val="E0E0E0"/>
            </a:solidFill>
            <a:prstDash val="solid"/>
          </a:ln>
        </p:spPr>
      </p:sp>
      <p:sp>
        <p:nvSpPr>
          <p:cNvPr id="10" name="Shape 8"/>
          <p:cNvSpPr/>
          <p:nvPr/>
        </p:nvSpPr>
        <p:spPr>
          <a:xfrm>
            <a:off x="0" y="2194560"/>
            <a:ext cx="9144000" cy="0"/>
          </a:xfrm>
          <a:prstGeom prst="line">
            <a:avLst/>
          </a:prstGeom>
          <a:noFill/>
          <a:ln w="6350">
            <a:solidFill>
              <a:srgbClr val="E0E0E0"/>
            </a:solidFill>
            <a:prstDash val="solid"/>
          </a:ln>
        </p:spPr>
      </p:sp>
      <p:sp>
        <p:nvSpPr>
          <p:cNvPr id="11" name="Shape 9"/>
          <p:cNvSpPr/>
          <p:nvPr/>
        </p:nvSpPr>
        <p:spPr>
          <a:xfrm>
            <a:off x="0" y="2468880"/>
            <a:ext cx="9144000" cy="0"/>
          </a:xfrm>
          <a:prstGeom prst="line">
            <a:avLst/>
          </a:prstGeom>
          <a:noFill/>
          <a:ln w="6350">
            <a:solidFill>
              <a:srgbClr val="E0E0E0"/>
            </a:solidFill>
            <a:prstDash val="solid"/>
          </a:ln>
        </p:spPr>
      </p:sp>
      <p:sp>
        <p:nvSpPr>
          <p:cNvPr id="12" name="Shape 10"/>
          <p:cNvSpPr/>
          <p:nvPr/>
        </p:nvSpPr>
        <p:spPr>
          <a:xfrm>
            <a:off x="0" y="2743200"/>
            <a:ext cx="9144000" cy="0"/>
          </a:xfrm>
          <a:prstGeom prst="line">
            <a:avLst/>
          </a:prstGeom>
          <a:noFill/>
          <a:ln w="6350">
            <a:solidFill>
              <a:srgbClr val="E0E0E0"/>
            </a:solidFill>
            <a:prstDash val="solid"/>
          </a:ln>
        </p:spPr>
      </p:sp>
      <p:sp>
        <p:nvSpPr>
          <p:cNvPr id="13" name="Shape 11"/>
          <p:cNvSpPr/>
          <p:nvPr/>
        </p:nvSpPr>
        <p:spPr>
          <a:xfrm>
            <a:off x="0" y="3017520"/>
            <a:ext cx="9144000" cy="0"/>
          </a:xfrm>
          <a:prstGeom prst="line">
            <a:avLst/>
          </a:prstGeom>
          <a:noFill/>
          <a:ln w="6350">
            <a:solidFill>
              <a:srgbClr val="E0E0E0"/>
            </a:solidFill>
            <a:prstDash val="solid"/>
          </a:ln>
        </p:spPr>
      </p:sp>
      <p:sp>
        <p:nvSpPr>
          <p:cNvPr id="14" name="Shape 12"/>
          <p:cNvSpPr/>
          <p:nvPr/>
        </p:nvSpPr>
        <p:spPr>
          <a:xfrm>
            <a:off x="0" y="3291840"/>
            <a:ext cx="9144000" cy="0"/>
          </a:xfrm>
          <a:prstGeom prst="line">
            <a:avLst/>
          </a:prstGeom>
          <a:noFill/>
          <a:ln w="6350">
            <a:solidFill>
              <a:srgbClr val="E0E0E0"/>
            </a:solidFill>
            <a:prstDash val="solid"/>
          </a:ln>
        </p:spPr>
      </p:sp>
      <p:sp>
        <p:nvSpPr>
          <p:cNvPr id="15" name="Shape 13"/>
          <p:cNvSpPr/>
          <p:nvPr/>
        </p:nvSpPr>
        <p:spPr>
          <a:xfrm>
            <a:off x="0" y="3566160"/>
            <a:ext cx="9144000" cy="0"/>
          </a:xfrm>
          <a:prstGeom prst="line">
            <a:avLst/>
          </a:prstGeom>
          <a:noFill/>
          <a:ln w="6350">
            <a:solidFill>
              <a:srgbClr val="E0E0E0"/>
            </a:solidFill>
            <a:prstDash val="solid"/>
          </a:ln>
        </p:spPr>
      </p:sp>
      <p:sp>
        <p:nvSpPr>
          <p:cNvPr id="16" name="Shape 14"/>
          <p:cNvSpPr/>
          <p:nvPr/>
        </p:nvSpPr>
        <p:spPr>
          <a:xfrm>
            <a:off x="0" y="3840480"/>
            <a:ext cx="9144000" cy="0"/>
          </a:xfrm>
          <a:prstGeom prst="line">
            <a:avLst/>
          </a:prstGeom>
          <a:noFill/>
          <a:ln w="6350">
            <a:solidFill>
              <a:srgbClr val="E0E0E0"/>
            </a:solidFill>
            <a:prstDash val="solid"/>
          </a:ln>
        </p:spPr>
      </p:sp>
      <p:sp>
        <p:nvSpPr>
          <p:cNvPr id="17" name="Shape 15"/>
          <p:cNvSpPr/>
          <p:nvPr/>
        </p:nvSpPr>
        <p:spPr>
          <a:xfrm>
            <a:off x="0" y="4114800"/>
            <a:ext cx="9144000" cy="0"/>
          </a:xfrm>
          <a:prstGeom prst="line">
            <a:avLst/>
          </a:prstGeom>
          <a:noFill/>
          <a:ln w="6350">
            <a:solidFill>
              <a:srgbClr val="E0E0E0"/>
            </a:solidFill>
            <a:prstDash val="solid"/>
          </a:ln>
        </p:spPr>
      </p:sp>
      <p:sp>
        <p:nvSpPr>
          <p:cNvPr id="18" name="Shape 16"/>
          <p:cNvSpPr/>
          <p:nvPr/>
        </p:nvSpPr>
        <p:spPr>
          <a:xfrm>
            <a:off x="0" y="4389120"/>
            <a:ext cx="9144000" cy="0"/>
          </a:xfrm>
          <a:prstGeom prst="line">
            <a:avLst/>
          </a:prstGeom>
          <a:noFill/>
          <a:ln w="6350">
            <a:solidFill>
              <a:srgbClr val="E0E0E0"/>
            </a:solidFill>
            <a:prstDash val="solid"/>
          </a:ln>
        </p:spPr>
      </p:sp>
      <p:sp>
        <p:nvSpPr>
          <p:cNvPr id="19" name="Shape 17"/>
          <p:cNvSpPr/>
          <p:nvPr/>
        </p:nvSpPr>
        <p:spPr>
          <a:xfrm>
            <a:off x="0" y="4663440"/>
            <a:ext cx="9144000" cy="0"/>
          </a:xfrm>
          <a:prstGeom prst="line">
            <a:avLst/>
          </a:prstGeom>
          <a:noFill/>
          <a:ln w="6350">
            <a:solidFill>
              <a:srgbClr val="E0E0E0"/>
            </a:solidFill>
            <a:prstDash val="solid"/>
          </a:ln>
        </p:spPr>
      </p:sp>
      <p:sp>
        <p:nvSpPr>
          <p:cNvPr id="20" name="Shape 18"/>
          <p:cNvSpPr/>
          <p:nvPr/>
        </p:nvSpPr>
        <p:spPr>
          <a:xfrm>
            <a:off x="0" y="4937760"/>
            <a:ext cx="9144000" cy="0"/>
          </a:xfrm>
          <a:prstGeom prst="line">
            <a:avLst/>
          </a:prstGeom>
          <a:noFill/>
          <a:ln w="6350">
            <a:solidFill>
              <a:srgbClr val="E0E0E0"/>
            </a:solidFill>
            <a:prstDash val="solid"/>
          </a:ln>
        </p:spPr>
      </p:sp>
      <p:sp>
        <p:nvSpPr>
          <p:cNvPr id="21" name="Shape 19"/>
          <p:cNvSpPr/>
          <p:nvPr/>
        </p:nvSpPr>
        <p:spPr>
          <a:xfrm>
            <a:off x="0" y="5212080"/>
            <a:ext cx="9144000" cy="0"/>
          </a:xfrm>
          <a:prstGeom prst="line">
            <a:avLst/>
          </a:prstGeom>
          <a:noFill/>
          <a:ln w="6350">
            <a:solidFill>
              <a:srgbClr val="E0E0E0"/>
            </a:solidFill>
            <a:prstDash val="solid"/>
          </a:ln>
        </p:spPr>
      </p:sp>
      <p:sp>
        <p:nvSpPr>
          <p:cNvPr id="22" name="Shape 20"/>
          <p:cNvSpPr/>
          <p:nvPr/>
        </p:nvSpPr>
        <p:spPr>
          <a:xfrm>
            <a:off x="0" y="0"/>
            <a:ext cx="0" cy="5143500"/>
          </a:xfrm>
          <a:prstGeom prst="line">
            <a:avLst/>
          </a:prstGeom>
          <a:noFill/>
          <a:ln w="6350">
            <a:solidFill>
              <a:srgbClr val="E0E0E0"/>
            </a:solidFill>
            <a:prstDash val="solid"/>
          </a:ln>
        </p:spPr>
      </p:sp>
      <p:sp>
        <p:nvSpPr>
          <p:cNvPr id="23" name="Shape 21"/>
          <p:cNvSpPr/>
          <p:nvPr/>
        </p:nvSpPr>
        <p:spPr>
          <a:xfrm>
            <a:off x="274320" y="0"/>
            <a:ext cx="0" cy="5143500"/>
          </a:xfrm>
          <a:prstGeom prst="line">
            <a:avLst/>
          </a:prstGeom>
          <a:noFill/>
          <a:ln w="6350">
            <a:solidFill>
              <a:srgbClr val="E0E0E0"/>
            </a:solidFill>
            <a:prstDash val="solid"/>
          </a:ln>
        </p:spPr>
      </p:sp>
      <p:sp>
        <p:nvSpPr>
          <p:cNvPr id="24" name="Shape 22"/>
          <p:cNvSpPr/>
          <p:nvPr/>
        </p:nvSpPr>
        <p:spPr>
          <a:xfrm>
            <a:off x="548640" y="0"/>
            <a:ext cx="0" cy="5143500"/>
          </a:xfrm>
          <a:prstGeom prst="line">
            <a:avLst/>
          </a:prstGeom>
          <a:noFill/>
          <a:ln w="6350">
            <a:solidFill>
              <a:srgbClr val="E0E0E0"/>
            </a:solidFill>
            <a:prstDash val="solid"/>
          </a:ln>
        </p:spPr>
      </p:sp>
      <p:sp>
        <p:nvSpPr>
          <p:cNvPr id="25" name="Shape 23"/>
          <p:cNvSpPr/>
          <p:nvPr/>
        </p:nvSpPr>
        <p:spPr>
          <a:xfrm>
            <a:off x="822960" y="0"/>
            <a:ext cx="0" cy="5143500"/>
          </a:xfrm>
          <a:prstGeom prst="line">
            <a:avLst/>
          </a:prstGeom>
          <a:noFill/>
          <a:ln w="6350">
            <a:solidFill>
              <a:srgbClr val="E0E0E0"/>
            </a:solidFill>
            <a:prstDash val="solid"/>
          </a:ln>
        </p:spPr>
      </p:sp>
      <p:sp>
        <p:nvSpPr>
          <p:cNvPr id="26" name="Shape 24"/>
          <p:cNvSpPr/>
          <p:nvPr/>
        </p:nvSpPr>
        <p:spPr>
          <a:xfrm>
            <a:off x="1097280" y="0"/>
            <a:ext cx="0" cy="5143500"/>
          </a:xfrm>
          <a:prstGeom prst="line">
            <a:avLst/>
          </a:prstGeom>
          <a:noFill/>
          <a:ln w="6350">
            <a:solidFill>
              <a:srgbClr val="E0E0E0"/>
            </a:solidFill>
            <a:prstDash val="solid"/>
          </a:ln>
        </p:spPr>
      </p:sp>
      <p:sp>
        <p:nvSpPr>
          <p:cNvPr id="27" name="Shape 25"/>
          <p:cNvSpPr/>
          <p:nvPr/>
        </p:nvSpPr>
        <p:spPr>
          <a:xfrm>
            <a:off x="1371600" y="0"/>
            <a:ext cx="0" cy="5143500"/>
          </a:xfrm>
          <a:prstGeom prst="line">
            <a:avLst/>
          </a:prstGeom>
          <a:noFill/>
          <a:ln w="6350">
            <a:solidFill>
              <a:srgbClr val="E0E0E0"/>
            </a:solidFill>
            <a:prstDash val="solid"/>
          </a:ln>
        </p:spPr>
      </p:sp>
      <p:sp>
        <p:nvSpPr>
          <p:cNvPr id="28" name="Shape 26"/>
          <p:cNvSpPr/>
          <p:nvPr/>
        </p:nvSpPr>
        <p:spPr>
          <a:xfrm>
            <a:off x="1645920" y="0"/>
            <a:ext cx="0" cy="5143500"/>
          </a:xfrm>
          <a:prstGeom prst="line">
            <a:avLst/>
          </a:prstGeom>
          <a:noFill/>
          <a:ln w="6350">
            <a:solidFill>
              <a:srgbClr val="E0E0E0"/>
            </a:solidFill>
            <a:prstDash val="solid"/>
          </a:ln>
        </p:spPr>
      </p:sp>
      <p:sp>
        <p:nvSpPr>
          <p:cNvPr id="29" name="Shape 27"/>
          <p:cNvSpPr/>
          <p:nvPr/>
        </p:nvSpPr>
        <p:spPr>
          <a:xfrm>
            <a:off x="1920240" y="0"/>
            <a:ext cx="0" cy="5143500"/>
          </a:xfrm>
          <a:prstGeom prst="line">
            <a:avLst/>
          </a:prstGeom>
          <a:noFill/>
          <a:ln w="6350">
            <a:solidFill>
              <a:srgbClr val="E0E0E0"/>
            </a:solidFill>
            <a:prstDash val="solid"/>
          </a:ln>
        </p:spPr>
      </p:sp>
      <p:sp>
        <p:nvSpPr>
          <p:cNvPr id="30" name="Shape 28"/>
          <p:cNvSpPr/>
          <p:nvPr/>
        </p:nvSpPr>
        <p:spPr>
          <a:xfrm>
            <a:off x="2194560" y="0"/>
            <a:ext cx="0" cy="5143500"/>
          </a:xfrm>
          <a:prstGeom prst="line">
            <a:avLst/>
          </a:prstGeom>
          <a:noFill/>
          <a:ln w="6350">
            <a:solidFill>
              <a:srgbClr val="E0E0E0"/>
            </a:solidFill>
            <a:prstDash val="solid"/>
          </a:ln>
        </p:spPr>
      </p:sp>
      <p:sp>
        <p:nvSpPr>
          <p:cNvPr id="31" name="Shape 29"/>
          <p:cNvSpPr/>
          <p:nvPr/>
        </p:nvSpPr>
        <p:spPr>
          <a:xfrm>
            <a:off x="2468880" y="0"/>
            <a:ext cx="0" cy="5143500"/>
          </a:xfrm>
          <a:prstGeom prst="line">
            <a:avLst/>
          </a:prstGeom>
          <a:noFill/>
          <a:ln w="6350">
            <a:solidFill>
              <a:srgbClr val="E0E0E0"/>
            </a:solidFill>
            <a:prstDash val="solid"/>
          </a:ln>
        </p:spPr>
      </p:sp>
      <p:sp>
        <p:nvSpPr>
          <p:cNvPr id="32" name="Shape 30"/>
          <p:cNvSpPr/>
          <p:nvPr/>
        </p:nvSpPr>
        <p:spPr>
          <a:xfrm>
            <a:off x="2743200" y="0"/>
            <a:ext cx="0" cy="5143500"/>
          </a:xfrm>
          <a:prstGeom prst="line">
            <a:avLst/>
          </a:prstGeom>
          <a:noFill/>
          <a:ln w="6350">
            <a:solidFill>
              <a:srgbClr val="E0E0E0"/>
            </a:solidFill>
            <a:prstDash val="solid"/>
          </a:ln>
        </p:spPr>
      </p:sp>
      <p:sp>
        <p:nvSpPr>
          <p:cNvPr id="33" name="Shape 31"/>
          <p:cNvSpPr/>
          <p:nvPr/>
        </p:nvSpPr>
        <p:spPr>
          <a:xfrm>
            <a:off x="3017520" y="0"/>
            <a:ext cx="0" cy="5143500"/>
          </a:xfrm>
          <a:prstGeom prst="line">
            <a:avLst/>
          </a:prstGeom>
          <a:noFill/>
          <a:ln w="6350">
            <a:solidFill>
              <a:srgbClr val="E0E0E0"/>
            </a:solidFill>
            <a:prstDash val="solid"/>
          </a:ln>
        </p:spPr>
      </p:sp>
      <p:sp>
        <p:nvSpPr>
          <p:cNvPr id="34" name="Shape 32"/>
          <p:cNvSpPr/>
          <p:nvPr/>
        </p:nvSpPr>
        <p:spPr>
          <a:xfrm>
            <a:off x="3291840" y="0"/>
            <a:ext cx="0" cy="5143500"/>
          </a:xfrm>
          <a:prstGeom prst="line">
            <a:avLst/>
          </a:prstGeom>
          <a:noFill/>
          <a:ln w="6350">
            <a:solidFill>
              <a:srgbClr val="E0E0E0"/>
            </a:solidFill>
            <a:prstDash val="solid"/>
          </a:ln>
        </p:spPr>
      </p:sp>
      <p:sp>
        <p:nvSpPr>
          <p:cNvPr id="35" name="Shape 33"/>
          <p:cNvSpPr/>
          <p:nvPr/>
        </p:nvSpPr>
        <p:spPr>
          <a:xfrm>
            <a:off x="3566160" y="0"/>
            <a:ext cx="0" cy="5143500"/>
          </a:xfrm>
          <a:prstGeom prst="line">
            <a:avLst/>
          </a:prstGeom>
          <a:noFill/>
          <a:ln w="6350">
            <a:solidFill>
              <a:srgbClr val="E0E0E0"/>
            </a:solidFill>
            <a:prstDash val="solid"/>
          </a:ln>
        </p:spPr>
      </p:sp>
      <p:sp>
        <p:nvSpPr>
          <p:cNvPr id="36" name="Shape 34"/>
          <p:cNvSpPr/>
          <p:nvPr/>
        </p:nvSpPr>
        <p:spPr>
          <a:xfrm>
            <a:off x="3840480" y="0"/>
            <a:ext cx="0" cy="5143500"/>
          </a:xfrm>
          <a:prstGeom prst="line">
            <a:avLst/>
          </a:prstGeom>
          <a:noFill/>
          <a:ln w="6350">
            <a:solidFill>
              <a:srgbClr val="E0E0E0"/>
            </a:solidFill>
            <a:prstDash val="solid"/>
          </a:ln>
        </p:spPr>
      </p:sp>
      <p:sp>
        <p:nvSpPr>
          <p:cNvPr id="37" name="Shape 35"/>
          <p:cNvSpPr/>
          <p:nvPr/>
        </p:nvSpPr>
        <p:spPr>
          <a:xfrm>
            <a:off x="4114800" y="0"/>
            <a:ext cx="0" cy="5143500"/>
          </a:xfrm>
          <a:prstGeom prst="line">
            <a:avLst/>
          </a:prstGeom>
          <a:noFill/>
          <a:ln w="6350">
            <a:solidFill>
              <a:srgbClr val="E0E0E0"/>
            </a:solidFill>
            <a:prstDash val="solid"/>
          </a:ln>
        </p:spPr>
      </p:sp>
      <p:sp>
        <p:nvSpPr>
          <p:cNvPr id="38" name="Shape 36"/>
          <p:cNvSpPr/>
          <p:nvPr/>
        </p:nvSpPr>
        <p:spPr>
          <a:xfrm>
            <a:off x="4389120" y="0"/>
            <a:ext cx="0" cy="5143500"/>
          </a:xfrm>
          <a:prstGeom prst="line">
            <a:avLst/>
          </a:prstGeom>
          <a:noFill/>
          <a:ln w="6350">
            <a:solidFill>
              <a:srgbClr val="E0E0E0"/>
            </a:solidFill>
            <a:prstDash val="solid"/>
          </a:ln>
        </p:spPr>
      </p:sp>
      <p:sp>
        <p:nvSpPr>
          <p:cNvPr id="39" name="Shape 37"/>
          <p:cNvSpPr/>
          <p:nvPr/>
        </p:nvSpPr>
        <p:spPr>
          <a:xfrm>
            <a:off x="4663440" y="0"/>
            <a:ext cx="0" cy="5143500"/>
          </a:xfrm>
          <a:prstGeom prst="line">
            <a:avLst/>
          </a:prstGeom>
          <a:noFill/>
          <a:ln w="6350">
            <a:solidFill>
              <a:srgbClr val="E0E0E0"/>
            </a:solidFill>
            <a:prstDash val="solid"/>
          </a:ln>
        </p:spPr>
      </p:sp>
      <p:sp>
        <p:nvSpPr>
          <p:cNvPr id="40" name="Shape 38"/>
          <p:cNvSpPr/>
          <p:nvPr/>
        </p:nvSpPr>
        <p:spPr>
          <a:xfrm>
            <a:off x="4937760" y="0"/>
            <a:ext cx="0" cy="5143500"/>
          </a:xfrm>
          <a:prstGeom prst="line">
            <a:avLst/>
          </a:prstGeom>
          <a:noFill/>
          <a:ln w="6350">
            <a:solidFill>
              <a:srgbClr val="E0E0E0"/>
            </a:solidFill>
            <a:prstDash val="solid"/>
          </a:ln>
        </p:spPr>
      </p:sp>
      <p:sp>
        <p:nvSpPr>
          <p:cNvPr id="41" name="Shape 39"/>
          <p:cNvSpPr/>
          <p:nvPr/>
        </p:nvSpPr>
        <p:spPr>
          <a:xfrm>
            <a:off x="5212080" y="0"/>
            <a:ext cx="0" cy="5143500"/>
          </a:xfrm>
          <a:prstGeom prst="line">
            <a:avLst/>
          </a:prstGeom>
          <a:noFill/>
          <a:ln w="6350">
            <a:solidFill>
              <a:srgbClr val="E0E0E0"/>
            </a:solidFill>
            <a:prstDash val="solid"/>
          </a:ln>
        </p:spPr>
      </p:sp>
      <p:sp>
        <p:nvSpPr>
          <p:cNvPr id="42" name="Shape 40"/>
          <p:cNvSpPr/>
          <p:nvPr/>
        </p:nvSpPr>
        <p:spPr>
          <a:xfrm>
            <a:off x="5486400" y="0"/>
            <a:ext cx="0" cy="5143500"/>
          </a:xfrm>
          <a:prstGeom prst="line">
            <a:avLst/>
          </a:prstGeom>
          <a:noFill/>
          <a:ln w="6350">
            <a:solidFill>
              <a:srgbClr val="E0E0E0"/>
            </a:solidFill>
            <a:prstDash val="solid"/>
          </a:ln>
        </p:spPr>
      </p:sp>
      <p:sp>
        <p:nvSpPr>
          <p:cNvPr id="43" name="Shape 41"/>
          <p:cNvSpPr/>
          <p:nvPr/>
        </p:nvSpPr>
        <p:spPr>
          <a:xfrm>
            <a:off x="5760720" y="0"/>
            <a:ext cx="0" cy="5143500"/>
          </a:xfrm>
          <a:prstGeom prst="line">
            <a:avLst/>
          </a:prstGeom>
          <a:noFill/>
          <a:ln w="6350">
            <a:solidFill>
              <a:srgbClr val="E0E0E0"/>
            </a:solidFill>
            <a:prstDash val="solid"/>
          </a:ln>
        </p:spPr>
      </p:sp>
      <p:sp>
        <p:nvSpPr>
          <p:cNvPr id="44" name="Shape 42"/>
          <p:cNvSpPr/>
          <p:nvPr/>
        </p:nvSpPr>
        <p:spPr>
          <a:xfrm>
            <a:off x="6035040" y="0"/>
            <a:ext cx="0" cy="5143500"/>
          </a:xfrm>
          <a:prstGeom prst="line">
            <a:avLst/>
          </a:prstGeom>
          <a:noFill/>
          <a:ln w="6350">
            <a:solidFill>
              <a:srgbClr val="E0E0E0"/>
            </a:solidFill>
            <a:prstDash val="solid"/>
          </a:ln>
        </p:spPr>
      </p:sp>
      <p:sp>
        <p:nvSpPr>
          <p:cNvPr id="45" name="Shape 43"/>
          <p:cNvSpPr/>
          <p:nvPr/>
        </p:nvSpPr>
        <p:spPr>
          <a:xfrm>
            <a:off x="6309360" y="0"/>
            <a:ext cx="0" cy="5143500"/>
          </a:xfrm>
          <a:prstGeom prst="line">
            <a:avLst/>
          </a:prstGeom>
          <a:noFill/>
          <a:ln w="6350">
            <a:solidFill>
              <a:srgbClr val="E0E0E0"/>
            </a:solidFill>
            <a:prstDash val="solid"/>
          </a:ln>
        </p:spPr>
      </p:sp>
      <p:sp>
        <p:nvSpPr>
          <p:cNvPr id="46" name="Shape 44"/>
          <p:cNvSpPr/>
          <p:nvPr/>
        </p:nvSpPr>
        <p:spPr>
          <a:xfrm>
            <a:off x="6583680" y="0"/>
            <a:ext cx="0" cy="5143500"/>
          </a:xfrm>
          <a:prstGeom prst="line">
            <a:avLst/>
          </a:prstGeom>
          <a:noFill/>
          <a:ln w="6350">
            <a:solidFill>
              <a:srgbClr val="E0E0E0"/>
            </a:solidFill>
            <a:prstDash val="solid"/>
          </a:ln>
        </p:spPr>
      </p:sp>
      <p:sp>
        <p:nvSpPr>
          <p:cNvPr id="47" name="Shape 45"/>
          <p:cNvSpPr/>
          <p:nvPr/>
        </p:nvSpPr>
        <p:spPr>
          <a:xfrm>
            <a:off x="6858000" y="0"/>
            <a:ext cx="0" cy="5143500"/>
          </a:xfrm>
          <a:prstGeom prst="line">
            <a:avLst/>
          </a:prstGeom>
          <a:noFill/>
          <a:ln w="6350">
            <a:solidFill>
              <a:srgbClr val="E0E0E0"/>
            </a:solidFill>
            <a:prstDash val="solid"/>
          </a:ln>
        </p:spPr>
      </p:sp>
      <p:sp>
        <p:nvSpPr>
          <p:cNvPr id="48" name="Shape 46"/>
          <p:cNvSpPr/>
          <p:nvPr/>
        </p:nvSpPr>
        <p:spPr>
          <a:xfrm>
            <a:off x="7132320" y="0"/>
            <a:ext cx="0" cy="5143500"/>
          </a:xfrm>
          <a:prstGeom prst="line">
            <a:avLst/>
          </a:prstGeom>
          <a:noFill/>
          <a:ln w="6350">
            <a:solidFill>
              <a:srgbClr val="E0E0E0"/>
            </a:solidFill>
            <a:prstDash val="solid"/>
          </a:ln>
        </p:spPr>
      </p:sp>
      <p:sp>
        <p:nvSpPr>
          <p:cNvPr id="49" name="Shape 47"/>
          <p:cNvSpPr/>
          <p:nvPr/>
        </p:nvSpPr>
        <p:spPr>
          <a:xfrm>
            <a:off x="7406640" y="0"/>
            <a:ext cx="0" cy="5143500"/>
          </a:xfrm>
          <a:prstGeom prst="line">
            <a:avLst/>
          </a:prstGeom>
          <a:noFill/>
          <a:ln w="6350">
            <a:solidFill>
              <a:srgbClr val="E0E0E0"/>
            </a:solidFill>
            <a:prstDash val="solid"/>
          </a:ln>
        </p:spPr>
      </p:sp>
      <p:sp>
        <p:nvSpPr>
          <p:cNvPr id="50" name="Shape 48"/>
          <p:cNvSpPr/>
          <p:nvPr/>
        </p:nvSpPr>
        <p:spPr>
          <a:xfrm>
            <a:off x="7680960" y="0"/>
            <a:ext cx="0" cy="5143500"/>
          </a:xfrm>
          <a:prstGeom prst="line">
            <a:avLst/>
          </a:prstGeom>
          <a:noFill/>
          <a:ln w="6350">
            <a:solidFill>
              <a:srgbClr val="E0E0E0"/>
            </a:solidFill>
            <a:prstDash val="solid"/>
          </a:ln>
        </p:spPr>
      </p:sp>
      <p:sp>
        <p:nvSpPr>
          <p:cNvPr id="51" name="Shape 49"/>
          <p:cNvSpPr/>
          <p:nvPr/>
        </p:nvSpPr>
        <p:spPr>
          <a:xfrm>
            <a:off x="7955280" y="0"/>
            <a:ext cx="0" cy="5143500"/>
          </a:xfrm>
          <a:prstGeom prst="line">
            <a:avLst/>
          </a:prstGeom>
          <a:noFill/>
          <a:ln w="6350">
            <a:solidFill>
              <a:srgbClr val="E0E0E0"/>
            </a:solidFill>
            <a:prstDash val="solid"/>
          </a:ln>
        </p:spPr>
      </p:sp>
      <p:sp>
        <p:nvSpPr>
          <p:cNvPr id="52" name="Shape 50"/>
          <p:cNvSpPr/>
          <p:nvPr/>
        </p:nvSpPr>
        <p:spPr>
          <a:xfrm>
            <a:off x="8229600" y="0"/>
            <a:ext cx="0" cy="5143500"/>
          </a:xfrm>
          <a:prstGeom prst="line">
            <a:avLst/>
          </a:prstGeom>
          <a:noFill/>
          <a:ln w="6350">
            <a:solidFill>
              <a:srgbClr val="E0E0E0"/>
            </a:solidFill>
            <a:prstDash val="solid"/>
          </a:ln>
        </p:spPr>
      </p:sp>
      <p:sp>
        <p:nvSpPr>
          <p:cNvPr id="53" name="Shape 51"/>
          <p:cNvSpPr/>
          <p:nvPr/>
        </p:nvSpPr>
        <p:spPr>
          <a:xfrm>
            <a:off x="8503920" y="0"/>
            <a:ext cx="0" cy="5143500"/>
          </a:xfrm>
          <a:prstGeom prst="line">
            <a:avLst/>
          </a:prstGeom>
          <a:noFill/>
          <a:ln w="6350">
            <a:solidFill>
              <a:srgbClr val="E0E0E0"/>
            </a:solidFill>
            <a:prstDash val="solid"/>
          </a:ln>
        </p:spPr>
      </p:sp>
      <p:sp>
        <p:nvSpPr>
          <p:cNvPr id="54" name="Shape 52"/>
          <p:cNvSpPr/>
          <p:nvPr/>
        </p:nvSpPr>
        <p:spPr>
          <a:xfrm>
            <a:off x="8778240" y="0"/>
            <a:ext cx="0" cy="5143500"/>
          </a:xfrm>
          <a:prstGeom prst="line">
            <a:avLst/>
          </a:prstGeom>
          <a:noFill/>
          <a:ln w="6350">
            <a:solidFill>
              <a:srgbClr val="E0E0E0"/>
            </a:solidFill>
            <a:prstDash val="solid"/>
          </a:ln>
        </p:spPr>
      </p:sp>
      <p:sp>
        <p:nvSpPr>
          <p:cNvPr id="55" name="Shape 53"/>
          <p:cNvSpPr/>
          <p:nvPr/>
        </p:nvSpPr>
        <p:spPr>
          <a:xfrm>
            <a:off x="9052560" y="0"/>
            <a:ext cx="0" cy="5143500"/>
          </a:xfrm>
          <a:prstGeom prst="line">
            <a:avLst/>
          </a:prstGeom>
          <a:noFill/>
          <a:ln w="6350">
            <a:solidFill>
              <a:srgbClr val="E0E0E0"/>
            </a:solidFill>
            <a:prstDash val="solid"/>
          </a:ln>
        </p:spPr>
      </p:sp>
      <p:sp>
        <p:nvSpPr>
          <p:cNvPr id="56" name="Shape 54"/>
          <p:cNvSpPr/>
          <p:nvPr/>
        </p:nvSpPr>
        <p:spPr>
          <a:xfrm>
            <a:off x="9326880" y="0"/>
            <a:ext cx="0" cy="5143500"/>
          </a:xfrm>
          <a:prstGeom prst="line">
            <a:avLst/>
          </a:prstGeom>
          <a:noFill/>
          <a:ln w="6350">
            <a:solidFill>
              <a:srgbClr val="E0E0E0"/>
            </a:solidFill>
            <a:prstDash val="solid"/>
          </a:ln>
        </p:spPr>
      </p:sp>
      <p:sp>
        <p:nvSpPr>
          <p:cNvPr id="57" name="Shape 55"/>
          <p:cNvSpPr/>
          <p:nvPr/>
        </p:nvSpPr>
        <p:spPr>
          <a:xfrm>
            <a:off x="0" y="0"/>
            <a:ext cx="9144000" cy="1371600"/>
          </a:xfrm>
          <a:prstGeom prst="rect">
            <a:avLst/>
          </a:prstGeom>
          <a:solidFill>
            <a:srgbClr val="FF4DB8"/>
          </a:solidFill>
          <a:ln w="12700">
            <a:solidFill>
              <a:srgbClr val="FF4DB8"/>
            </a:solidFill>
            <a:prstDash val="solid"/>
          </a:ln>
        </p:spPr>
      </p:sp>
      <p:sp>
        <p:nvSpPr>
          <p:cNvPr id="58" name="Text 56"/>
          <p:cNvSpPr/>
          <p:nvPr/>
        </p:nvSpPr>
        <p:spPr>
          <a:xfrm>
            <a:off x="457200" y="91440"/>
            <a:ext cx="8229600" cy="777240"/>
          </a:xfrm>
          <a:prstGeom prst="rect">
            <a:avLst/>
          </a:prstGeom>
          <a:noFill/>
          <a:ln/>
        </p:spPr>
        <p:txBody>
          <a:bodyPr wrap="square" rtlCol="0" anchor="ctr"/>
          <a:lstStyle/>
          <a:p>
            <a:pPr algn="ctr" indent="0" marL="0">
              <a:buNone/>
            </a:pPr>
            <a:r>
              <a:rPr lang="en-US" sz="3000" b="1" dirty="0">
                <a:solidFill>
                  <a:srgbClr val="FFFFFF"/>
                </a:solidFill>
                <a:latin typeface="Meiryo" pitchFamily="34" charset="0"/>
                <a:ea typeface="Meiryo" pitchFamily="34" charset="-122"/>
                <a:cs typeface="Meiryo" pitchFamily="34" charset="-120"/>
              </a:rPr>
              <a:t>第3章 完了！</a:t>
            </a:r>
            <a:endParaRPr lang="en-US" sz="3000" dirty="0"/>
          </a:p>
        </p:txBody>
      </p:sp>
      <p:sp>
        <p:nvSpPr>
          <p:cNvPr id="59" name="Text 57"/>
          <p:cNvSpPr/>
          <p:nvPr/>
        </p:nvSpPr>
        <p:spPr>
          <a:xfrm>
            <a:off x="457200" y="868680"/>
            <a:ext cx="8229600" cy="411480"/>
          </a:xfrm>
          <a:prstGeom prst="rect">
            <a:avLst/>
          </a:prstGeom>
          <a:noFill/>
          <a:ln/>
        </p:spPr>
        <p:txBody>
          <a:bodyPr wrap="square" rtlCol="0" anchor="ctr"/>
          <a:lstStyle/>
          <a:p>
            <a:pPr algn="ctr" indent="0" marL="0">
              <a:buNone/>
            </a:pPr>
            <a:r>
              <a:rPr lang="en-US" sz="1400" dirty="0">
                <a:solidFill>
                  <a:srgbClr val="FFFFFF"/>
                </a:solidFill>
                <a:latin typeface="Meiryo" pitchFamily="34" charset="0"/>
                <a:ea typeface="Meiryo" pitchFamily="34" charset="-122"/>
                <a:cs typeface="Meiryo" pitchFamily="34" charset="-120"/>
              </a:rPr>
              <a:t>おさらい 動画まとめ</a:t>
            </a:r>
            <a:endParaRPr lang="en-US" sz="1400" dirty="0"/>
          </a:p>
        </p:txBody>
      </p:sp>
      <p:pic>
        <p:nvPicPr>
          <p:cNvPr id="60" name="Image 0" descr="C:\Users\長澤開\Downloads\pptx-editor\public\illustrations\handshake.png"/>
          <p:cNvPicPr>
            <a:picLocks noChangeAspect="1"/>
          </p:cNvPicPr>
          <p:nvPr/>
        </p:nvPicPr>
        <p:blipFill>
          <a:blip r:embed="rId1">
            <a:alphaModFix amt="90000"/>
          </a:blip>
          <a:stretch>
            <a:fillRect/>
          </a:stretch>
        </p:blipFill>
        <p:spPr>
          <a:xfrm>
            <a:off x="91440" y="1417320"/>
            <a:ext cx="2011680" cy="1508760"/>
          </a:xfrm>
          <a:prstGeom prst="rect">
            <a:avLst/>
          </a:prstGeom>
        </p:spPr>
      </p:pic>
      <p:pic>
        <p:nvPicPr>
          <p:cNvPr id="61" name="Image 1" descr="C:\Users\長澤開\Downloads\pptx-editor\public\illustrations\growth-graph.png"/>
          <p:cNvPicPr>
            <a:picLocks noChangeAspect="1"/>
          </p:cNvPicPr>
          <p:nvPr/>
        </p:nvPicPr>
        <p:blipFill>
          <a:blip r:embed="rId2">
            <a:alphaModFix amt="90000"/>
          </a:blip>
          <a:stretch>
            <a:fillRect/>
          </a:stretch>
        </p:blipFill>
        <p:spPr>
          <a:xfrm>
            <a:off x="6675120" y="1371600"/>
            <a:ext cx="2286000" cy="1828800"/>
          </a:xfrm>
          <a:prstGeom prst="rect">
            <a:avLst/>
          </a:prstGeom>
        </p:spPr>
      </p:pic>
      <p:pic>
        <p:nvPicPr>
          <p:cNvPr id="62" name="Image 2" descr="C:\Users\長澤開\Downloads\pptx-editor\public\illustrations\star.png"/>
          <p:cNvPicPr>
            <a:picLocks noChangeAspect="1"/>
          </p:cNvPicPr>
          <p:nvPr/>
        </p:nvPicPr>
        <p:blipFill>
          <a:blip r:embed="rId3">
            <a:alphaModFix amt="80000"/>
          </a:blip>
          <a:stretch>
            <a:fillRect/>
          </a:stretch>
        </p:blipFill>
        <p:spPr>
          <a:xfrm>
            <a:off x="3931920" y="1645920"/>
            <a:ext cx="1188720" cy="1188720"/>
          </a:xfrm>
          <a:prstGeom prst="rect">
            <a:avLst/>
          </a:prstGeom>
        </p:spPr>
      </p:pic>
      <p:sp>
        <p:nvSpPr>
          <p:cNvPr id="63" name="Shape 58"/>
          <p:cNvSpPr/>
          <p:nvPr/>
        </p:nvSpPr>
        <p:spPr>
          <a:xfrm>
            <a:off x="1645920" y="2834640"/>
            <a:ext cx="5852160" cy="502920"/>
          </a:xfrm>
          <a:prstGeom prst="roundRect">
            <a:avLst>
              <a:gd name="adj" fmla="val 12727"/>
            </a:avLst>
          </a:prstGeom>
          <a:solidFill>
            <a:srgbClr val="FFFFFF"/>
          </a:solidFill>
          <a:ln w="12700">
            <a:solidFill>
              <a:srgbClr val="E8C0DA"/>
            </a:solidFill>
            <a:prstDash val="solid"/>
          </a:ln>
        </p:spPr>
      </p:sp>
      <p:sp>
        <p:nvSpPr>
          <p:cNvPr id="64" name="Shape 59"/>
          <p:cNvSpPr/>
          <p:nvPr/>
        </p:nvSpPr>
        <p:spPr>
          <a:xfrm>
            <a:off x="1097280" y="2852928"/>
            <a:ext cx="475488" cy="475488"/>
          </a:xfrm>
          <a:prstGeom prst="ellipse">
            <a:avLst/>
          </a:prstGeom>
          <a:solidFill>
            <a:srgbClr val="FF4DB8"/>
          </a:solidFill>
          <a:ln w="12700">
            <a:solidFill>
              <a:srgbClr val="FF4DB8"/>
            </a:solidFill>
            <a:prstDash val="solid"/>
          </a:ln>
        </p:spPr>
      </p:sp>
      <p:sp>
        <p:nvSpPr>
          <p:cNvPr id="65" name="Text 60"/>
          <p:cNvSpPr/>
          <p:nvPr/>
        </p:nvSpPr>
        <p:spPr>
          <a:xfrm>
            <a:off x="1097280" y="285292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a:t>
            </a:r>
            <a:endParaRPr lang="en-US" sz="1400" dirty="0"/>
          </a:p>
        </p:txBody>
      </p:sp>
      <p:sp>
        <p:nvSpPr>
          <p:cNvPr id="66" name="Text 61"/>
          <p:cNvSpPr/>
          <p:nvPr/>
        </p:nvSpPr>
        <p:spPr>
          <a:xfrm>
            <a:off x="1828800" y="2871216"/>
            <a:ext cx="5486400" cy="429768"/>
          </a:xfrm>
          <a:prstGeom prst="rect">
            <a:avLst/>
          </a:prstGeom>
          <a:noFill/>
          <a:ln/>
        </p:spPr>
        <p:txBody>
          <a:bodyPr wrap="square" rtlCol="0" anchor="ctr"/>
          <a:lstStyle/>
          <a:p>
            <a:pPr indent="0" marL="0">
              <a:buNone/>
            </a:pPr>
            <a:r>
              <a:rPr lang="en-US" sz="1300" dirty="0">
                <a:solidFill>
                  <a:srgbClr val="1A1A1A"/>
                </a:solidFill>
                <a:latin typeface="Meiryo" pitchFamily="34" charset="0"/>
                <a:ea typeface="Meiryo" pitchFamily="34" charset="-122"/>
                <a:cs typeface="Meiryo" pitchFamily="34" charset="-120"/>
              </a:rPr>
              <a:t>コアタイム（10〜19時）は連絡が取れる状態にする</a:t>
            </a:r>
            <a:endParaRPr lang="en-US" sz="1300" dirty="0"/>
          </a:p>
        </p:txBody>
      </p:sp>
      <p:sp>
        <p:nvSpPr>
          <p:cNvPr id="67" name="Shape 62"/>
          <p:cNvSpPr/>
          <p:nvPr/>
        </p:nvSpPr>
        <p:spPr>
          <a:xfrm>
            <a:off x="1645920" y="3401568"/>
            <a:ext cx="5852160" cy="502920"/>
          </a:xfrm>
          <a:prstGeom prst="roundRect">
            <a:avLst>
              <a:gd name="adj" fmla="val 12727"/>
            </a:avLst>
          </a:prstGeom>
          <a:solidFill>
            <a:srgbClr val="FFFFFF"/>
          </a:solidFill>
          <a:ln w="12700">
            <a:solidFill>
              <a:srgbClr val="E8C0DA"/>
            </a:solidFill>
            <a:prstDash val="solid"/>
          </a:ln>
        </p:spPr>
      </p:sp>
      <p:sp>
        <p:nvSpPr>
          <p:cNvPr id="68" name="Shape 63"/>
          <p:cNvSpPr/>
          <p:nvPr/>
        </p:nvSpPr>
        <p:spPr>
          <a:xfrm>
            <a:off x="1097280" y="3419856"/>
            <a:ext cx="475488" cy="475488"/>
          </a:xfrm>
          <a:prstGeom prst="ellipse">
            <a:avLst/>
          </a:prstGeom>
          <a:solidFill>
            <a:srgbClr val="FF4DB8"/>
          </a:solidFill>
          <a:ln w="12700">
            <a:solidFill>
              <a:srgbClr val="FF4DB8"/>
            </a:solidFill>
            <a:prstDash val="solid"/>
          </a:ln>
        </p:spPr>
      </p:sp>
      <p:sp>
        <p:nvSpPr>
          <p:cNvPr id="69" name="Text 64"/>
          <p:cNvSpPr/>
          <p:nvPr/>
        </p:nvSpPr>
        <p:spPr>
          <a:xfrm>
            <a:off x="1097280" y="3419856"/>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2</a:t>
            </a:r>
            <a:endParaRPr lang="en-US" sz="1400" dirty="0"/>
          </a:p>
        </p:txBody>
      </p:sp>
      <p:sp>
        <p:nvSpPr>
          <p:cNvPr id="70" name="Text 65"/>
          <p:cNvSpPr/>
          <p:nvPr/>
        </p:nvSpPr>
        <p:spPr>
          <a:xfrm>
            <a:off x="1828800" y="3438144"/>
            <a:ext cx="5486400" cy="429768"/>
          </a:xfrm>
          <a:prstGeom prst="rect">
            <a:avLst/>
          </a:prstGeom>
          <a:noFill/>
          <a:ln/>
        </p:spPr>
        <p:txBody>
          <a:bodyPr wrap="square" rtlCol="0" anchor="ctr"/>
          <a:lstStyle/>
          <a:p>
            <a:pPr indent="0" marL="0">
              <a:buNone/>
            </a:pPr>
            <a:r>
              <a:rPr lang="en-US" sz="1300" dirty="0">
                <a:solidFill>
                  <a:srgbClr val="1A1A1A"/>
                </a:solidFill>
                <a:latin typeface="Meiryo" pitchFamily="34" charset="0"/>
                <a:ea typeface="Meiryo" pitchFamily="34" charset="-122"/>
                <a:cs typeface="Meiryo" pitchFamily="34" charset="-120"/>
              </a:rPr>
              <a:t>18時以降の確認依頼は翌日回答になる→17時までに動く</a:t>
            </a:r>
            <a:endParaRPr lang="en-US" sz="1300" dirty="0"/>
          </a:p>
        </p:txBody>
      </p:sp>
      <p:sp>
        <p:nvSpPr>
          <p:cNvPr id="71" name="Shape 66"/>
          <p:cNvSpPr/>
          <p:nvPr/>
        </p:nvSpPr>
        <p:spPr>
          <a:xfrm>
            <a:off x="1645920" y="3968496"/>
            <a:ext cx="5852160" cy="502920"/>
          </a:xfrm>
          <a:prstGeom prst="roundRect">
            <a:avLst>
              <a:gd name="adj" fmla="val 12727"/>
            </a:avLst>
          </a:prstGeom>
          <a:solidFill>
            <a:srgbClr val="FFFFFF"/>
          </a:solidFill>
          <a:ln w="12700">
            <a:solidFill>
              <a:srgbClr val="E8C0DA"/>
            </a:solidFill>
            <a:prstDash val="solid"/>
          </a:ln>
        </p:spPr>
      </p:sp>
      <p:sp>
        <p:nvSpPr>
          <p:cNvPr id="72" name="Shape 67"/>
          <p:cNvSpPr/>
          <p:nvPr/>
        </p:nvSpPr>
        <p:spPr>
          <a:xfrm>
            <a:off x="1097280" y="3986784"/>
            <a:ext cx="475488" cy="475488"/>
          </a:xfrm>
          <a:prstGeom prst="ellipse">
            <a:avLst/>
          </a:prstGeom>
          <a:solidFill>
            <a:srgbClr val="FF4DB8"/>
          </a:solidFill>
          <a:ln w="12700">
            <a:solidFill>
              <a:srgbClr val="FF4DB8"/>
            </a:solidFill>
            <a:prstDash val="solid"/>
          </a:ln>
        </p:spPr>
      </p:sp>
      <p:sp>
        <p:nvSpPr>
          <p:cNvPr id="73" name="Text 68"/>
          <p:cNvSpPr/>
          <p:nvPr/>
        </p:nvSpPr>
        <p:spPr>
          <a:xfrm>
            <a:off x="1097280" y="3986784"/>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a:t>
            </a:r>
            <a:endParaRPr lang="en-US" sz="1400" dirty="0"/>
          </a:p>
        </p:txBody>
      </p:sp>
      <p:sp>
        <p:nvSpPr>
          <p:cNvPr id="74" name="Text 69"/>
          <p:cNvSpPr/>
          <p:nvPr/>
        </p:nvSpPr>
        <p:spPr>
          <a:xfrm>
            <a:off x="1828800" y="4005072"/>
            <a:ext cx="5486400" cy="429768"/>
          </a:xfrm>
          <a:prstGeom prst="rect">
            <a:avLst/>
          </a:prstGeom>
          <a:noFill/>
          <a:ln/>
        </p:spPr>
        <p:txBody>
          <a:bodyPr wrap="square" rtlCol="0" anchor="ctr"/>
          <a:lstStyle/>
          <a:p>
            <a:pPr indent="0" marL="0">
              <a:buNone/>
            </a:pPr>
            <a:r>
              <a:rPr lang="en-US" sz="1300" dirty="0">
                <a:solidFill>
                  <a:srgbClr val="1A1A1A"/>
                </a:solidFill>
                <a:latin typeface="Meiryo" pitchFamily="34" charset="0"/>
                <a:ea typeface="Meiryo" pitchFamily="34" charset="-122"/>
                <a:cs typeface="Meiryo" pitchFamily="34" charset="-120"/>
              </a:rPr>
              <a:t>締め切りは「日付＋時間」で管理する</a:t>
            </a:r>
            <a:endParaRPr lang="en-US" sz="1300" dirty="0"/>
          </a:p>
        </p:txBody>
      </p:sp>
      <p:sp>
        <p:nvSpPr>
          <p:cNvPr id="75" name="Shape 70"/>
          <p:cNvSpPr/>
          <p:nvPr/>
        </p:nvSpPr>
        <p:spPr>
          <a:xfrm>
            <a:off x="868680" y="4718304"/>
            <a:ext cx="7406640" cy="265176"/>
          </a:xfrm>
          <a:prstGeom prst="rect">
            <a:avLst/>
          </a:prstGeom>
          <a:solidFill>
            <a:srgbClr val="FFE455"/>
          </a:solidFill>
          <a:ln w="12700">
            <a:solidFill>
              <a:srgbClr val="FFE455"/>
            </a:solidFill>
            <a:prstDash val="solid"/>
          </a:ln>
        </p:spPr>
      </p:sp>
      <p:sp>
        <p:nvSpPr>
          <p:cNvPr id="76" name="Text 71"/>
          <p:cNvSpPr/>
          <p:nvPr/>
        </p:nvSpPr>
        <p:spPr>
          <a:xfrm>
            <a:off x="914400" y="4572000"/>
            <a:ext cx="7315200" cy="457200"/>
          </a:xfrm>
          <a:prstGeom prst="rect">
            <a:avLst/>
          </a:prstGeom>
          <a:noFill/>
          <a:ln/>
        </p:spPr>
        <p:txBody>
          <a:bodyPr wrap="square" rtlCol="0" anchor="ctr"/>
          <a:lstStyle/>
          <a:p>
            <a:pPr algn="ctr" indent="0" marL="0">
              <a:buNone/>
            </a:pPr>
            <a:r>
              <a:rPr lang="en-US" sz="1300" b="1" i="1" dirty="0">
                <a:solidFill>
                  <a:srgbClr val="1A1A1A"/>
                </a:solidFill>
                <a:latin typeface="Meiryo" pitchFamily="34" charset="0"/>
                <a:ea typeface="Meiryo" pitchFamily="34" charset="-122"/>
                <a:cs typeface="Meiryo" pitchFamily="34" charset="-120"/>
              </a:rPr>
              <a:t>次のステップ：仮免テスト（第3章から15問出題）</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TORIHADA クリエイターネットワーク研修 第1週</dc:title>
  <dc:subject>PptxGenJS Presentation</dc:subject>
  <dc:creator>PptxGenJS</dc:creator>
  <cp:lastModifiedBy>PptxGenJS</cp:lastModifiedBy>
  <cp:revision>1</cp:revision>
  <dcterms:created xsi:type="dcterms:W3CDTF">2026-05-25T14:57:11Z</dcterms:created>
  <dcterms:modified xsi:type="dcterms:W3CDTF">2026-05-25T14:57:11Z</dcterms:modified>
</cp:coreProperties>
</file>