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1.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1.png"/><Relationship Id="rId4" Type="http://schemas.openxmlformats.org/officeDocument/2006/relationships/image" Target="../media/image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image" Target="../media/image4.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image" Target="../media/image4.png"/><Relationship Id="rId4" Type="http://schemas.openxmlformats.org/officeDocument/2006/relationships/image" Target="../media/image2.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2004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4008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96011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28016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60020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92024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24028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56032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88036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20040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52044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84048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16052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48055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80059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12063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44067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76071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08075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40079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72083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04087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36091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68095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00099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832103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864107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896111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0" y="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0" y="32004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0" y="64008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0" y="960119"/>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0" y="128016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0" y="160020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0" y="192024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0" y="224028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0" y="256032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0" y="288036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0" y="320040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0" y="352044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0" y="384048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0" y="416052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0" y="4480559"/>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0" y="4800599"/>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0" y="5120639"/>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1645920" y="1188720"/>
            <a:ext cx="5852160" cy="1280160"/>
          </a:xfrm>
          <a:prstGeom prst="rect">
            <a:avLst/>
          </a:prstGeom>
          <a:solidFill>
            <a:srgbClr val="FFFFFF"/>
          </a:solidFill>
          <a:ln w="31750">
            <a:solidFill>
              <a:srgbClr val="1A1A1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1645920" y="1188720"/>
            <a:ext cx="5852160" cy="109728"/>
          </a:xfrm>
          <a:prstGeom prst="rect">
            <a:avLst/>
          </a:prstGeom>
          <a:solidFill>
            <a:srgbClr val="FF39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1645920" y="2359152"/>
            <a:ext cx="5852160" cy="109728"/>
          </a:xfrm>
          <a:prstGeom prst="rect">
            <a:avLst/>
          </a:prstGeom>
          <a:solidFill>
            <a:srgbClr val="FF39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1737360" y="1298448"/>
            <a:ext cx="5669280" cy="777240"/>
          </a:xfrm>
          <a:prstGeom prst="rect">
            <a:avLst/>
          </a:prstGeom>
          <a:noFill/>
        </p:spPr>
        <p:txBody>
          <a:bodyPr wrap="square">
            <a:spAutoFit/>
          </a:bodyPr>
          <a:lstStyle/>
          <a:p>
            <a:pPr algn="ctr"/>
            <a:r>
              <a:rPr sz="2600" b="1" i="0">
                <a:solidFill>
                  <a:srgbClr val="1A1A1A"/>
                </a:solidFill>
                <a:latin typeface="Hiragino Kaku Gothic ProN"/>
              </a:rPr>
              <a:t>Torihada-Creator-License-Center</a:t>
            </a:r>
          </a:p>
        </p:txBody>
      </p:sp>
      <p:sp>
        <p:nvSpPr>
          <p:cNvPr id="52" name="TextBox 51"/>
          <p:cNvSpPr txBox="1"/>
          <p:nvPr/>
        </p:nvSpPr>
        <p:spPr>
          <a:xfrm>
            <a:off x="914400" y="2651760"/>
            <a:ext cx="7315200" cy="502920"/>
          </a:xfrm>
          <a:prstGeom prst="rect">
            <a:avLst/>
          </a:prstGeom>
          <a:noFill/>
        </p:spPr>
        <p:txBody>
          <a:bodyPr wrap="square">
            <a:spAutoFit/>
          </a:bodyPr>
          <a:lstStyle/>
          <a:p>
            <a:pPr algn="ctr"/>
            <a:r>
              <a:rPr sz="1600" b="0" i="0">
                <a:solidFill>
                  <a:srgbClr val="666666"/>
                </a:solidFill>
                <a:latin typeface="Hiragino Kaku Gothic ProN"/>
              </a:rPr>
              <a:t>～ プロクリエイターになるために ～</a:t>
            </a:r>
          </a:p>
        </p:txBody>
      </p:sp>
      <p:pic>
        <p:nvPicPr>
          <p:cNvPr id="53" name="Picture 52" descr="image-1-1.png"/>
          <p:cNvPicPr>
            <a:picLocks noChangeAspect="1"/>
          </p:cNvPicPr>
          <p:nvPr/>
        </p:nvPicPr>
        <p:blipFill>
          <a:blip r:embed="rId2"/>
          <a:stretch>
            <a:fillRect/>
          </a:stretch>
        </p:blipFill>
        <p:spPr>
          <a:xfrm>
            <a:off x="91440" y="91440"/>
            <a:ext cx="1097280" cy="1097280"/>
          </a:xfrm>
          <a:prstGeom prst="rect">
            <a:avLst/>
          </a:prstGeom>
        </p:spPr>
      </p:pic>
      <p:pic>
        <p:nvPicPr>
          <p:cNvPr id="54" name="Picture 53" descr="image-1-2.png"/>
          <p:cNvPicPr>
            <a:picLocks noChangeAspect="1"/>
          </p:cNvPicPr>
          <p:nvPr/>
        </p:nvPicPr>
        <p:blipFill>
          <a:blip r:embed="rId3"/>
          <a:stretch>
            <a:fillRect/>
          </a:stretch>
        </p:blipFill>
        <p:spPr>
          <a:xfrm>
            <a:off x="7772400" y="91440"/>
            <a:ext cx="1188720" cy="1188720"/>
          </a:xfrm>
          <a:prstGeom prst="rect">
            <a:avLst/>
          </a:prstGeom>
        </p:spPr>
      </p:pic>
      <p:pic>
        <p:nvPicPr>
          <p:cNvPr id="55" name="Picture 54" descr="image-1-3.png"/>
          <p:cNvPicPr>
            <a:picLocks noChangeAspect="1"/>
          </p:cNvPicPr>
          <p:nvPr/>
        </p:nvPicPr>
        <p:blipFill>
          <a:blip r:embed="rId4"/>
          <a:stretch>
            <a:fillRect/>
          </a:stretch>
        </p:blipFill>
        <p:spPr>
          <a:xfrm>
            <a:off x="0" y="3566160"/>
            <a:ext cx="1188720" cy="1188720"/>
          </a:xfrm>
          <a:prstGeom prst="rect">
            <a:avLst/>
          </a:prstGeom>
        </p:spPr>
      </p:pic>
      <p:pic>
        <p:nvPicPr>
          <p:cNvPr id="56" name="Picture 55" descr="image-6-1.png"/>
          <p:cNvPicPr>
            <a:picLocks noChangeAspect="1"/>
          </p:cNvPicPr>
          <p:nvPr/>
        </p:nvPicPr>
        <p:blipFill>
          <a:blip r:embed="rId5"/>
          <a:stretch>
            <a:fillRect/>
          </a:stretch>
        </p:blipFill>
        <p:spPr>
          <a:xfrm>
            <a:off x="7863840" y="3657600"/>
            <a:ext cx="1005840" cy="1005840"/>
          </a:xfrm>
          <a:prstGeom prst="rect">
            <a:avLst/>
          </a:prstGeom>
        </p:spPr>
      </p:pic>
      <p:sp>
        <p:nvSpPr>
          <p:cNvPr id="57" name="Rectangle 56"/>
          <p:cNvSpPr/>
          <p:nvPr/>
        </p:nvSpPr>
        <p:spPr>
          <a:xfrm>
            <a:off x="0" y="4663440"/>
            <a:ext cx="9144000" cy="480060"/>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274320" y="4690872"/>
            <a:ext cx="8595360" cy="411480"/>
          </a:xfrm>
          <a:prstGeom prst="rect">
            <a:avLst/>
          </a:prstGeom>
          <a:noFill/>
        </p:spPr>
        <p:txBody>
          <a:bodyPr wrap="square">
            <a:spAutoFit/>
          </a:bodyPr>
          <a:lstStyle/>
          <a:p>
            <a:pPr algn="ctr"/>
            <a:r>
              <a:rPr sz="1100" b="0" i="0">
                <a:solidFill>
                  <a:srgbClr val="FFFFFF"/>
                </a:solidFill>
                <a:latin typeface="Hiragino Kaku Gothic ProN"/>
              </a:rPr>
              <a:t>Torihada-Creator-License-Center  ／  クリエイター研修</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3999"/>
        </a:solidFill>
        <a:effectLst/>
      </p:bgPr>
    </p:bg>
    <p:spTree>
      <p:nvGrpSpPr>
        <p:cNvPr id="1" name=""/>
        <p:cNvGrpSpPr/>
        <p:nvPr/>
      </p:nvGrpSpPr>
      <p:grpSpPr/>
      <p:sp>
        <p:nvSpPr>
          <p:cNvPr id="2" name="TextBox 1"/>
          <p:cNvSpPr txBox="1"/>
          <p:nvPr/>
        </p:nvSpPr>
        <p:spPr>
          <a:xfrm>
            <a:off x="-91440" y="182880"/>
            <a:ext cx="3200400" cy="4754880"/>
          </a:xfrm>
          <a:prstGeom prst="rect">
            <a:avLst/>
          </a:prstGeom>
          <a:noFill/>
        </p:spPr>
        <p:txBody>
          <a:bodyPr wrap="square">
            <a:spAutoFit/>
          </a:bodyPr>
          <a:lstStyle/>
          <a:p>
            <a:pPr algn="l"/>
            <a:r>
              <a:rPr sz="24000" b="1" i="0">
                <a:solidFill>
                  <a:srgbClr val="FF80BB"/>
                </a:solidFill>
                <a:latin typeface="Hiragino Kaku Gothic ProN"/>
              </a:rPr>
              <a:t>1</a:t>
            </a:r>
          </a:p>
        </p:txBody>
      </p:sp>
      <p:sp>
        <p:nvSpPr>
          <p:cNvPr id="3" name="Rounded Rectangle 2"/>
          <p:cNvSpPr/>
          <p:nvPr/>
        </p:nvSpPr>
        <p:spPr>
          <a:xfrm>
            <a:off x="3017520" y="1097280"/>
            <a:ext cx="5669280" cy="2560320"/>
          </a:xfrm>
          <a:prstGeom prst="roundRect">
            <a:avLst/>
          </a:prstGeom>
          <a:solidFill>
            <a:srgbClr val="FFFFFF"/>
          </a:solidFill>
          <a:ln w="1524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0" y="1280160"/>
            <a:ext cx="3840480" cy="1097280"/>
          </a:xfrm>
          <a:prstGeom prst="rect">
            <a:avLst/>
          </a:prstGeom>
          <a:noFill/>
        </p:spPr>
        <p:txBody>
          <a:bodyPr wrap="square">
            <a:spAutoFit/>
          </a:bodyPr>
          <a:lstStyle/>
          <a:p>
            <a:pPr algn="l"/>
            <a:r>
              <a:rPr sz="3000" b="1" i="0">
                <a:solidFill>
                  <a:srgbClr val="1A1A1A"/>
                </a:solidFill>
                <a:latin typeface="Hiragino Kaku Gothic ProN"/>
              </a:rPr>
              <a:t>PR案件の絶対ルール</a:t>
            </a:r>
          </a:p>
        </p:txBody>
      </p:sp>
      <p:sp>
        <p:nvSpPr>
          <p:cNvPr id="5" name="TextBox 4"/>
          <p:cNvSpPr txBox="1"/>
          <p:nvPr/>
        </p:nvSpPr>
        <p:spPr>
          <a:xfrm>
            <a:off x="3200400" y="2468880"/>
            <a:ext cx="3840480" cy="640080"/>
          </a:xfrm>
          <a:prstGeom prst="rect">
            <a:avLst/>
          </a:prstGeom>
          <a:noFill/>
        </p:spPr>
        <p:txBody>
          <a:bodyPr wrap="square">
            <a:spAutoFit/>
          </a:bodyPr>
          <a:lstStyle/>
          <a:p>
            <a:pPr algn="l"/>
            <a:r>
              <a:rPr sz="1500" b="0" i="0">
                <a:solidFill>
                  <a:srgbClr val="666666"/>
                </a:solidFill>
                <a:latin typeface="Hiragino Kaku Gothic ProN"/>
              </a:rPr>
              <a:t>ステマ規制と情報開示</a:t>
            </a:r>
          </a:p>
        </p:txBody>
      </p:sp>
      <p:pic>
        <p:nvPicPr>
          <p:cNvPr id="6" name="Picture 5" descr="image-1-1.png"/>
          <p:cNvPicPr>
            <a:picLocks noChangeAspect="1"/>
          </p:cNvPicPr>
          <p:nvPr/>
        </p:nvPicPr>
        <p:blipFill>
          <a:blip r:embed="rId2"/>
          <a:stretch>
            <a:fillRect/>
          </a:stretch>
        </p:blipFill>
        <p:spPr>
          <a:xfrm>
            <a:off x="7132320" y="1188720"/>
            <a:ext cx="1371600" cy="13716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2004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4008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96011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28016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60020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92024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24028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56032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88036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20040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52044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84048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16052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48055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80059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12063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44067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76071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08075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40079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72083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04087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36091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68095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00099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832103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864107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896111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0" y="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0" y="32004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0" y="64008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0" y="960119"/>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0" y="128016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0" y="160020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0" y="192024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0" y="224028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0" y="256032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0" y="288036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0" y="320040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0" y="352044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0" y="384048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0" y="416052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0" y="4480559"/>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0" y="4800599"/>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0" y="5120639"/>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320040" y="164592"/>
            <a:ext cx="8503920" cy="594360"/>
          </a:xfrm>
          <a:prstGeom prst="rect">
            <a:avLst/>
          </a:prstGeom>
          <a:noFill/>
        </p:spPr>
        <p:txBody>
          <a:bodyPr wrap="square">
            <a:spAutoFit/>
          </a:bodyPr>
          <a:lstStyle/>
          <a:p>
            <a:pPr algn="l"/>
            <a:r>
              <a:rPr sz="3000" b="1" i="0">
                <a:solidFill>
                  <a:srgbClr val="1A1A1A"/>
                </a:solidFill>
                <a:latin typeface="Hiragino Kaku Gothic ProN"/>
              </a:rPr>
              <a:t>この動画で学ぶこと</a:t>
            </a:r>
          </a:p>
        </p:txBody>
      </p:sp>
      <p:sp>
        <p:nvSpPr>
          <p:cNvPr id="49" name="Rectangle 48"/>
          <p:cNvSpPr/>
          <p:nvPr/>
        </p:nvSpPr>
        <p:spPr>
          <a:xfrm>
            <a:off x="320040" y="731520"/>
            <a:ext cx="8503920" cy="41148"/>
          </a:xfrm>
          <a:prstGeom prst="rect">
            <a:avLst/>
          </a:prstGeom>
          <a:solidFill>
            <a:srgbClr val="FF39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ounded Rectangle 49"/>
          <p:cNvSpPr/>
          <p:nvPr/>
        </p:nvSpPr>
        <p:spPr>
          <a:xfrm>
            <a:off x="228600" y="960120"/>
            <a:ext cx="2743200" cy="3977639"/>
          </a:xfrm>
          <a:prstGeom prst="roundRect">
            <a:avLst/>
          </a:prstGeom>
          <a:solidFill>
            <a:srgbClr val="FFFFFF"/>
          </a:solidFill>
          <a:ln w="15240">
            <a:solidFill>
              <a:srgbClr val="FFD6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1" name="Picture 50" descr="image-1-3.png"/>
          <p:cNvPicPr>
            <a:picLocks noChangeAspect="1"/>
          </p:cNvPicPr>
          <p:nvPr/>
        </p:nvPicPr>
        <p:blipFill>
          <a:blip r:embed="rId2"/>
          <a:stretch>
            <a:fillRect/>
          </a:stretch>
        </p:blipFill>
        <p:spPr>
          <a:xfrm>
            <a:off x="914400" y="1097280"/>
            <a:ext cx="1371600" cy="1371600"/>
          </a:xfrm>
          <a:prstGeom prst="rect">
            <a:avLst/>
          </a:prstGeom>
        </p:spPr>
      </p:pic>
      <p:sp>
        <p:nvSpPr>
          <p:cNvPr id="52" name="Rounded Rectangle 51"/>
          <p:cNvSpPr/>
          <p:nvPr/>
        </p:nvSpPr>
        <p:spPr>
          <a:xfrm>
            <a:off x="365760" y="2834640"/>
            <a:ext cx="640080" cy="640080"/>
          </a:xfrm>
          <a:prstGeom prst="roundRect">
            <a:avLst/>
          </a:prstGeom>
          <a:solidFill>
            <a:srgbClr val="FF39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365760" y="2866644"/>
            <a:ext cx="640080" cy="576072"/>
          </a:xfrm>
          <a:prstGeom prst="rect">
            <a:avLst/>
          </a:prstGeom>
          <a:noFill/>
        </p:spPr>
        <p:txBody>
          <a:bodyPr wrap="square">
            <a:spAutoFit/>
          </a:bodyPr>
          <a:lstStyle/>
          <a:p>
            <a:pPr algn="ctr"/>
            <a:r>
              <a:rPr sz="2000" b="1" i="0">
                <a:solidFill>
                  <a:srgbClr val="FFFFFF"/>
                </a:solidFill>
                <a:latin typeface="Hiragino Kaku Gothic ProN"/>
              </a:rPr>
              <a:t>01</a:t>
            </a:r>
          </a:p>
        </p:txBody>
      </p:sp>
      <p:sp>
        <p:nvSpPr>
          <p:cNvPr id="54" name="TextBox 53"/>
          <p:cNvSpPr txBox="1"/>
          <p:nvPr/>
        </p:nvSpPr>
        <p:spPr>
          <a:xfrm>
            <a:off x="320040" y="3611880"/>
            <a:ext cx="2560320" cy="594360"/>
          </a:xfrm>
          <a:prstGeom prst="rect">
            <a:avLst/>
          </a:prstGeom>
          <a:noFill/>
        </p:spPr>
        <p:txBody>
          <a:bodyPr wrap="square">
            <a:spAutoFit/>
          </a:bodyPr>
          <a:lstStyle/>
          <a:p>
            <a:pPr algn="l"/>
            <a:r>
              <a:rPr sz="1300" b="1" i="0">
                <a:solidFill>
                  <a:srgbClr val="1A1A1A"/>
                </a:solidFill>
                <a:latin typeface="Hiragino Kaku Gothic ProN"/>
              </a:rPr>
              <a:t>ステマ規制の全貌</a:t>
            </a:r>
          </a:p>
        </p:txBody>
      </p:sp>
      <p:sp>
        <p:nvSpPr>
          <p:cNvPr id="55" name="TextBox 54"/>
          <p:cNvSpPr txBox="1"/>
          <p:nvPr/>
        </p:nvSpPr>
        <p:spPr>
          <a:xfrm>
            <a:off x="320040" y="4251960"/>
            <a:ext cx="2560320" cy="594360"/>
          </a:xfrm>
          <a:prstGeom prst="rect">
            <a:avLst/>
          </a:prstGeom>
          <a:noFill/>
        </p:spPr>
        <p:txBody>
          <a:bodyPr wrap="square">
            <a:spAutoFit/>
          </a:bodyPr>
          <a:lstStyle/>
          <a:p>
            <a:pPr algn="l"/>
            <a:r>
              <a:rPr sz="1000" b="0" i="0">
                <a:solidFill>
                  <a:srgbClr val="666666"/>
                </a:solidFill>
                <a:latin typeface="Hiragino Kaku Gothic ProN"/>
              </a:rPr>
              <a:t>景表法違反・WOMJガイドラインの基本を知る</a:t>
            </a:r>
          </a:p>
        </p:txBody>
      </p:sp>
      <p:sp>
        <p:nvSpPr>
          <p:cNvPr id="56" name="Rounded Rectangle 55"/>
          <p:cNvSpPr/>
          <p:nvPr/>
        </p:nvSpPr>
        <p:spPr>
          <a:xfrm>
            <a:off x="3200400" y="960120"/>
            <a:ext cx="2743200" cy="3977639"/>
          </a:xfrm>
          <a:prstGeom prst="roundRect">
            <a:avLst/>
          </a:prstGeom>
          <a:solidFill>
            <a:srgbClr val="FFFFFF"/>
          </a:solidFill>
          <a:ln w="15240">
            <a:solidFill>
              <a:srgbClr val="FFD6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7" name="Picture 56" descr="image-1-1.png"/>
          <p:cNvPicPr>
            <a:picLocks noChangeAspect="1"/>
          </p:cNvPicPr>
          <p:nvPr/>
        </p:nvPicPr>
        <p:blipFill>
          <a:blip r:embed="rId3"/>
          <a:stretch>
            <a:fillRect/>
          </a:stretch>
        </p:blipFill>
        <p:spPr>
          <a:xfrm>
            <a:off x="3886200" y="1097280"/>
            <a:ext cx="1371600" cy="1371600"/>
          </a:xfrm>
          <a:prstGeom prst="rect">
            <a:avLst/>
          </a:prstGeom>
        </p:spPr>
      </p:pic>
      <p:sp>
        <p:nvSpPr>
          <p:cNvPr id="58" name="Rounded Rectangle 57"/>
          <p:cNvSpPr/>
          <p:nvPr/>
        </p:nvSpPr>
        <p:spPr>
          <a:xfrm>
            <a:off x="3337560" y="2834640"/>
            <a:ext cx="640080" cy="640080"/>
          </a:xfrm>
          <a:prstGeom prst="roundRect">
            <a:avLst/>
          </a:prstGeom>
          <a:solidFill>
            <a:srgbClr val="FF39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3337560" y="2866644"/>
            <a:ext cx="640080" cy="576072"/>
          </a:xfrm>
          <a:prstGeom prst="rect">
            <a:avLst/>
          </a:prstGeom>
          <a:noFill/>
        </p:spPr>
        <p:txBody>
          <a:bodyPr wrap="square">
            <a:spAutoFit/>
          </a:bodyPr>
          <a:lstStyle/>
          <a:p>
            <a:pPr algn="ctr"/>
            <a:r>
              <a:rPr sz="2000" b="1" i="0">
                <a:solidFill>
                  <a:srgbClr val="FFFFFF"/>
                </a:solidFill>
                <a:latin typeface="Hiragino Kaku Gothic ProN"/>
              </a:rPr>
              <a:t>02</a:t>
            </a:r>
          </a:p>
        </p:txBody>
      </p:sp>
      <p:sp>
        <p:nvSpPr>
          <p:cNvPr id="60" name="TextBox 59"/>
          <p:cNvSpPr txBox="1"/>
          <p:nvPr/>
        </p:nvSpPr>
        <p:spPr>
          <a:xfrm>
            <a:off x="3291840" y="3611880"/>
            <a:ext cx="2560320" cy="594360"/>
          </a:xfrm>
          <a:prstGeom prst="rect">
            <a:avLst/>
          </a:prstGeom>
          <a:noFill/>
        </p:spPr>
        <p:txBody>
          <a:bodyPr wrap="square">
            <a:spAutoFit/>
          </a:bodyPr>
          <a:lstStyle/>
          <a:p>
            <a:pPr algn="l"/>
            <a:r>
              <a:rPr sz="1300" b="1" i="0">
                <a:solidFill>
                  <a:srgbClr val="1A1A1A"/>
                </a:solidFill>
                <a:latin typeface="Hiragino Kaku Gothic ProN"/>
              </a:rPr>
              <a:t>プロモーション表記の正しいルール</a:t>
            </a:r>
          </a:p>
        </p:txBody>
      </p:sp>
      <p:sp>
        <p:nvSpPr>
          <p:cNvPr id="61" name="TextBox 60"/>
          <p:cNvSpPr txBox="1"/>
          <p:nvPr/>
        </p:nvSpPr>
        <p:spPr>
          <a:xfrm>
            <a:off x="3291840" y="4251960"/>
            <a:ext cx="2560320" cy="594360"/>
          </a:xfrm>
          <a:prstGeom prst="rect">
            <a:avLst/>
          </a:prstGeom>
          <a:noFill/>
        </p:spPr>
        <p:txBody>
          <a:bodyPr wrap="square">
            <a:spAutoFit/>
          </a:bodyPr>
          <a:lstStyle/>
          <a:p>
            <a:pPr algn="l"/>
            <a:r>
              <a:rPr sz="1000" b="0" i="0">
                <a:solidFill>
                  <a:srgbClr val="666666"/>
                </a:solidFill>
                <a:latin typeface="Hiragino Kaku Gothic ProN"/>
              </a:rPr>
              <a:t>OK例・NG例を具体的に理解する</a:t>
            </a:r>
          </a:p>
        </p:txBody>
      </p:sp>
      <p:sp>
        <p:nvSpPr>
          <p:cNvPr id="62" name="Rounded Rectangle 61"/>
          <p:cNvSpPr/>
          <p:nvPr/>
        </p:nvSpPr>
        <p:spPr>
          <a:xfrm>
            <a:off x="6172200" y="960120"/>
            <a:ext cx="2743200" cy="3977639"/>
          </a:xfrm>
          <a:prstGeom prst="roundRect">
            <a:avLst/>
          </a:prstGeom>
          <a:solidFill>
            <a:srgbClr val="FFFFFF"/>
          </a:solidFill>
          <a:ln w="15240">
            <a:solidFill>
              <a:srgbClr val="FFD6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3" name="Picture 62" descr="image-6-1.png"/>
          <p:cNvPicPr>
            <a:picLocks noChangeAspect="1"/>
          </p:cNvPicPr>
          <p:nvPr/>
        </p:nvPicPr>
        <p:blipFill>
          <a:blip r:embed="rId4"/>
          <a:stretch>
            <a:fillRect/>
          </a:stretch>
        </p:blipFill>
        <p:spPr>
          <a:xfrm>
            <a:off x="6858000" y="1097280"/>
            <a:ext cx="1371600" cy="1371600"/>
          </a:xfrm>
          <a:prstGeom prst="rect">
            <a:avLst/>
          </a:prstGeom>
        </p:spPr>
      </p:pic>
      <p:sp>
        <p:nvSpPr>
          <p:cNvPr id="64" name="Rounded Rectangle 63"/>
          <p:cNvSpPr/>
          <p:nvPr/>
        </p:nvSpPr>
        <p:spPr>
          <a:xfrm>
            <a:off x="6309360" y="2834640"/>
            <a:ext cx="640080" cy="640080"/>
          </a:xfrm>
          <a:prstGeom prst="roundRect">
            <a:avLst/>
          </a:prstGeom>
          <a:solidFill>
            <a:srgbClr val="FF39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6309360" y="2866644"/>
            <a:ext cx="640080" cy="576072"/>
          </a:xfrm>
          <a:prstGeom prst="rect">
            <a:avLst/>
          </a:prstGeom>
          <a:noFill/>
        </p:spPr>
        <p:txBody>
          <a:bodyPr wrap="square">
            <a:spAutoFit/>
          </a:bodyPr>
          <a:lstStyle/>
          <a:p>
            <a:pPr algn="ctr"/>
            <a:r>
              <a:rPr sz="2000" b="1" i="0">
                <a:solidFill>
                  <a:srgbClr val="FFFFFF"/>
                </a:solidFill>
                <a:latin typeface="Hiragino Kaku Gothic ProN"/>
              </a:rPr>
              <a:t>03</a:t>
            </a:r>
          </a:p>
        </p:txBody>
      </p:sp>
      <p:sp>
        <p:nvSpPr>
          <p:cNvPr id="66" name="TextBox 65"/>
          <p:cNvSpPr txBox="1"/>
          <p:nvPr/>
        </p:nvSpPr>
        <p:spPr>
          <a:xfrm>
            <a:off x="6263640" y="3611880"/>
            <a:ext cx="2560320" cy="594360"/>
          </a:xfrm>
          <a:prstGeom prst="rect">
            <a:avLst/>
          </a:prstGeom>
          <a:noFill/>
        </p:spPr>
        <p:txBody>
          <a:bodyPr wrap="square">
            <a:spAutoFit/>
          </a:bodyPr>
          <a:lstStyle/>
          <a:p>
            <a:pPr algn="l"/>
            <a:r>
              <a:rPr sz="1300" b="1" i="0">
                <a:solidFill>
                  <a:srgbClr val="1A1A1A"/>
                </a:solidFill>
                <a:latin typeface="Hiragino Kaku Gothic ProN"/>
              </a:rPr>
              <a:t>ステマ発覚時の本当のリスク</a:t>
            </a:r>
          </a:p>
        </p:txBody>
      </p:sp>
      <p:sp>
        <p:nvSpPr>
          <p:cNvPr id="67" name="TextBox 66"/>
          <p:cNvSpPr txBox="1"/>
          <p:nvPr/>
        </p:nvSpPr>
        <p:spPr>
          <a:xfrm>
            <a:off x="6263640" y="4251960"/>
            <a:ext cx="2560320" cy="594360"/>
          </a:xfrm>
          <a:prstGeom prst="rect">
            <a:avLst/>
          </a:prstGeom>
          <a:noFill/>
        </p:spPr>
        <p:txBody>
          <a:bodyPr wrap="square">
            <a:spAutoFit/>
          </a:bodyPr>
          <a:lstStyle/>
          <a:p>
            <a:pPr algn="l"/>
            <a:r>
              <a:rPr sz="1000" b="0" i="0">
                <a:solidFill>
                  <a:srgbClr val="666666"/>
                </a:solidFill>
                <a:latin typeface="Hiragino Kaku Gothic ProN"/>
              </a:rPr>
              <a:t>クリエイターが受ける現実的ダメージを知る</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2004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4008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96011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28016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60020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92024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24028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56032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88036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20040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52044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84048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16052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48055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80059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12063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44067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76071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08075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40079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72083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04087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36091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68095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00099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832103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864107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896111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0" y="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0" y="32004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0" y="64008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0" y="960119"/>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0" y="128016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0" y="160020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0" y="192024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0" y="224028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0" y="256032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0" y="288036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0" y="320040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0" y="352044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0" y="384048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0" y="416052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0" y="4480559"/>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0" y="4800599"/>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0" y="5120639"/>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320040" y="164592"/>
            <a:ext cx="8503920" cy="594360"/>
          </a:xfrm>
          <a:prstGeom prst="rect">
            <a:avLst/>
          </a:prstGeom>
          <a:noFill/>
        </p:spPr>
        <p:txBody>
          <a:bodyPr wrap="square">
            <a:spAutoFit/>
          </a:bodyPr>
          <a:lstStyle/>
          <a:p>
            <a:pPr algn="l"/>
            <a:r>
              <a:rPr sz="2600" b="1" i="0">
                <a:solidFill>
                  <a:srgbClr val="1A1A1A"/>
                </a:solidFill>
                <a:latin typeface="Hiragino Kaku Gothic ProN"/>
              </a:rPr>
              <a:t>ステマ（ステルスマーケティング）とは？</a:t>
            </a:r>
          </a:p>
        </p:txBody>
      </p:sp>
      <p:sp>
        <p:nvSpPr>
          <p:cNvPr id="49" name="Rectangle 48"/>
          <p:cNvSpPr/>
          <p:nvPr/>
        </p:nvSpPr>
        <p:spPr>
          <a:xfrm>
            <a:off x="320040" y="731520"/>
            <a:ext cx="8503920" cy="41148"/>
          </a:xfrm>
          <a:prstGeom prst="rect">
            <a:avLst/>
          </a:prstGeom>
          <a:solidFill>
            <a:srgbClr val="FF39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ounded Rectangle 49"/>
          <p:cNvSpPr/>
          <p:nvPr/>
        </p:nvSpPr>
        <p:spPr>
          <a:xfrm>
            <a:off x="274320" y="914400"/>
            <a:ext cx="8595360" cy="2377440"/>
          </a:xfrm>
          <a:prstGeom prst="roundRect">
            <a:avLst/>
          </a:prstGeom>
          <a:solidFill>
            <a:srgbClr val="FFFFFF"/>
          </a:solidFill>
          <a:ln w="15240">
            <a:solidFill>
              <a:srgbClr val="FFD6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438912" y="1078992"/>
            <a:ext cx="8321040" cy="2103120"/>
          </a:xfrm>
          <a:prstGeom prst="rect">
            <a:avLst/>
          </a:prstGeom>
          <a:noFill/>
        </p:spPr>
        <p:txBody>
          <a:bodyPr wrap="square">
            <a:spAutoFit/>
          </a:bodyPr>
          <a:lstStyle/>
          <a:p>
            <a:pPr algn="l">
              <a:spcBef>
                <a:spcPts val="300"/>
              </a:spcBef>
            </a:pPr>
            <a:r>
              <a:rPr sz="1300">
                <a:solidFill>
                  <a:srgbClr val="1A1A1A"/>
                </a:solidFill>
                <a:latin typeface="Hiragino Kaku Gothic ProN"/>
              </a:rPr>
              <a:t>•  ステマ＝「広告であることを隠して発信すること」</a:t>
            </a:r>
          </a:p>
          <a:p>
            <a:pPr algn="l">
              <a:spcBef>
                <a:spcPts val="300"/>
              </a:spcBef>
            </a:pPr>
            <a:r>
              <a:rPr sz="1300">
                <a:solidFill>
                  <a:srgbClr val="1A1A1A"/>
                </a:solidFill>
                <a:latin typeface="Hiragino Kaku Gothic ProN"/>
              </a:rPr>
              <a:t>•  2023年10月より景品表示法で「違法行為」に指定</a:t>
            </a:r>
          </a:p>
          <a:p>
            <a:pPr algn="l">
              <a:spcBef>
                <a:spcPts val="300"/>
              </a:spcBef>
            </a:pPr>
            <a:r>
              <a:rPr sz="1300">
                <a:solidFill>
                  <a:srgbClr val="1A1A1A"/>
                </a:solidFill>
                <a:latin typeface="Hiragino Kaku Gothic ProN"/>
              </a:rPr>
              <a:t>•  WOMJガイドラインでも「関係性の明示」が必須</a:t>
            </a:r>
          </a:p>
        </p:txBody>
      </p:sp>
      <p:sp>
        <p:nvSpPr>
          <p:cNvPr id="52" name="Rounded Rectangle 51"/>
          <p:cNvSpPr/>
          <p:nvPr/>
        </p:nvSpPr>
        <p:spPr>
          <a:xfrm>
            <a:off x="274320" y="3429000"/>
            <a:ext cx="8595360" cy="777240"/>
          </a:xfrm>
          <a:prstGeom prst="roundRect">
            <a:avLst/>
          </a:prstGeom>
          <a:solidFill>
            <a:srgbClr val="FFECF5"/>
          </a:solidFill>
          <a:ln w="19050">
            <a:solidFill>
              <a:srgbClr val="FF3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411479" y="3502152"/>
            <a:ext cx="8321040" cy="685800"/>
          </a:xfrm>
          <a:prstGeom prst="rect">
            <a:avLst/>
          </a:prstGeom>
          <a:noFill/>
        </p:spPr>
        <p:txBody>
          <a:bodyPr wrap="square">
            <a:noAutofit/>
          </a:bodyPr>
          <a:lstStyle/>
          <a:p>
            <a:r>
              <a:rPr sz="1300" b="1">
                <a:solidFill>
                  <a:srgbClr val="FF3999"/>
                </a:solidFill>
                <a:latin typeface="Hiragino Kaku Gothic ProN"/>
              </a:rPr>
              <a:t>【重要】企業から報酬を受け取りながら自腹で買ったように装う行為＝ステマ。フォロワーを騙す違法行為であり「知らなかった」では済まされない。</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2004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4008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96011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28016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60020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92024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24028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56032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88036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20040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52044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84048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16052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48055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80059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12063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44067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76071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08075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40079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72083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04087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36091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68095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00099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832103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864107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896111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0" y="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0" y="32004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0" y="64008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0" y="960119"/>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0" y="128016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0" y="160020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0" y="192024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0" y="224028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0" y="256032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0" y="288036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0" y="320040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0" y="352044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0" y="384048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0" y="416052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0" y="4480559"/>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0" y="4800599"/>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0" y="5120639"/>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320040" y="164592"/>
            <a:ext cx="8503920" cy="594360"/>
          </a:xfrm>
          <a:prstGeom prst="rect">
            <a:avLst/>
          </a:prstGeom>
          <a:noFill/>
        </p:spPr>
        <p:txBody>
          <a:bodyPr wrap="square">
            <a:spAutoFit/>
          </a:bodyPr>
          <a:lstStyle/>
          <a:p>
            <a:pPr algn="l"/>
            <a:r>
              <a:rPr sz="2600" b="1" i="0">
                <a:solidFill>
                  <a:srgbClr val="1A1A1A"/>
                </a:solidFill>
                <a:latin typeface="Hiragino Kaku Gothic ProN"/>
              </a:rPr>
              <a:t>プロモーション表記の正しいルール</a:t>
            </a:r>
          </a:p>
        </p:txBody>
      </p:sp>
      <p:sp>
        <p:nvSpPr>
          <p:cNvPr id="49" name="Rectangle 48"/>
          <p:cNvSpPr/>
          <p:nvPr/>
        </p:nvSpPr>
        <p:spPr>
          <a:xfrm>
            <a:off x="320040" y="731520"/>
            <a:ext cx="8503920" cy="41148"/>
          </a:xfrm>
          <a:prstGeom prst="rect">
            <a:avLst/>
          </a:prstGeom>
          <a:solidFill>
            <a:srgbClr val="FF39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ounded Rectangle 49"/>
          <p:cNvSpPr/>
          <p:nvPr/>
        </p:nvSpPr>
        <p:spPr>
          <a:xfrm>
            <a:off x="274320" y="914400"/>
            <a:ext cx="4114800" cy="2606040"/>
          </a:xfrm>
          <a:prstGeom prst="roundRect">
            <a:avLst/>
          </a:prstGeom>
          <a:solidFill>
            <a:srgbClr val="FFFFFF"/>
          </a:solidFill>
          <a:ln w="15240">
            <a:solidFill>
              <a:srgbClr val="FFD6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274320" y="914400"/>
            <a:ext cx="4114800" cy="384048"/>
          </a:xfrm>
          <a:prstGeom prst="rect">
            <a:avLst/>
          </a:prstGeom>
          <a:solidFill>
            <a:srgbClr val="FF3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411479" y="941832"/>
            <a:ext cx="3840480" cy="347472"/>
          </a:xfrm>
          <a:prstGeom prst="rect">
            <a:avLst/>
          </a:prstGeom>
          <a:noFill/>
        </p:spPr>
        <p:txBody>
          <a:bodyPr wrap="square">
            <a:spAutoFit/>
          </a:bodyPr>
          <a:lstStyle/>
          <a:p>
            <a:pPr algn="l"/>
            <a:r>
              <a:rPr sz="1300" b="1" i="0">
                <a:solidFill>
                  <a:srgbClr val="FFFFFF"/>
                </a:solidFill>
                <a:latin typeface="Hiragino Kaku Gothic ProN"/>
              </a:rPr>
              <a:t>NG 例</a:t>
            </a:r>
          </a:p>
        </p:txBody>
      </p:sp>
      <p:sp>
        <p:nvSpPr>
          <p:cNvPr id="53" name="TextBox 52"/>
          <p:cNvSpPr txBox="1"/>
          <p:nvPr/>
        </p:nvSpPr>
        <p:spPr>
          <a:xfrm>
            <a:off x="438912" y="1371600"/>
            <a:ext cx="3840480" cy="2039112"/>
          </a:xfrm>
          <a:prstGeom prst="rect">
            <a:avLst/>
          </a:prstGeom>
          <a:noFill/>
        </p:spPr>
        <p:txBody>
          <a:bodyPr wrap="square">
            <a:spAutoFit/>
          </a:bodyPr>
          <a:lstStyle/>
          <a:p>
            <a:pPr algn="l">
              <a:spcBef>
                <a:spcPts val="300"/>
              </a:spcBef>
            </a:pPr>
            <a:r>
              <a:rPr b="1" sz="1300">
                <a:solidFill>
                  <a:srgbClr val="FF3333"/>
                </a:solidFill>
                <a:latin typeface="Hiragino Kaku Gothic ProN"/>
              </a:rPr>
              <a:t>✗  </a:t>
            </a:r>
            <a:r>
              <a:rPr sz="1300">
                <a:solidFill>
                  <a:srgbClr val="FF3333"/>
                </a:solidFill>
                <a:latin typeface="Hiragino Kaku Gothic ProN"/>
              </a:rPr>
              <a:t>大量のハッシュタグの最後に「#PR」を混ぜる</a:t>
            </a:r>
          </a:p>
          <a:p>
            <a:pPr algn="l">
              <a:spcBef>
                <a:spcPts val="300"/>
              </a:spcBef>
            </a:pPr>
            <a:r>
              <a:rPr b="1" sz="1300">
                <a:solidFill>
                  <a:srgbClr val="FF3333"/>
                </a:solidFill>
                <a:latin typeface="Hiragino Kaku Gothic ProN"/>
              </a:rPr>
              <a:t>✗  </a:t>
            </a:r>
            <a:r>
              <a:rPr sz="1300">
                <a:solidFill>
                  <a:srgbClr val="FF3333"/>
                </a:solidFill>
                <a:latin typeface="Hiragino Kaku Gothic ProN"/>
              </a:rPr>
              <a:t>「#pr」小文字でPR表記をする</a:t>
            </a:r>
          </a:p>
          <a:p>
            <a:pPr algn="l">
              <a:spcBef>
                <a:spcPts val="300"/>
              </a:spcBef>
            </a:pPr>
            <a:r>
              <a:rPr b="1" sz="1300">
                <a:solidFill>
                  <a:srgbClr val="FF3333"/>
                </a:solidFill>
                <a:latin typeface="Hiragino Kaku Gothic ProN"/>
              </a:rPr>
              <a:t>✗  </a:t>
            </a:r>
            <a:r>
              <a:rPr sz="1300">
                <a:solidFill>
                  <a:srgbClr val="FF3333"/>
                </a:solidFill>
                <a:latin typeface="Hiragino Kaku Gothic ProN"/>
              </a:rPr>
              <a:t>動画の端・見えにくい位置に配置する</a:t>
            </a:r>
          </a:p>
        </p:txBody>
      </p:sp>
      <p:sp>
        <p:nvSpPr>
          <p:cNvPr id="54" name="Rounded Rectangle 53"/>
          <p:cNvSpPr/>
          <p:nvPr/>
        </p:nvSpPr>
        <p:spPr>
          <a:xfrm>
            <a:off x="4754880" y="914400"/>
            <a:ext cx="4114800" cy="2606040"/>
          </a:xfrm>
          <a:prstGeom prst="roundRect">
            <a:avLst/>
          </a:prstGeom>
          <a:solidFill>
            <a:srgbClr val="FFFFFF"/>
          </a:solidFill>
          <a:ln w="15240">
            <a:solidFill>
              <a:srgbClr val="FFD6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4754880" y="914400"/>
            <a:ext cx="4114800" cy="384048"/>
          </a:xfrm>
          <a:prstGeom prst="rect">
            <a:avLst/>
          </a:prstGeom>
          <a:solidFill>
            <a:srgbClr val="00BF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4892040" y="941832"/>
            <a:ext cx="3840480" cy="347472"/>
          </a:xfrm>
          <a:prstGeom prst="rect">
            <a:avLst/>
          </a:prstGeom>
          <a:noFill/>
        </p:spPr>
        <p:txBody>
          <a:bodyPr wrap="square">
            <a:spAutoFit/>
          </a:bodyPr>
          <a:lstStyle/>
          <a:p>
            <a:pPr algn="l"/>
            <a:r>
              <a:rPr sz="1300" b="1" i="0">
                <a:solidFill>
                  <a:srgbClr val="FFFFFF"/>
                </a:solidFill>
                <a:latin typeface="Hiragino Kaku Gothic ProN"/>
              </a:rPr>
              <a:t>OK 例</a:t>
            </a:r>
          </a:p>
        </p:txBody>
      </p:sp>
      <p:sp>
        <p:nvSpPr>
          <p:cNvPr id="57" name="TextBox 56"/>
          <p:cNvSpPr txBox="1"/>
          <p:nvPr/>
        </p:nvSpPr>
        <p:spPr>
          <a:xfrm>
            <a:off x="4919472" y="1371600"/>
            <a:ext cx="3840480" cy="2039112"/>
          </a:xfrm>
          <a:prstGeom prst="rect">
            <a:avLst/>
          </a:prstGeom>
          <a:noFill/>
        </p:spPr>
        <p:txBody>
          <a:bodyPr wrap="square">
            <a:spAutoFit/>
          </a:bodyPr>
          <a:lstStyle/>
          <a:p>
            <a:pPr algn="l">
              <a:spcBef>
                <a:spcPts val="300"/>
              </a:spcBef>
            </a:pPr>
            <a:r>
              <a:rPr b="1" sz="1300">
                <a:solidFill>
                  <a:srgbClr val="00BFA5"/>
                </a:solidFill>
                <a:latin typeface="Hiragino Kaku Gothic ProN"/>
              </a:rPr>
              <a:t>✓  </a:t>
            </a:r>
            <a:r>
              <a:rPr sz="1300">
                <a:solidFill>
                  <a:srgbClr val="00BFA5"/>
                </a:solidFill>
                <a:latin typeface="Hiragino Kaku Gothic ProN"/>
              </a:rPr>
              <a:t>キャプションの冒頭に「#PR」を明記する</a:t>
            </a:r>
          </a:p>
          <a:p>
            <a:pPr algn="l">
              <a:spcBef>
                <a:spcPts val="300"/>
              </a:spcBef>
            </a:pPr>
            <a:r>
              <a:rPr b="1" sz="1300">
                <a:solidFill>
                  <a:srgbClr val="00BFA5"/>
                </a:solidFill>
                <a:latin typeface="Hiragino Kaku Gothic ProN"/>
              </a:rPr>
              <a:t>✓  </a:t>
            </a:r>
            <a:r>
              <a:rPr sz="1300">
                <a:solidFill>
                  <a:srgbClr val="00BFA5"/>
                </a:solidFill>
                <a:latin typeface="Hiragino Kaku Gothic ProN"/>
              </a:rPr>
              <a:t>動画内の視認できる位置に一定期間表示する</a:t>
            </a:r>
          </a:p>
          <a:p>
            <a:pPr algn="l">
              <a:spcBef>
                <a:spcPts val="300"/>
              </a:spcBef>
            </a:pPr>
            <a:r>
              <a:rPr b="1" sz="1300">
                <a:solidFill>
                  <a:srgbClr val="00BFA5"/>
                </a:solidFill>
                <a:latin typeface="Hiragino Kaku Gothic ProN"/>
              </a:rPr>
              <a:t>✓  </a:t>
            </a:r>
            <a:r>
              <a:rPr sz="1300">
                <a:solidFill>
                  <a:srgbClr val="00BFA5"/>
                </a:solidFill>
                <a:latin typeface="Hiragino Kaku Gothic ProN"/>
              </a:rPr>
              <a:t>誰が見ても広告とわかる分かりやすさが必要</a:t>
            </a:r>
          </a:p>
        </p:txBody>
      </p:sp>
      <p:sp>
        <p:nvSpPr>
          <p:cNvPr id="58" name="Rounded Rectangle 57"/>
          <p:cNvSpPr/>
          <p:nvPr/>
        </p:nvSpPr>
        <p:spPr>
          <a:xfrm>
            <a:off x="274320" y="3675887"/>
            <a:ext cx="8595360" cy="777240"/>
          </a:xfrm>
          <a:prstGeom prst="roundRect">
            <a:avLst/>
          </a:prstGeom>
          <a:solidFill>
            <a:srgbClr val="FFECF5"/>
          </a:solidFill>
          <a:ln w="19050">
            <a:solidFill>
              <a:srgbClr val="FF3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411479" y="3749039"/>
            <a:ext cx="8321040" cy="685800"/>
          </a:xfrm>
          <a:prstGeom prst="rect">
            <a:avLst/>
          </a:prstGeom>
          <a:noFill/>
        </p:spPr>
        <p:txBody>
          <a:bodyPr wrap="square">
            <a:noAutofit/>
          </a:bodyPr>
          <a:lstStyle/>
          <a:p>
            <a:r>
              <a:rPr sz="1300" b="1">
                <a:solidFill>
                  <a:srgbClr val="FF3999"/>
                </a:solidFill>
                <a:latin typeface="Hiragino Kaku Gothic ProN"/>
              </a:rPr>
              <a:t>案件毎にオリエンシートを共有します。進行担当のアナウンスに必ず従ってください。</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2004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4008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96011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28016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60020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92024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24028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56032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88036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20040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52044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84048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16052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48055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80059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12063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44067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76071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08075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40079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72083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04087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36091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68095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00099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832103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864107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896111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0" y="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0" y="32004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0" y="64008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0" y="960119"/>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0" y="128016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0" y="160020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0" y="192024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0" y="224028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0" y="256032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0" y="288036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0" y="320040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0" y="352044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0" y="384048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0" y="416052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0" y="4480559"/>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0" y="4800599"/>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0" y="5120639"/>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320040" y="164592"/>
            <a:ext cx="8503920" cy="594360"/>
          </a:xfrm>
          <a:prstGeom prst="rect">
            <a:avLst/>
          </a:prstGeom>
          <a:noFill/>
        </p:spPr>
        <p:txBody>
          <a:bodyPr wrap="square">
            <a:spAutoFit/>
          </a:bodyPr>
          <a:lstStyle/>
          <a:p>
            <a:pPr algn="l"/>
            <a:r>
              <a:rPr sz="2600" b="1" i="0">
                <a:solidFill>
                  <a:srgbClr val="1A1A1A"/>
                </a:solidFill>
                <a:latin typeface="Hiragino Kaku Gothic ProN"/>
              </a:rPr>
              <a:t>タイアップ設定（アカウント紐付け）の意味</a:t>
            </a:r>
          </a:p>
        </p:txBody>
      </p:sp>
      <p:sp>
        <p:nvSpPr>
          <p:cNvPr id="49" name="Rectangle 48"/>
          <p:cNvSpPr/>
          <p:nvPr/>
        </p:nvSpPr>
        <p:spPr>
          <a:xfrm>
            <a:off x="320040" y="731520"/>
            <a:ext cx="8503920" cy="41148"/>
          </a:xfrm>
          <a:prstGeom prst="rect">
            <a:avLst/>
          </a:prstGeom>
          <a:solidFill>
            <a:srgbClr val="FF39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ounded Rectangle 49"/>
          <p:cNvSpPr/>
          <p:nvPr/>
        </p:nvSpPr>
        <p:spPr>
          <a:xfrm>
            <a:off x="274320" y="914400"/>
            <a:ext cx="8595360" cy="1645920"/>
          </a:xfrm>
          <a:prstGeom prst="roundRect">
            <a:avLst/>
          </a:prstGeom>
          <a:solidFill>
            <a:srgbClr val="FFFFFF"/>
          </a:solidFill>
          <a:ln w="15240">
            <a:solidFill>
              <a:srgbClr val="FFD6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438912" y="1078992"/>
            <a:ext cx="8321040" cy="1371600"/>
          </a:xfrm>
          <a:prstGeom prst="rect">
            <a:avLst/>
          </a:prstGeom>
          <a:noFill/>
        </p:spPr>
        <p:txBody>
          <a:bodyPr wrap="square">
            <a:spAutoFit/>
          </a:bodyPr>
          <a:lstStyle/>
          <a:p>
            <a:pPr algn="l">
              <a:spcBef>
                <a:spcPts val="300"/>
              </a:spcBef>
            </a:pPr>
            <a:r>
              <a:rPr sz="1300">
                <a:solidFill>
                  <a:srgbClr val="1A1A1A"/>
                </a:solidFill>
                <a:latin typeface="Hiragino Kaku Gothic ProN"/>
              </a:rPr>
              <a:t>•  各SNSの公式機能（タイアップタグ等）を必ず使うこと</a:t>
            </a:r>
          </a:p>
          <a:p>
            <a:pPr algn="l">
              <a:spcBef>
                <a:spcPts val="300"/>
              </a:spcBef>
            </a:pPr>
            <a:r>
              <a:rPr b="1" sz="1300">
                <a:solidFill>
                  <a:srgbClr val="00BFA5"/>
                </a:solidFill>
                <a:latin typeface="Hiragino Kaku Gothic ProN"/>
              </a:rPr>
              <a:t>✓  </a:t>
            </a:r>
            <a:r>
              <a:rPr sz="1300">
                <a:solidFill>
                  <a:srgbClr val="00BFA5"/>
                </a:solidFill>
                <a:latin typeface="Hiragino Kaku Gothic ProN"/>
              </a:rPr>
              <a:t>プラットフォームの規約違反を防ぐため</a:t>
            </a:r>
          </a:p>
          <a:p>
            <a:pPr algn="l">
              <a:spcBef>
                <a:spcPts val="300"/>
              </a:spcBef>
            </a:pPr>
            <a:r>
              <a:rPr b="1" sz="1300">
                <a:solidFill>
                  <a:srgbClr val="00BFA5"/>
                </a:solidFill>
                <a:latin typeface="Hiragino Kaku Gothic ProN"/>
              </a:rPr>
              <a:t>✓  </a:t>
            </a:r>
            <a:r>
              <a:rPr sz="1300">
                <a:solidFill>
                  <a:srgbClr val="00BFA5"/>
                </a:solidFill>
                <a:latin typeface="Hiragino Kaku Gothic ProN"/>
              </a:rPr>
              <a:t>広告としての透明性を証明するため</a:t>
            </a:r>
          </a:p>
        </p:txBody>
      </p:sp>
      <p:sp>
        <p:nvSpPr>
          <p:cNvPr id="52" name="Rounded Rectangle 51"/>
          <p:cNvSpPr/>
          <p:nvPr/>
        </p:nvSpPr>
        <p:spPr>
          <a:xfrm>
            <a:off x="274320" y="2679192"/>
            <a:ext cx="8595360" cy="1280160"/>
          </a:xfrm>
          <a:prstGeom prst="roundRect">
            <a:avLst/>
          </a:prstGeom>
          <a:solidFill>
            <a:srgbClr val="FFFFFF"/>
          </a:solidFill>
          <a:ln w="15240">
            <a:solidFill>
              <a:srgbClr val="FFD6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274320" y="2679192"/>
            <a:ext cx="8595360" cy="384048"/>
          </a:xfrm>
          <a:prstGeom prst="rect">
            <a:avLst/>
          </a:prstGeom>
          <a:solidFill>
            <a:srgbClr val="DD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411479" y="2706624"/>
            <a:ext cx="8321040" cy="347472"/>
          </a:xfrm>
          <a:prstGeom prst="rect">
            <a:avLst/>
          </a:prstGeom>
          <a:noFill/>
        </p:spPr>
        <p:txBody>
          <a:bodyPr wrap="square">
            <a:spAutoFit/>
          </a:bodyPr>
          <a:lstStyle/>
          <a:p>
            <a:pPr algn="l"/>
            <a:r>
              <a:rPr sz="1300" b="1" i="0">
                <a:solidFill>
                  <a:srgbClr val="FFFFFF"/>
                </a:solidFill>
                <a:latin typeface="Hiragino Kaku Gothic ProN"/>
              </a:rPr>
              <a:t>⚠️ リスク</a:t>
            </a:r>
          </a:p>
        </p:txBody>
      </p:sp>
      <p:sp>
        <p:nvSpPr>
          <p:cNvPr id="55" name="TextBox 54"/>
          <p:cNvSpPr txBox="1"/>
          <p:nvPr/>
        </p:nvSpPr>
        <p:spPr>
          <a:xfrm>
            <a:off x="438912" y="3136392"/>
            <a:ext cx="8321040" cy="713231"/>
          </a:xfrm>
          <a:prstGeom prst="rect">
            <a:avLst/>
          </a:prstGeom>
          <a:noFill/>
        </p:spPr>
        <p:txBody>
          <a:bodyPr wrap="square">
            <a:spAutoFit/>
          </a:bodyPr>
          <a:lstStyle/>
          <a:p>
            <a:pPr algn="l">
              <a:spcBef>
                <a:spcPts val="300"/>
              </a:spcBef>
            </a:pPr>
            <a:r>
              <a:rPr b="1" sz="1300">
                <a:solidFill>
                  <a:srgbClr val="FF3333"/>
                </a:solidFill>
                <a:latin typeface="Hiragino Kaku Gothic ProN"/>
              </a:rPr>
              <a:t>✗  </a:t>
            </a:r>
            <a:r>
              <a:rPr sz="1300">
                <a:solidFill>
                  <a:srgbClr val="FF3333"/>
                </a:solidFill>
                <a:latin typeface="Hiragino Kaku Gothic ProN"/>
              </a:rPr>
              <a:t>設定しないとシャドウバン（表示回数激減）の対象になる可能性</a:t>
            </a:r>
          </a:p>
          <a:p>
            <a:pPr algn="l">
              <a:spcBef>
                <a:spcPts val="300"/>
              </a:spcBef>
            </a:pPr>
            <a:r>
              <a:rPr b="1" sz="1300">
                <a:solidFill>
                  <a:srgbClr val="FF3333"/>
                </a:solidFill>
                <a:latin typeface="Hiragino Kaku Gothic ProN"/>
              </a:rPr>
              <a:t>✗  </a:t>
            </a:r>
            <a:r>
              <a:rPr sz="1300">
                <a:solidFill>
                  <a:srgbClr val="FF3333"/>
                </a:solidFill>
                <a:latin typeface="Hiragino Kaku Gothic ProN"/>
              </a:rPr>
              <a:t>繰り返すと永久アカウント停止のリスク</a:t>
            </a:r>
          </a:p>
        </p:txBody>
      </p:sp>
      <p:sp>
        <p:nvSpPr>
          <p:cNvPr id="56" name="Rounded Rectangle 55"/>
          <p:cNvSpPr/>
          <p:nvPr/>
        </p:nvSpPr>
        <p:spPr>
          <a:xfrm>
            <a:off x="274320" y="4059936"/>
            <a:ext cx="8595360" cy="777240"/>
          </a:xfrm>
          <a:prstGeom prst="roundRect">
            <a:avLst/>
          </a:prstGeom>
          <a:solidFill>
            <a:srgbClr val="FFECF5"/>
          </a:solidFill>
          <a:ln w="19050">
            <a:solidFill>
              <a:srgbClr val="FF3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411479" y="4133088"/>
            <a:ext cx="8321040" cy="685800"/>
          </a:xfrm>
          <a:prstGeom prst="rect">
            <a:avLst/>
          </a:prstGeom>
          <a:noFill/>
        </p:spPr>
        <p:txBody>
          <a:bodyPr wrap="square">
            <a:noAutofit/>
          </a:bodyPr>
          <a:lstStyle/>
          <a:p>
            <a:r>
              <a:rPr sz="1300" b="1">
                <a:solidFill>
                  <a:srgbClr val="FF3999"/>
                </a:solidFill>
                <a:latin typeface="Hiragino Kaku Gothic ProN"/>
              </a:rPr>
              <a:t>文字で#PRと書くだけでなく、公式の広告設定ツールでの企業との紐付けが重要です。</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2004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4008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96011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28016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60020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92024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24028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56032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88036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20040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52044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84048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16052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48055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80059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12063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44067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76071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08075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40079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72083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04087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36091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68095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00099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832103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864107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896111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0" y="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0" y="32004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0" y="64008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0" y="960119"/>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0" y="128016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0" y="160020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0" y="192024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0" y="224028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0" y="256032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0" y="288036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0" y="320040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0" y="352044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0" y="384048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0" y="416052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0" y="4480559"/>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0" y="4800599"/>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0" y="5120639"/>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320040" y="164592"/>
            <a:ext cx="8503920" cy="594360"/>
          </a:xfrm>
          <a:prstGeom prst="rect">
            <a:avLst/>
          </a:prstGeom>
          <a:noFill/>
        </p:spPr>
        <p:txBody>
          <a:bodyPr wrap="square">
            <a:spAutoFit/>
          </a:bodyPr>
          <a:lstStyle/>
          <a:p>
            <a:pPr algn="l"/>
            <a:r>
              <a:rPr sz="2600" b="1" i="0">
                <a:solidFill>
                  <a:srgbClr val="1A1A1A"/>
                </a:solidFill>
                <a:latin typeface="Hiragino Kaku Gothic ProN"/>
              </a:rPr>
              <a:t>ステマ発覚時の「本当のリスク」</a:t>
            </a:r>
          </a:p>
        </p:txBody>
      </p:sp>
      <p:sp>
        <p:nvSpPr>
          <p:cNvPr id="49" name="Rectangle 48"/>
          <p:cNvSpPr/>
          <p:nvPr/>
        </p:nvSpPr>
        <p:spPr>
          <a:xfrm>
            <a:off x="320040" y="731520"/>
            <a:ext cx="8503920" cy="41148"/>
          </a:xfrm>
          <a:prstGeom prst="rect">
            <a:avLst/>
          </a:prstGeom>
          <a:solidFill>
            <a:srgbClr val="FF39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ounded Rectangle 49"/>
          <p:cNvSpPr/>
          <p:nvPr/>
        </p:nvSpPr>
        <p:spPr>
          <a:xfrm>
            <a:off x="274320" y="914400"/>
            <a:ext cx="4114800" cy="3246120"/>
          </a:xfrm>
          <a:prstGeom prst="roundRect">
            <a:avLst/>
          </a:prstGeom>
          <a:solidFill>
            <a:srgbClr val="FFFFFF"/>
          </a:solidFill>
          <a:ln w="15240">
            <a:solidFill>
              <a:srgbClr val="FFD6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274320" y="914400"/>
            <a:ext cx="4114800" cy="384048"/>
          </a:xfrm>
          <a:prstGeom prst="rect">
            <a:avLst/>
          </a:prstGeom>
          <a:solidFill>
            <a:srgbClr val="6666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411479" y="941832"/>
            <a:ext cx="3840480" cy="347472"/>
          </a:xfrm>
          <a:prstGeom prst="rect">
            <a:avLst/>
          </a:prstGeom>
          <a:noFill/>
        </p:spPr>
        <p:txBody>
          <a:bodyPr wrap="square">
            <a:spAutoFit/>
          </a:bodyPr>
          <a:lstStyle/>
          <a:p>
            <a:pPr algn="l"/>
            <a:r>
              <a:rPr sz="1300" b="1" i="0">
                <a:solidFill>
                  <a:srgbClr val="FFFFFF"/>
                </a:solidFill>
                <a:latin typeface="Hiragino Kaku Gothic ProN"/>
              </a:rPr>
              <a:t>法律上の整理</a:t>
            </a:r>
          </a:p>
        </p:txBody>
      </p:sp>
      <p:sp>
        <p:nvSpPr>
          <p:cNvPr id="53" name="TextBox 52"/>
          <p:cNvSpPr txBox="1"/>
          <p:nvPr/>
        </p:nvSpPr>
        <p:spPr>
          <a:xfrm>
            <a:off x="438912" y="1371600"/>
            <a:ext cx="3840480" cy="2679191"/>
          </a:xfrm>
          <a:prstGeom prst="rect">
            <a:avLst/>
          </a:prstGeom>
          <a:noFill/>
        </p:spPr>
        <p:txBody>
          <a:bodyPr wrap="square">
            <a:spAutoFit/>
          </a:bodyPr>
          <a:lstStyle/>
          <a:p>
            <a:pPr algn="l">
              <a:spcBef>
                <a:spcPts val="300"/>
              </a:spcBef>
            </a:pPr>
            <a:r>
              <a:rPr sz="1300">
                <a:solidFill>
                  <a:srgbClr val="1A1A1A"/>
                </a:solidFill>
                <a:latin typeface="Hiragino Kaku Gothic ProN"/>
              </a:rPr>
              <a:t>•  法律（景表法）で行政処分を受けるのは「企業（広告主）」のみ</a:t>
            </a:r>
          </a:p>
          <a:p>
            <a:pPr algn="l">
              <a:spcBef>
                <a:spcPts val="300"/>
              </a:spcBef>
            </a:pPr>
            <a:r>
              <a:rPr sz="1300">
                <a:solidFill>
                  <a:srgbClr val="1A1A1A"/>
                </a:solidFill>
                <a:latin typeface="Hiragino Kaku Gothic ProN"/>
              </a:rPr>
              <a:t>•  クリエイター個人への直接的な法的罰則はない</a:t>
            </a:r>
          </a:p>
        </p:txBody>
      </p:sp>
      <p:sp>
        <p:nvSpPr>
          <p:cNvPr id="54" name="Rounded Rectangle 53"/>
          <p:cNvSpPr/>
          <p:nvPr/>
        </p:nvSpPr>
        <p:spPr>
          <a:xfrm>
            <a:off x="4572000" y="914400"/>
            <a:ext cx="4297680" cy="3246120"/>
          </a:xfrm>
          <a:prstGeom prst="roundRect">
            <a:avLst/>
          </a:prstGeom>
          <a:solidFill>
            <a:srgbClr val="FFFFFF"/>
          </a:solidFill>
          <a:ln w="15240">
            <a:solidFill>
              <a:srgbClr val="FFD6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4572000" y="914400"/>
            <a:ext cx="4297680" cy="384048"/>
          </a:xfrm>
          <a:prstGeom prst="rect">
            <a:avLst/>
          </a:prstGeom>
          <a:solidFill>
            <a:srgbClr val="FF3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4709160" y="941832"/>
            <a:ext cx="4023360" cy="347472"/>
          </a:xfrm>
          <a:prstGeom prst="rect">
            <a:avLst/>
          </a:prstGeom>
          <a:noFill/>
        </p:spPr>
        <p:txBody>
          <a:bodyPr wrap="square">
            <a:spAutoFit/>
          </a:bodyPr>
          <a:lstStyle/>
          <a:p>
            <a:pPr algn="l"/>
            <a:r>
              <a:rPr sz="1300" b="1" i="0">
                <a:solidFill>
                  <a:srgbClr val="FFFFFF"/>
                </a:solidFill>
                <a:latin typeface="Hiragino Kaku Gothic ProN"/>
              </a:rPr>
              <a:t>クリエイターが受ける甚大ダメージ</a:t>
            </a:r>
          </a:p>
        </p:txBody>
      </p:sp>
      <p:sp>
        <p:nvSpPr>
          <p:cNvPr id="57" name="TextBox 56"/>
          <p:cNvSpPr txBox="1"/>
          <p:nvPr/>
        </p:nvSpPr>
        <p:spPr>
          <a:xfrm>
            <a:off x="4736592" y="1371600"/>
            <a:ext cx="4023360" cy="2679191"/>
          </a:xfrm>
          <a:prstGeom prst="rect">
            <a:avLst/>
          </a:prstGeom>
          <a:noFill/>
        </p:spPr>
        <p:txBody>
          <a:bodyPr wrap="square">
            <a:spAutoFit/>
          </a:bodyPr>
          <a:lstStyle/>
          <a:p>
            <a:pPr algn="l">
              <a:spcBef>
                <a:spcPts val="300"/>
              </a:spcBef>
            </a:pPr>
            <a:r>
              <a:rPr b="1" sz="1300">
                <a:solidFill>
                  <a:srgbClr val="FF3333"/>
                </a:solidFill>
                <a:latin typeface="Hiragino Kaku Gothic ProN"/>
              </a:rPr>
              <a:t>✗  </a:t>
            </a:r>
            <a:r>
              <a:rPr sz="1300">
                <a:solidFill>
                  <a:srgbClr val="FF3333"/>
                </a:solidFill>
                <a:latin typeface="Hiragino Kaku Gothic ProN"/>
              </a:rPr>
              <a:t>「フォロワーを騙した」による大炎上と信用失墜</a:t>
            </a:r>
          </a:p>
          <a:p>
            <a:pPr algn="l">
              <a:spcBef>
                <a:spcPts val="300"/>
              </a:spcBef>
            </a:pPr>
            <a:r>
              <a:rPr b="1" sz="1300">
                <a:solidFill>
                  <a:srgbClr val="FF3333"/>
                </a:solidFill>
                <a:latin typeface="Hiragino Kaku Gothic ProN"/>
              </a:rPr>
              <a:t>✗  </a:t>
            </a:r>
            <a:r>
              <a:rPr sz="1300">
                <a:solidFill>
                  <a:srgbClr val="FF3333"/>
                </a:solidFill>
                <a:latin typeface="Hiragino Kaku Gothic ProN"/>
              </a:rPr>
              <a:t>今後のPR案件が一切受けられなくなる（事実上の廃業）</a:t>
            </a:r>
          </a:p>
          <a:p>
            <a:pPr algn="l">
              <a:spcBef>
                <a:spcPts val="300"/>
              </a:spcBef>
            </a:pPr>
            <a:r>
              <a:rPr b="1" sz="1300">
                <a:solidFill>
                  <a:srgbClr val="FF3333"/>
                </a:solidFill>
                <a:latin typeface="Hiragino Kaku Gothic ProN"/>
              </a:rPr>
              <a:t>✗  </a:t>
            </a:r>
            <a:r>
              <a:rPr sz="1300">
                <a:solidFill>
                  <a:srgbClr val="FF3333"/>
                </a:solidFill>
                <a:latin typeface="Hiragino Kaku Gothic ProN"/>
              </a:rPr>
              <a:t>企業からの損害賠償請求リスク</a:t>
            </a:r>
          </a:p>
        </p:txBody>
      </p:sp>
      <p:sp>
        <p:nvSpPr>
          <p:cNvPr id="58" name="Rounded Rectangle 57"/>
          <p:cNvSpPr/>
          <p:nvPr/>
        </p:nvSpPr>
        <p:spPr>
          <a:xfrm>
            <a:off x="274320" y="4270248"/>
            <a:ext cx="8595360" cy="777240"/>
          </a:xfrm>
          <a:prstGeom prst="roundRect">
            <a:avLst/>
          </a:prstGeom>
          <a:solidFill>
            <a:srgbClr val="FFECF5"/>
          </a:solidFill>
          <a:ln w="19050">
            <a:solidFill>
              <a:srgbClr val="FF3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411479" y="4343400"/>
            <a:ext cx="8321040" cy="685800"/>
          </a:xfrm>
          <a:prstGeom prst="rect">
            <a:avLst/>
          </a:prstGeom>
          <a:noFill/>
        </p:spPr>
        <p:txBody>
          <a:bodyPr wrap="square">
            <a:noAutofit/>
          </a:bodyPr>
          <a:lstStyle/>
          <a:p>
            <a:r>
              <a:rPr sz="1300" b="1">
                <a:solidFill>
                  <a:srgbClr val="FF3999"/>
                </a:solidFill>
                <a:latin typeface="Hiragino Kaku Gothic ProN"/>
              </a:rPr>
              <a:t>ルールを守ることが自分のキャリアを守る最大の防御です。</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2004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4008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96011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28016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60020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92024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24028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56032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88036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20040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52044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84048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16052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48055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80059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12063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44067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76071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08075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40079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72083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04087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36091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68095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00099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832103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864107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896111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0" y="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0" y="32004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0" y="64008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0" y="960119"/>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0" y="128016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0" y="160020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0" y="192024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0" y="224028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0" y="256032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0" y="288036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0" y="320040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0" y="352044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0" y="384048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0" y="416052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0" y="4480559"/>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0" y="4800599"/>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0" y="5120639"/>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0" y="0"/>
            <a:ext cx="9144000" cy="658368"/>
          </a:xfrm>
          <a:prstGeom prst="rect">
            <a:avLst/>
          </a:prstGeom>
          <a:solidFill>
            <a:srgbClr val="FF39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320040" y="91440"/>
            <a:ext cx="7315200" cy="502920"/>
          </a:xfrm>
          <a:prstGeom prst="rect">
            <a:avLst/>
          </a:prstGeom>
          <a:noFill/>
        </p:spPr>
        <p:txBody>
          <a:bodyPr wrap="square">
            <a:spAutoFit/>
          </a:bodyPr>
          <a:lstStyle/>
          <a:p>
            <a:pPr algn="l"/>
            <a:r>
              <a:rPr sz="2200" b="1" i="0">
                <a:solidFill>
                  <a:srgbClr val="FFFFFF"/>
                </a:solidFill>
                <a:latin typeface="Hiragino Kaku Gothic ProN"/>
              </a:rPr>
              <a:t>まとめ　動画①</a:t>
            </a:r>
          </a:p>
        </p:txBody>
      </p:sp>
      <p:sp>
        <p:nvSpPr>
          <p:cNvPr id="50" name="Rounded Rectangle 49"/>
          <p:cNvSpPr/>
          <p:nvPr/>
        </p:nvSpPr>
        <p:spPr>
          <a:xfrm>
            <a:off x="502920" y="804672"/>
            <a:ext cx="8138160" cy="868680"/>
          </a:xfrm>
          <a:prstGeom prst="roundRect">
            <a:avLst/>
          </a:prstGeom>
          <a:solidFill>
            <a:srgbClr val="FFECF5"/>
          </a:solidFill>
          <a:ln w="15240">
            <a:solidFill>
              <a:srgbClr val="FFD6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ounded Rectangle 50"/>
          <p:cNvSpPr/>
          <p:nvPr/>
        </p:nvSpPr>
        <p:spPr>
          <a:xfrm>
            <a:off x="548640" y="914400"/>
            <a:ext cx="640080" cy="640080"/>
          </a:xfrm>
          <a:prstGeom prst="roundRect">
            <a:avLst/>
          </a:prstGeom>
          <a:solidFill>
            <a:srgbClr val="FF39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548640" y="946403"/>
            <a:ext cx="640080" cy="576072"/>
          </a:xfrm>
          <a:prstGeom prst="rect">
            <a:avLst/>
          </a:prstGeom>
          <a:noFill/>
        </p:spPr>
        <p:txBody>
          <a:bodyPr wrap="square">
            <a:spAutoFit/>
          </a:bodyPr>
          <a:lstStyle/>
          <a:p>
            <a:pPr algn="ctr"/>
            <a:r>
              <a:rPr sz="1800" b="1" i="0">
                <a:solidFill>
                  <a:srgbClr val="FFFFFF"/>
                </a:solidFill>
                <a:latin typeface="Hiragino Kaku Gothic ProN"/>
              </a:rPr>
              <a:t>1</a:t>
            </a:r>
          </a:p>
        </p:txBody>
      </p:sp>
      <p:sp>
        <p:nvSpPr>
          <p:cNvPr id="53" name="TextBox 52"/>
          <p:cNvSpPr txBox="1"/>
          <p:nvPr/>
        </p:nvSpPr>
        <p:spPr>
          <a:xfrm>
            <a:off x="1325880" y="941832"/>
            <a:ext cx="7223760" cy="640080"/>
          </a:xfrm>
          <a:prstGeom prst="rect">
            <a:avLst/>
          </a:prstGeom>
          <a:noFill/>
        </p:spPr>
        <p:txBody>
          <a:bodyPr wrap="square">
            <a:spAutoFit/>
          </a:bodyPr>
          <a:lstStyle/>
          <a:p>
            <a:pPr algn="l"/>
            <a:r>
              <a:rPr sz="1300" b="0" i="0">
                <a:solidFill>
                  <a:srgbClr val="1A1A1A"/>
                </a:solidFill>
                <a:latin typeface="Hiragino Kaku Gothic ProN"/>
              </a:rPr>
              <a:t>ステマは2023年10月から景表法で「違法行為」。知らなかったでは済まされない</a:t>
            </a:r>
          </a:p>
        </p:txBody>
      </p:sp>
      <p:sp>
        <p:nvSpPr>
          <p:cNvPr id="54" name="Rounded Rectangle 53"/>
          <p:cNvSpPr/>
          <p:nvPr/>
        </p:nvSpPr>
        <p:spPr>
          <a:xfrm>
            <a:off x="502920" y="1920240"/>
            <a:ext cx="8138160" cy="868680"/>
          </a:xfrm>
          <a:prstGeom prst="roundRect">
            <a:avLst/>
          </a:prstGeom>
          <a:solidFill>
            <a:srgbClr val="FFECF5"/>
          </a:solidFill>
          <a:ln w="15240">
            <a:solidFill>
              <a:srgbClr val="FFD6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ounded Rectangle 54"/>
          <p:cNvSpPr/>
          <p:nvPr/>
        </p:nvSpPr>
        <p:spPr>
          <a:xfrm>
            <a:off x="548640" y="2029968"/>
            <a:ext cx="640080" cy="640080"/>
          </a:xfrm>
          <a:prstGeom prst="roundRect">
            <a:avLst/>
          </a:prstGeom>
          <a:solidFill>
            <a:srgbClr val="FF39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548640" y="2061972"/>
            <a:ext cx="640080" cy="576072"/>
          </a:xfrm>
          <a:prstGeom prst="rect">
            <a:avLst/>
          </a:prstGeom>
          <a:noFill/>
        </p:spPr>
        <p:txBody>
          <a:bodyPr wrap="square">
            <a:spAutoFit/>
          </a:bodyPr>
          <a:lstStyle/>
          <a:p>
            <a:pPr algn="ctr"/>
            <a:r>
              <a:rPr sz="1800" b="1" i="0">
                <a:solidFill>
                  <a:srgbClr val="FFFFFF"/>
                </a:solidFill>
                <a:latin typeface="Hiragino Kaku Gothic ProN"/>
              </a:rPr>
              <a:t>2</a:t>
            </a:r>
          </a:p>
        </p:txBody>
      </p:sp>
      <p:sp>
        <p:nvSpPr>
          <p:cNvPr id="57" name="TextBox 56"/>
          <p:cNvSpPr txBox="1"/>
          <p:nvPr/>
        </p:nvSpPr>
        <p:spPr>
          <a:xfrm>
            <a:off x="1325880" y="2057400"/>
            <a:ext cx="7223760" cy="640080"/>
          </a:xfrm>
          <a:prstGeom prst="rect">
            <a:avLst/>
          </a:prstGeom>
          <a:noFill/>
        </p:spPr>
        <p:txBody>
          <a:bodyPr wrap="square">
            <a:spAutoFit/>
          </a:bodyPr>
          <a:lstStyle/>
          <a:p>
            <a:pPr algn="l"/>
            <a:r>
              <a:rPr sz="1300" b="0" i="0">
                <a:solidFill>
                  <a:srgbClr val="1A1A1A"/>
                </a:solidFill>
                <a:latin typeface="Hiragino Kaku Gothic ProN"/>
              </a:rPr>
              <a:t>#PRは冒頭・視認できる位置に。ハッシュタグの海に埋もれさせるのはNG</a:t>
            </a:r>
          </a:p>
        </p:txBody>
      </p:sp>
      <p:sp>
        <p:nvSpPr>
          <p:cNvPr id="58" name="Rounded Rectangle 57"/>
          <p:cNvSpPr/>
          <p:nvPr/>
        </p:nvSpPr>
        <p:spPr>
          <a:xfrm>
            <a:off x="502920" y="3035808"/>
            <a:ext cx="8138160" cy="868680"/>
          </a:xfrm>
          <a:prstGeom prst="roundRect">
            <a:avLst/>
          </a:prstGeom>
          <a:solidFill>
            <a:srgbClr val="FFECF5"/>
          </a:solidFill>
          <a:ln w="15240">
            <a:solidFill>
              <a:srgbClr val="FFD6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ounded Rectangle 58"/>
          <p:cNvSpPr/>
          <p:nvPr/>
        </p:nvSpPr>
        <p:spPr>
          <a:xfrm>
            <a:off x="548640" y="3145536"/>
            <a:ext cx="640080" cy="640080"/>
          </a:xfrm>
          <a:prstGeom prst="roundRect">
            <a:avLst/>
          </a:prstGeom>
          <a:solidFill>
            <a:srgbClr val="FF39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548640" y="3177540"/>
            <a:ext cx="640080" cy="576072"/>
          </a:xfrm>
          <a:prstGeom prst="rect">
            <a:avLst/>
          </a:prstGeom>
          <a:noFill/>
        </p:spPr>
        <p:txBody>
          <a:bodyPr wrap="square">
            <a:spAutoFit/>
          </a:bodyPr>
          <a:lstStyle/>
          <a:p>
            <a:pPr algn="ctr"/>
            <a:r>
              <a:rPr sz="1800" b="1" i="0">
                <a:solidFill>
                  <a:srgbClr val="FFFFFF"/>
                </a:solidFill>
                <a:latin typeface="Hiragino Kaku Gothic ProN"/>
              </a:rPr>
              <a:t>3</a:t>
            </a:r>
          </a:p>
        </p:txBody>
      </p:sp>
      <p:sp>
        <p:nvSpPr>
          <p:cNvPr id="61" name="TextBox 60"/>
          <p:cNvSpPr txBox="1"/>
          <p:nvPr/>
        </p:nvSpPr>
        <p:spPr>
          <a:xfrm>
            <a:off x="1325880" y="3172968"/>
            <a:ext cx="7223760" cy="640080"/>
          </a:xfrm>
          <a:prstGeom prst="rect">
            <a:avLst/>
          </a:prstGeom>
          <a:noFill/>
        </p:spPr>
        <p:txBody>
          <a:bodyPr wrap="square">
            <a:spAutoFit/>
          </a:bodyPr>
          <a:lstStyle/>
          <a:p>
            <a:pPr algn="l"/>
            <a:r>
              <a:rPr sz="1300" b="0" i="0">
                <a:solidFill>
                  <a:srgbClr val="1A1A1A"/>
                </a:solidFill>
                <a:latin typeface="Hiragino Kaku Gothic ProN"/>
              </a:rPr>
              <a:t>タイアップ設定を怠るとシャドウバン→アカウント永久停止のリスクがある</a:t>
            </a:r>
          </a:p>
        </p:txBody>
      </p:sp>
      <p:sp>
        <p:nvSpPr>
          <p:cNvPr id="62" name="Rounded Rectangle 61"/>
          <p:cNvSpPr/>
          <p:nvPr/>
        </p:nvSpPr>
        <p:spPr>
          <a:xfrm>
            <a:off x="320040" y="4160520"/>
            <a:ext cx="8503920" cy="685800"/>
          </a:xfrm>
          <a:prstGeom prst="roundRect">
            <a:avLst/>
          </a:prstGeom>
          <a:solidFill>
            <a:srgbClr val="FFECF5"/>
          </a:solidFill>
          <a:ln w="15240">
            <a:solidFill>
              <a:srgbClr val="FF3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548640" y="4242816"/>
            <a:ext cx="8229600" cy="502920"/>
          </a:xfrm>
          <a:prstGeom prst="rect">
            <a:avLst/>
          </a:prstGeom>
          <a:noFill/>
        </p:spPr>
        <p:txBody>
          <a:bodyPr wrap="square">
            <a:spAutoFit/>
          </a:bodyPr>
          <a:lstStyle/>
          <a:p>
            <a:pPr algn="l"/>
            <a:r>
              <a:rPr sz="1200" b="0" i="1">
                <a:solidFill>
                  <a:srgbClr val="FF3999"/>
                </a:solidFill>
                <a:latin typeface="Hiragino Kaku Gothic ProN"/>
              </a:rPr>
              <a:t>▶  Next  |  動画②：知らなきゃ危険！薬機法・景表法の基礎とNG表現</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3999"/>
        </a:solidFill>
        <a:effectLst/>
      </p:bgPr>
    </p:bg>
    <p:spTree>
      <p:nvGrpSpPr>
        <p:cNvPr id="1" name=""/>
        <p:cNvGrpSpPr/>
        <p:nvPr/>
      </p:nvGrpSpPr>
      <p:grpSpPr/>
      <p:sp>
        <p:nvSpPr>
          <p:cNvPr id="2" name="TextBox 1"/>
          <p:cNvSpPr txBox="1"/>
          <p:nvPr/>
        </p:nvSpPr>
        <p:spPr>
          <a:xfrm>
            <a:off x="-91440" y="182880"/>
            <a:ext cx="3200400" cy="4754880"/>
          </a:xfrm>
          <a:prstGeom prst="rect">
            <a:avLst/>
          </a:prstGeom>
          <a:noFill/>
        </p:spPr>
        <p:txBody>
          <a:bodyPr wrap="square">
            <a:spAutoFit/>
          </a:bodyPr>
          <a:lstStyle/>
          <a:p>
            <a:pPr algn="l"/>
            <a:r>
              <a:rPr sz="24000" b="1" i="0">
                <a:solidFill>
                  <a:srgbClr val="FF80BB"/>
                </a:solidFill>
                <a:latin typeface="Hiragino Kaku Gothic ProN"/>
              </a:rPr>
              <a:t>2</a:t>
            </a:r>
          </a:p>
        </p:txBody>
      </p:sp>
      <p:sp>
        <p:nvSpPr>
          <p:cNvPr id="3" name="Rounded Rectangle 2"/>
          <p:cNvSpPr/>
          <p:nvPr/>
        </p:nvSpPr>
        <p:spPr>
          <a:xfrm>
            <a:off x="3017520" y="1097280"/>
            <a:ext cx="5669280" cy="2560320"/>
          </a:xfrm>
          <a:prstGeom prst="roundRect">
            <a:avLst/>
          </a:prstGeom>
          <a:solidFill>
            <a:srgbClr val="FFFFFF"/>
          </a:solidFill>
          <a:ln w="1524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0" y="1280160"/>
            <a:ext cx="3840480" cy="1097280"/>
          </a:xfrm>
          <a:prstGeom prst="rect">
            <a:avLst/>
          </a:prstGeom>
          <a:noFill/>
        </p:spPr>
        <p:txBody>
          <a:bodyPr wrap="square">
            <a:spAutoFit/>
          </a:bodyPr>
          <a:lstStyle/>
          <a:p>
            <a:pPr algn="l"/>
            <a:r>
              <a:rPr sz="3000" b="1" i="0">
                <a:solidFill>
                  <a:srgbClr val="1A1A1A"/>
                </a:solidFill>
                <a:latin typeface="Hiragino Kaku Gothic ProN"/>
              </a:rPr>
              <a:t>薬機法・景表法の基礎とNG表現</a:t>
            </a:r>
          </a:p>
        </p:txBody>
      </p:sp>
      <p:sp>
        <p:nvSpPr>
          <p:cNvPr id="5" name="TextBox 4"/>
          <p:cNvSpPr txBox="1"/>
          <p:nvPr/>
        </p:nvSpPr>
        <p:spPr>
          <a:xfrm>
            <a:off x="3200400" y="2468880"/>
            <a:ext cx="3840480" cy="640080"/>
          </a:xfrm>
          <a:prstGeom prst="rect">
            <a:avLst/>
          </a:prstGeom>
          <a:noFill/>
        </p:spPr>
        <p:txBody>
          <a:bodyPr wrap="square">
            <a:spAutoFit/>
          </a:bodyPr>
          <a:lstStyle/>
          <a:p>
            <a:pPr algn="l"/>
            <a:r>
              <a:rPr sz="1500" b="0" i="0">
                <a:solidFill>
                  <a:srgbClr val="666666"/>
                </a:solidFill>
                <a:latin typeface="Hiragino Kaku Gothic ProN"/>
              </a:rPr>
              <a:t>知らなきゃ危険！</a:t>
            </a:r>
          </a:p>
        </p:txBody>
      </p:sp>
      <p:pic>
        <p:nvPicPr>
          <p:cNvPr id="6" name="Picture 5" descr="image-5-3.png"/>
          <p:cNvPicPr>
            <a:picLocks noChangeAspect="1"/>
          </p:cNvPicPr>
          <p:nvPr/>
        </p:nvPicPr>
        <p:blipFill>
          <a:blip r:embed="rId2"/>
          <a:stretch>
            <a:fillRect/>
          </a:stretch>
        </p:blipFill>
        <p:spPr>
          <a:xfrm>
            <a:off x="7132320" y="1188720"/>
            <a:ext cx="1371600" cy="137160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2004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4008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96011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28016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60020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92024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24028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56032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88036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20040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52044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84048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16052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48055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80059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12063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44067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76071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08075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40079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72083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04087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36091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68095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00099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832103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864107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896111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0" y="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0" y="32004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0" y="64008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0" y="960119"/>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0" y="128016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0" y="160020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0" y="192024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0" y="224028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0" y="256032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0" y="288036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0" y="320040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0" y="352044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0" y="384048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0" y="416052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0" y="4480559"/>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0" y="4800599"/>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0" y="5120639"/>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320040" y="164592"/>
            <a:ext cx="8503920" cy="594360"/>
          </a:xfrm>
          <a:prstGeom prst="rect">
            <a:avLst/>
          </a:prstGeom>
          <a:noFill/>
        </p:spPr>
        <p:txBody>
          <a:bodyPr wrap="square">
            <a:spAutoFit/>
          </a:bodyPr>
          <a:lstStyle/>
          <a:p>
            <a:pPr algn="l"/>
            <a:r>
              <a:rPr sz="3000" b="1" i="0">
                <a:solidFill>
                  <a:srgbClr val="1A1A1A"/>
                </a:solidFill>
                <a:latin typeface="Hiragino Kaku Gothic ProN"/>
              </a:rPr>
              <a:t>この動画で学ぶこと</a:t>
            </a:r>
          </a:p>
        </p:txBody>
      </p:sp>
      <p:sp>
        <p:nvSpPr>
          <p:cNvPr id="49" name="Rectangle 48"/>
          <p:cNvSpPr/>
          <p:nvPr/>
        </p:nvSpPr>
        <p:spPr>
          <a:xfrm>
            <a:off x="320040" y="731520"/>
            <a:ext cx="8503920" cy="41148"/>
          </a:xfrm>
          <a:prstGeom prst="rect">
            <a:avLst/>
          </a:prstGeom>
          <a:solidFill>
            <a:srgbClr val="FF39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ounded Rectangle 49"/>
          <p:cNvSpPr/>
          <p:nvPr/>
        </p:nvSpPr>
        <p:spPr>
          <a:xfrm>
            <a:off x="228600" y="960120"/>
            <a:ext cx="2743200" cy="3977639"/>
          </a:xfrm>
          <a:prstGeom prst="roundRect">
            <a:avLst/>
          </a:prstGeom>
          <a:solidFill>
            <a:srgbClr val="FFFFFF"/>
          </a:solidFill>
          <a:ln w="15240">
            <a:solidFill>
              <a:srgbClr val="FFD6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1" name="Picture 50" descr="image-5-3.png"/>
          <p:cNvPicPr>
            <a:picLocks noChangeAspect="1"/>
          </p:cNvPicPr>
          <p:nvPr/>
        </p:nvPicPr>
        <p:blipFill>
          <a:blip r:embed="rId2"/>
          <a:stretch>
            <a:fillRect/>
          </a:stretch>
        </p:blipFill>
        <p:spPr>
          <a:xfrm>
            <a:off x="914400" y="1097280"/>
            <a:ext cx="1371600" cy="1371600"/>
          </a:xfrm>
          <a:prstGeom prst="rect">
            <a:avLst/>
          </a:prstGeom>
        </p:spPr>
      </p:pic>
      <p:sp>
        <p:nvSpPr>
          <p:cNvPr id="52" name="Rounded Rectangle 51"/>
          <p:cNvSpPr/>
          <p:nvPr/>
        </p:nvSpPr>
        <p:spPr>
          <a:xfrm>
            <a:off x="365760" y="2834640"/>
            <a:ext cx="640080" cy="640080"/>
          </a:xfrm>
          <a:prstGeom prst="roundRect">
            <a:avLst/>
          </a:prstGeom>
          <a:solidFill>
            <a:srgbClr val="FF39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365760" y="2866644"/>
            <a:ext cx="640080" cy="576072"/>
          </a:xfrm>
          <a:prstGeom prst="rect">
            <a:avLst/>
          </a:prstGeom>
          <a:noFill/>
        </p:spPr>
        <p:txBody>
          <a:bodyPr wrap="square">
            <a:spAutoFit/>
          </a:bodyPr>
          <a:lstStyle/>
          <a:p>
            <a:pPr algn="ctr"/>
            <a:r>
              <a:rPr sz="2000" b="1" i="0">
                <a:solidFill>
                  <a:srgbClr val="FFFFFF"/>
                </a:solidFill>
                <a:latin typeface="Hiragino Kaku Gothic ProN"/>
              </a:rPr>
              <a:t>01</a:t>
            </a:r>
          </a:p>
        </p:txBody>
      </p:sp>
      <p:sp>
        <p:nvSpPr>
          <p:cNvPr id="54" name="TextBox 53"/>
          <p:cNvSpPr txBox="1"/>
          <p:nvPr/>
        </p:nvSpPr>
        <p:spPr>
          <a:xfrm>
            <a:off x="320040" y="3611880"/>
            <a:ext cx="2560320" cy="594360"/>
          </a:xfrm>
          <a:prstGeom prst="rect">
            <a:avLst/>
          </a:prstGeom>
          <a:noFill/>
        </p:spPr>
        <p:txBody>
          <a:bodyPr wrap="square">
            <a:spAutoFit/>
          </a:bodyPr>
          <a:lstStyle/>
          <a:p>
            <a:pPr algn="l"/>
            <a:r>
              <a:rPr sz="1300" b="1" i="0">
                <a:solidFill>
                  <a:srgbClr val="1A1A1A"/>
                </a:solidFill>
                <a:latin typeface="Hiragino Kaku Gothic ProN"/>
              </a:rPr>
              <a:t>なぜ修正指示が来るのか</a:t>
            </a:r>
          </a:p>
        </p:txBody>
      </p:sp>
      <p:sp>
        <p:nvSpPr>
          <p:cNvPr id="55" name="TextBox 54"/>
          <p:cNvSpPr txBox="1"/>
          <p:nvPr/>
        </p:nvSpPr>
        <p:spPr>
          <a:xfrm>
            <a:off x="320040" y="4251960"/>
            <a:ext cx="2560320" cy="594360"/>
          </a:xfrm>
          <a:prstGeom prst="rect">
            <a:avLst/>
          </a:prstGeom>
          <a:noFill/>
        </p:spPr>
        <p:txBody>
          <a:bodyPr wrap="square">
            <a:spAutoFit/>
          </a:bodyPr>
          <a:lstStyle/>
          <a:p>
            <a:pPr algn="l"/>
            <a:r>
              <a:rPr sz="1000" b="0" i="0">
                <a:solidFill>
                  <a:srgbClr val="666666"/>
                </a:solidFill>
                <a:latin typeface="Hiragino Kaku Gothic ProN"/>
              </a:rPr>
              <a:t>薬機法・景表法の目的と修正の意味を理解する</a:t>
            </a:r>
          </a:p>
        </p:txBody>
      </p:sp>
      <p:sp>
        <p:nvSpPr>
          <p:cNvPr id="56" name="Rounded Rectangle 55"/>
          <p:cNvSpPr/>
          <p:nvPr/>
        </p:nvSpPr>
        <p:spPr>
          <a:xfrm>
            <a:off x="3200400" y="960120"/>
            <a:ext cx="2743200" cy="3977639"/>
          </a:xfrm>
          <a:prstGeom prst="roundRect">
            <a:avLst/>
          </a:prstGeom>
          <a:solidFill>
            <a:srgbClr val="FFFFFF"/>
          </a:solidFill>
          <a:ln w="15240">
            <a:solidFill>
              <a:srgbClr val="FFD6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7" name="Picture 56" descr="image-5-2.png"/>
          <p:cNvPicPr>
            <a:picLocks noChangeAspect="1"/>
          </p:cNvPicPr>
          <p:nvPr/>
        </p:nvPicPr>
        <p:blipFill>
          <a:blip r:embed="rId3"/>
          <a:stretch>
            <a:fillRect/>
          </a:stretch>
        </p:blipFill>
        <p:spPr>
          <a:xfrm>
            <a:off x="3886200" y="1097280"/>
            <a:ext cx="1371600" cy="1371600"/>
          </a:xfrm>
          <a:prstGeom prst="rect">
            <a:avLst/>
          </a:prstGeom>
        </p:spPr>
      </p:pic>
      <p:sp>
        <p:nvSpPr>
          <p:cNvPr id="58" name="Rounded Rectangle 57"/>
          <p:cNvSpPr/>
          <p:nvPr/>
        </p:nvSpPr>
        <p:spPr>
          <a:xfrm>
            <a:off x="3337560" y="2834640"/>
            <a:ext cx="640080" cy="640080"/>
          </a:xfrm>
          <a:prstGeom prst="roundRect">
            <a:avLst/>
          </a:prstGeom>
          <a:solidFill>
            <a:srgbClr val="FF39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3337560" y="2866644"/>
            <a:ext cx="640080" cy="576072"/>
          </a:xfrm>
          <a:prstGeom prst="rect">
            <a:avLst/>
          </a:prstGeom>
          <a:noFill/>
        </p:spPr>
        <p:txBody>
          <a:bodyPr wrap="square">
            <a:spAutoFit/>
          </a:bodyPr>
          <a:lstStyle/>
          <a:p>
            <a:pPr algn="ctr"/>
            <a:r>
              <a:rPr sz="2000" b="1" i="0">
                <a:solidFill>
                  <a:srgbClr val="FFFFFF"/>
                </a:solidFill>
                <a:latin typeface="Hiragino Kaku Gothic ProN"/>
              </a:rPr>
              <a:t>02</a:t>
            </a:r>
          </a:p>
        </p:txBody>
      </p:sp>
      <p:sp>
        <p:nvSpPr>
          <p:cNvPr id="60" name="TextBox 59"/>
          <p:cNvSpPr txBox="1"/>
          <p:nvPr/>
        </p:nvSpPr>
        <p:spPr>
          <a:xfrm>
            <a:off x="3291840" y="3611880"/>
            <a:ext cx="2560320" cy="594360"/>
          </a:xfrm>
          <a:prstGeom prst="rect">
            <a:avLst/>
          </a:prstGeom>
          <a:noFill/>
        </p:spPr>
        <p:txBody>
          <a:bodyPr wrap="square">
            <a:spAutoFit/>
          </a:bodyPr>
          <a:lstStyle/>
          <a:p>
            <a:pPr algn="l"/>
            <a:r>
              <a:rPr sz="1300" b="1" i="0">
                <a:solidFill>
                  <a:srgbClr val="1A1A1A"/>
                </a:solidFill>
                <a:latin typeface="Hiragino Kaku Gothic ProN"/>
              </a:rPr>
              <a:t>NG表現の具体例</a:t>
            </a:r>
          </a:p>
        </p:txBody>
      </p:sp>
      <p:sp>
        <p:nvSpPr>
          <p:cNvPr id="61" name="TextBox 60"/>
          <p:cNvSpPr txBox="1"/>
          <p:nvPr/>
        </p:nvSpPr>
        <p:spPr>
          <a:xfrm>
            <a:off x="3291840" y="4251960"/>
            <a:ext cx="2560320" cy="594360"/>
          </a:xfrm>
          <a:prstGeom prst="rect">
            <a:avLst/>
          </a:prstGeom>
          <a:noFill/>
        </p:spPr>
        <p:txBody>
          <a:bodyPr wrap="square">
            <a:spAutoFit/>
          </a:bodyPr>
          <a:lstStyle/>
          <a:p>
            <a:pPr algn="l"/>
            <a:r>
              <a:rPr sz="1000" b="0" i="0">
                <a:solidFill>
                  <a:srgbClr val="666666"/>
                </a:solidFill>
                <a:latin typeface="Hiragino Kaku Gothic ProN"/>
              </a:rPr>
              <a:t>「最大限級」「他社比較」「注釈の視認性」を学ぶ</a:t>
            </a:r>
          </a:p>
        </p:txBody>
      </p:sp>
      <p:sp>
        <p:nvSpPr>
          <p:cNvPr id="62" name="Rounded Rectangle 61"/>
          <p:cNvSpPr/>
          <p:nvPr/>
        </p:nvSpPr>
        <p:spPr>
          <a:xfrm>
            <a:off x="6172200" y="960120"/>
            <a:ext cx="2743200" cy="3977639"/>
          </a:xfrm>
          <a:prstGeom prst="roundRect">
            <a:avLst/>
          </a:prstGeom>
          <a:solidFill>
            <a:srgbClr val="FFFFFF"/>
          </a:solidFill>
          <a:ln w="15240">
            <a:solidFill>
              <a:srgbClr val="FFD6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3" name="Picture 62" descr="image-1-1.png"/>
          <p:cNvPicPr>
            <a:picLocks noChangeAspect="1"/>
          </p:cNvPicPr>
          <p:nvPr/>
        </p:nvPicPr>
        <p:blipFill>
          <a:blip r:embed="rId4"/>
          <a:stretch>
            <a:fillRect/>
          </a:stretch>
        </p:blipFill>
        <p:spPr>
          <a:xfrm>
            <a:off x="6858000" y="1097280"/>
            <a:ext cx="1371600" cy="1371600"/>
          </a:xfrm>
          <a:prstGeom prst="rect">
            <a:avLst/>
          </a:prstGeom>
        </p:spPr>
      </p:pic>
      <p:sp>
        <p:nvSpPr>
          <p:cNvPr id="64" name="Rounded Rectangle 63"/>
          <p:cNvSpPr/>
          <p:nvPr/>
        </p:nvSpPr>
        <p:spPr>
          <a:xfrm>
            <a:off x="6309360" y="2834640"/>
            <a:ext cx="640080" cy="640080"/>
          </a:xfrm>
          <a:prstGeom prst="roundRect">
            <a:avLst/>
          </a:prstGeom>
          <a:solidFill>
            <a:srgbClr val="FF39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6309360" y="2866644"/>
            <a:ext cx="640080" cy="576072"/>
          </a:xfrm>
          <a:prstGeom prst="rect">
            <a:avLst/>
          </a:prstGeom>
          <a:noFill/>
        </p:spPr>
        <p:txBody>
          <a:bodyPr wrap="square">
            <a:spAutoFit/>
          </a:bodyPr>
          <a:lstStyle/>
          <a:p>
            <a:pPr algn="ctr"/>
            <a:r>
              <a:rPr sz="2000" b="1" i="0">
                <a:solidFill>
                  <a:srgbClr val="FFFFFF"/>
                </a:solidFill>
                <a:latin typeface="Hiragino Kaku Gothic ProN"/>
              </a:rPr>
              <a:t>03</a:t>
            </a:r>
          </a:p>
        </p:txBody>
      </p:sp>
      <p:sp>
        <p:nvSpPr>
          <p:cNvPr id="66" name="TextBox 65"/>
          <p:cNvSpPr txBox="1"/>
          <p:nvPr/>
        </p:nvSpPr>
        <p:spPr>
          <a:xfrm>
            <a:off x="6263640" y="3611880"/>
            <a:ext cx="2560320" cy="594360"/>
          </a:xfrm>
          <a:prstGeom prst="rect">
            <a:avLst/>
          </a:prstGeom>
          <a:noFill/>
        </p:spPr>
        <p:txBody>
          <a:bodyPr wrap="square">
            <a:spAutoFit/>
          </a:bodyPr>
          <a:lstStyle/>
          <a:p>
            <a:pPr algn="l"/>
            <a:r>
              <a:rPr sz="1300" b="1" i="0">
                <a:solidFill>
                  <a:srgbClr val="1A1A1A"/>
                </a:solidFill>
                <a:latin typeface="Hiragino Kaku Gothic ProN"/>
              </a:rPr>
              <a:t>「個人の感想です」の落とし穴</a:t>
            </a:r>
          </a:p>
        </p:txBody>
      </p:sp>
      <p:sp>
        <p:nvSpPr>
          <p:cNvPr id="67" name="TextBox 66"/>
          <p:cNvSpPr txBox="1"/>
          <p:nvPr/>
        </p:nvSpPr>
        <p:spPr>
          <a:xfrm>
            <a:off x="6263640" y="4251960"/>
            <a:ext cx="2560320" cy="594360"/>
          </a:xfrm>
          <a:prstGeom prst="rect">
            <a:avLst/>
          </a:prstGeom>
          <a:noFill/>
        </p:spPr>
        <p:txBody>
          <a:bodyPr wrap="square">
            <a:spAutoFit/>
          </a:bodyPr>
          <a:lstStyle/>
          <a:p>
            <a:pPr algn="l"/>
            <a:r>
              <a:rPr sz="1000" b="0" i="0">
                <a:solidFill>
                  <a:srgbClr val="666666"/>
                </a:solidFill>
                <a:latin typeface="Hiragino Kaku Gothic ProN"/>
              </a:rPr>
              <a:t>免責にならないケースを把握する</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2004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4008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96011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28016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60020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92024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24028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56032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88036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20040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52044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84048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16052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48055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80059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12063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44067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76071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08075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40079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72083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04087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36091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68095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00099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832103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864107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896111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0" y="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0" y="32004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0" y="64008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0" y="960119"/>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0" y="128016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0" y="160020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0" y="192024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0" y="224028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0" y="256032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0" y="288036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0" y="320040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0" y="352044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0" y="384048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0" y="416052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0" y="4480559"/>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0" y="4800599"/>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0" y="5120639"/>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320040" y="164592"/>
            <a:ext cx="8503920" cy="594360"/>
          </a:xfrm>
          <a:prstGeom prst="rect">
            <a:avLst/>
          </a:prstGeom>
          <a:noFill/>
        </p:spPr>
        <p:txBody>
          <a:bodyPr wrap="square">
            <a:spAutoFit/>
          </a:bodyPr>
          <a:lstStyle/>
          <a:p>
            <a:pPr algn="l"/>
            <a:r>
              <a:rPr sz="2600" b="1" i="0">
                <a:solidFill>
                  <a:srgbClr val="1A1A1A"/>
                </a:solidFill>
                <a:latin typeface="Hiragino Kaku Gothic ProN"/>
              </a:rPr>
              <a:t>なぜ「細かい修正指示」が来るのか？</a:t>
            </a:r>
          </a:p>
        </p:txBody>
      </p:sp>
      <p:sp>
        <p:nvSpPr>
          <p:cNvPr id="49" name="Rectangle 48"/>
          <p:cNvSpPr/>
          <p:nvPr/>
        </p:nvSpPr>
        <p:spPr>
          <a:xfrm>
            <a:off x="320040" y="731520"/>
            <a:ext cx="8503920" cy="41148"/>
          </a:xfrm>
          <a:prstGeom prst="rect">
            <a:avLst/>
          </a:prstGeom>
          <a:solidFill>
            <a:srgbClr val="FF39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ounded Rectangle 49"/>
          <p:cNvSpPr/>
          <p:nvPr/>
        </p:nvSpPr>
        <p:spPr>
          <a:xfrm>
            <a:off x="274320" y="914400"/>
            <a:ext cx="8595360" cy="1417320"/>
          </a:xfrm>
          <a:prstGeom prst="roundRect">
            <a:avLst/>
          </a:prstGeom>
          <a:solidFill>
            <a:srgbClr val="FFFFFF"/>
          </a:solidFill>
          <a:ln w="15240">
            <a:solidFill>
              <a:srgbClr val="FFD6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438912" y="1078992"/>
            <a:ext cx="8321040" cy="1143000"/>
          </a:xfrm>
          <a:prstGeom prst="rect">
            <a:avLst/>
          </a:prstGeom>
          <a:noFill/>
        </p:spPr>
        <p:txBody>
          <a:bodyPr wrap="square">
            <a:spAutoFit/>
          </a:bodyPr>
          <a:lstStyle/>
          <a:p>
            <a:pPr algn="l">
              <a:spcBef>
                <a:spcPts val="300"/>
              </a:spcBef>
            </a:pPr>
            <a:r>
              <a:rPr sz="1300">
                <a:solidFill>
                  <a:srgbClr val="1A1A1A"/>
                </a:solidFill>
                <a:latin typeface="Hiragino Kaku Gothic ProN"/>
              </a:rPr>
              <a:t>•  薬機法・景表法＝「消費者を嘘や大げさな表現から守る法律」</a:t>
            </a:r>
          </a:p>
          <a:p>
            <a:pPr algn="l">
              <a:spcBef>
                <a:spcPts val="300"/>
              </a:spcBef>
            </a:pPr>
            <a:r>
              <a:rPr b="1" sz="1300">
                <a:solidFill>
                  <a:srgbClr val="00BFA5"/>
                </a:solidFill>
                <a:latin typeface="Hiragino Kaku Gothic ProN"/>
              </a:rPr>
              <a:t>✓  </a:t>
            </a:r>
            <a:r>
              <a:rPr sz="1300">
                <a:solidFill>
                  <a:srgbClr val="00BFA5"/>
                </a:solidFill>
                <a:latin typeface="Hiragino Kaku Gothic ProN"/>
              </a:rPr>
              <a:t>企業が行政指導（罰金・逮捕）を受けるのを防ぐため</a:t>
            </a:r>
          </a:p>
          <a:p>
            <a:pPr algn="l">
              <a:spcBef>
                <a:spcPts val="300"/>
              </a:spcBef>
            </a:pPr>
            <a:r>
              <a:rPr b="1" sz="1300">
                <a:solidFill>
                  <a:srgbClr val="00BFA5"/>
                </a:solidFill>
                <a:latin typeface="Hiragino Kaku Gothic ProN"/>
              </a:rPr>
              <a:t>✓  </a:t>
            </a:r>
            <a:r>
              <a:rPr sz="1300">
                <a:solidFill>
                  <a:srgbClr val="00BFA5"/>
                </a:solidFill>
                <a:latin typeface="Hiragino Kaku Gothic ProN"/>
              </a:rPr>
              <a:t>クリエイター自身が炎上するのを防ぐため</a:t>
            </a:r>
          </a:p>
        </p:txBody>
      </p:sp>
      <p:sp>
        <p:nvSpPr>
          <p:cNvPr id="52" name="Rounded Rectangle 51"/>
          <p:cNvSpPr/>
          <p:nvPr/>
        </p:nvSpPr>
        <p:spPr>
          <a:xfrm>
            <a:off x="274320" y="2423160"/>
            <a:ext cx="8595360" cy="914400"/>
          </a:xfrm>
          <a:prstGeom prst="roundRect">
            <a:avLst/>
          </a:prstGeom>
          <a:solidFill>
            <a:srgbClr val="FFFFFF"/>
          </a:solidFill>
          <a:ln w="15240">
            <a:solidFill>
              <a:srgbClr val="FFD6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438912" y="2587752"/>
            <a:ext cx="8321040" cy="640079"/>
          </a:xfrm>
          <a:prstGeom prst="rect">
            <a:avLst/>
          </a:prstGeom>
          <a:noFill/>
        </p:spPr>
        <p:txBody>
          <a:bodyPr wrap="square">
            <a:spAutoFit/>
          </a:bodyPr>
          <a:lstStyle/>
          <a:p>
            <a:pPr algn="l">
              <a:spcBef>
                <a:spcPts val="300"/>
              </a:spcBef>
            </a:pPr>
            <a:r>
              <a:rPr b="1" sz="1300">
                <a:solidFill>
                  <a:srgbClr val="FF3333"/>
                </a:solidFill>
                <a:latin typeface="Hiragino Kaku Gothic ProN"/>
              </a:rPr>
              <a:t>✗  </a:t>
            </a:r>
            <a:r>
              <a:rPr sz="1300">
                <a:solidFill>
                  <a:srgbClr val="FF3333"/>
                </a:solidFill>
                <a:latin typeface="Hiragino Kaku Gothic ProN"/>
              </a:rPr>
              <a:t>「個人の感想です」と書けば何でも言えるわけではない</a:t>
            </a:r>
          </a:p>
          <a:p>
            <a:pPr algn="l">
              <a:spcBef>
                <a:spcPts val="300"/>
              </a:spcBef>
            </a:pPr>
            <a:r>
              <a:rPr sz="1300">
                <a:solidFill>
                  <a:srgbClr val="1A1A1A"/>
                </a:solidFill>
                <a:latin typeface="Hiragino Kaku Gothic ProN"/>
              </a:rPr>
              <a:t>•  弊社では字コンテ・動画の2回、外部弁護士によるチェックを実施</a:t>
            </a:r>
          </a:p>
        </p:txBody>
      </p:sp>
      <p:sp>
        <p:nvSpPr>
          <p:cNvPr id="54" name="Rounded Rectangle 53"/>
          <p:cNvSpPr/>
          <p:nvPr/>
        </p:nvSpPr>
        <p:spPr>
          <a:xfrm>
            <a:off x="274320" y="3447288"/>
            <a:ext cx="8595360" cy="777240"/>
          </a:xfrm>
          <a:prstGeom prst="roundRect">
            <a:avLst/>
          </a:prstGeom>
          <a:solidFill>
            <a:srgbClr val="FFECF5"/>
          </a:solidFill>
          <a:ln w="19050">
            <a:solidFill>
              <a:srgbClr val="FF3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411479" y="3520440"/>
            <a:ext cx="8321040" cy="685800"/>
          </a:xfrm>
          <a:prstGeom prst="rect">
            <a:avLst/>
          </a:prstGeom>
          <a:noFill/>
        </p:spPr>
        <p:txBody>
          <a:bodyPr wrap="square">
            <a:noAutofit/>
          </a:bodyPr>
          <a:lstStyle/>
          <a:p>
            <a:r>
              <a:rPr sz="1300" b="1">
                <a:solidFill>
                  <a:srgbClr val="FF3999"/>
                </a:solidFill>
                <a:latin typeface="Hiragino Kaku Gothic ProN"/>
              </a:rPr>
              <a:t>修正指示は企業とクリエイター双方を守る「絶対の防衛線」です。</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2004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4008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96011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28016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60020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92024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24028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56032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88036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20040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52044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84048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16052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48055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80059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12063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44067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76071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08075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40079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72083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04087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36091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68095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00099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832103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864107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896111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0" y="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0" y="32004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0" y="64008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0" y="960119"/>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0" y="128016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0" y="160020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0" y="192024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0" y="224028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0" y="256032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0" y="288036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0" y="320040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0" y="352044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0" y="384048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0" y="416052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0" y="4480559"/>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0" y="4800599"/>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0" y="5120639"/>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320040" y="164592"/>
            <a:ext cx="8503920" cy="594360"/>
          </a:xfrm>
          <a:prstGeom prst="rect">
            <a:avLst/>
          </a:prstGeom>
          <a:noFill/>
        </p:spPr>
        <p:txBody>
          <a:bodyPr wrap="square">
            <a:spAutoFit/>
          </a:bodyPr>
          <a:lstStyle/>
          <a:p>
            <a:pPr algn="l"/>
            <a:r>
              <a:rPr sz="2600" b="1" i="0">
                <a:solidFill>
                  <a:srgbClr val="1A1A1A"/>
                </a:solidFill>
                <a:latin typeface="Hiragino Kaku Gothic ProN"/>
              </a:rPr>
              <a:t>NG表現①「最大限級表現」</a:t>
            </a:r>
          </a:p>
        </p:txBody>
      </p:sp>
      <p:sp>
        <p:nvSpPr>
          <p:cNvPr id="49" name="Rectangle 48"/>
          <p:cNvSpPr/>
          <p:nvPr/>
        </p:nvSpPr>
        <p:spPr>
          <a:xfrm>
            <a:off x="320040" y="731520"/>
            <a:ext cx="8503920" cy="41148"/>
          </a:xfrm>
          <a:prstGeom prst="rect">
            <a:avLst/>
          </a:prstGeom>
          <a:solidFill>
            <a:srgbClr val="FF39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ounded Rectangle 49"/>
          <p:cNvSpPr/>
          <p:nvPr/>
        </p:nvSpPr>
        <p:spPr>
          <a:xfrm>
            <a:off x="274320" y="914400"/>
            <a:ext cx="8595360" cy="1097280"/>
          </a:xfrm>
          <a:prstGeom prst="roundRect">
            <a:avLst/>
          </a:prstGeom>
          <a:solidFill>
            <a:srgbClr val="FFFFFF"/>
          </a:solidFill>
          <a:ln w="15240">
            <a:solidFill>
              <a:srgbClr val="FFD6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438912" y="1078992"/>
            <a:ext cx="8321040" cy="822960"/>
          </a:xfrm>
          <a:prstGeom prst="rect">
            <a:avLst/>
          </a:prstGeom>
          <a:noFill/>
        </p:spPr>
        <p:txBody>
          <a:bodyPr wrap="square">
            <a:spAutoFit/>
          </a:bodyPr>
          <a:lstStyle/>
          <a:p>
            <a:pPr algn="l">
              <a:spcBef>
                <a:spcPts val="300"/>
              </a:spcBef>
            </a:pPr>
            <a:r>
              <a:rPr b="1" sz="1300">
                <a:solidFill>
                  <a:srgbClr val="FF3333"/>
                </a:solidFill>
                <a:latin typeface="Hiragino Kaku Gothic ProN"/>
              </a:rPr>
              <a:t>✗  </a:t>
            </a:r>
            <a:r>
              <a:rPr sz="1300">
                <a:solidFill>
                  <a:srgbClr val="FF3333"/>
                </a:solidFill>
                <a:latin typeface="Hiragino Kaku Gothic ProN"/>
              </a:rPr>
              <a:t>NGワード：「日本一」「世界初」「最高」「絶対」「完璧」「最大級」</a:t>
            </a:r>
          </a:p>
        </p:txBody>
      </p:sp>
      <p:sp>
        <p:nvSpPr>
          <p:cNvPr id="52" name="Rounded Rectangle 51"/>
          <p:cNvSpPr/>
          <p:nvPr/>
        </p:nvSpPr>
        <p:spPr>
          <a:xfrm>
            <a:off x="274320" y="2103120"/>
            <a:ext cx="4114800" cy="2103120"/>
          </a:xfrm>
          <a:prstGeom prst="roundRect">
            <a:avLst/>
          </a:prstGeom>
          <a:solidFill>
            <a:srgbClr val="FFFFFF"/>
          </a:solidFill>
          <a:ln w="15240">
            <a:solidFill>
              <a:srgbClr val="FFD6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274320" y="2103120"/>
            <a:ext cx="4114800" cy="384048"/>
          </a:xfrm>
          <a:prstGeom prst="rect">
            <a:avLst/>
          </a:prstGeom>
          <a:solidFill>
            <a:srgbClr val="CC4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411479" y="2130551"/>
            <a:ext cx="3840480" cy="347472"/>
          </a:xfrm>
          <a:prstGeom prst="rect">
            <a:avLst/>
          </a:prstGeom>
          <a:noFill/>
        </p:spPr>
        <p:txBody>
          <a:bodyPr wrap="square">
            <a:spAutoFit/>
          </a:bodyPr>
          <a:lstStyle/>
          <a:p>
            <a:pPr algn="l"/>
            <a:r>
              <a:rPr sz="1300" b="1" i="0">
                <a:solidFill>
                  <a:srgbClr val="FFFFFF"/>
                </a:solidFill>
                <a:latin typeface="Hiragino Kaku Gothic ProN"/>
              </a:rPr>
              <a:t>なぜNG？</a:t>
            </a:r>
          </a:p>
        </p:txBody>
      </p:sp>
      <p:sp>
        <p:nvSpPr>
          <p:cNvPr id="55" name="TextBox 54"/>
          <p:cNvSpPr txBox="1"/>
          <p:nvPr/>
        </p:nvSpPr>
        <p:spPr>
          <a:xfrm>
            <a:off x="438912" y="2560320"/>
            <a:ext cx="3840480" cy="1536191"/>
          </a:xfrm>
          <a:prstGeom prst="rect">
            <a:avLst/>
          </a:prstGeom>
          <a:noFill/>
        </p:spPr>
        <p:txBody>
          <a:bodyPr wrap="square">
            <a:spAutoFit/>
          </a:bodyPr>
          <a:lstStyle/>
          <a:p>
            <a:pPr algn="l">
              <a:spcBef>
                <a:spcPts val="300"/>
              </a:spcBef>
            </a:pPr>
            <a:r>
              <a:rPr sz="1300">
                <a:solidFill>
                  <a:srgbClr val="1A1A1A"/>
                </a:solidFill>
                <a:latin typeface="Hiragino Kaku Gothic ProN"/>
              </a:rPr>
              <a:t>•  客観的な証明がないと景表法違反（優良誤認）になる</a:t>
            </a:r>
          </a:p>
          <a:p>
            <a:pPr algn="l">
              <a:spcBef>
                <a:spcPts val="300"/>
              </a:spcBef>
            </a:pPr>
            <a:r>
              <a:rPr sz="1100">
                <a:solidFill>
                  <a:srgbClr val="666666"/>
                </a:solidFill>
                <a:latin typeface="Hiragino Kaku Gothic ProN"/>
              </a:rPr>
              <a:t>　　→  「日本一潤う！」→ 公的調査データなどの証拠が必要</a:t>
            </a:r>
          </a:p>
        </p:txBody>
      </p:sp>
      <p:sp>
        <p:nvSpPr>
          <p:cNvPr id="56" name="Rounded Rectangle 55"/>
          <p:cNvSpPr/>
          <p:nvPr/>
        </p:nvSpPr>
        <p:spPr>
          <a:xfrm>
            <a:off x="4572000" y="2103120"/>
            <a:ext cx="4297680" cy="2103120"/>
          </a:xfrm>
          <a:prstGeom prst="roundRect">
            <a:avLst/>
          </a:prstGeom>
          <a:solidFill>
            <a:srgbClr val="FFFFFF"/>
          </a:solidFill>
          <a:ln w="15240">
            <a:solidFill>
              <a:srgbClr val="FFD6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ectangle 56"/>
          <p:cNvSpPr/>
          <p:nvPr/>
        </p:nvSpPr>
        <p:spPr>
          <a:xfrm>
            <a:off x="4572000" y="2103120"/>
            <a:ext cx="4297680" cy="384048"/>
          </a:xfrm>
          <a:prstGeom prst="rect">
            <a:avLst/>
          </a:prstGeom>
          <a:solidFill>
            <a:srgbClr val="00BF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4709160" y="2130551"/>
            <a:ext cx="4023360" cy="347472"/>
          </a:xfrm>
          <a:prstGeom prst="rect">
            <a:avLst/>
          </a:prstGeom>
          <a:noFill/>
        </p:spPr>
        <p:txBody>
          <a:bodyPr wrap="square">
            <a:spAutoFit/>
          </a:bodyPr>
          <a:lstStyle/>
          <a:p>
            <a:pPr algn="l"/>
            <a:r>
              <a:rPr sz="1300" b="1" i="0">
                <a:solidFill>
                  <a:srgbClr val="FFFFFF"/>
                </a:solidFill>
                <a:latin typeface="Hiragino Kaku Gothic ProN"/>
              </a:rPr>
              <a:t>言い換えのコツ</a:t>
            </a:r>
          </a:p>
        </p:txBody>
      </p:sp>
      <p:sp>
        <p:nvSpPr>
          <p:cNvPr id="59" name="TextBox 58"/>
          <p:cNvSpPr txBox="1"/>
          <p:nvPr/>
        </p:nvSpPr>
        <p:spPr>
          <a:xfrm>
            <a:off x="4736592" y="2560320"/>
            <a:ext cx="4023360" cy="1536191"/>
          </a:xfrm>
          <a:prstGeom prst="rect">
            <a:avLst/>
          </a:prstGeom>
          <a:noFill/>
        </p:spPr>
        <p:txBody>
          <a:bodyPr wrap="square">
            <a:spAutoFit/>
          </a:bodyPr>
          <a:lstStyle/>
          <a:p>
            <a:pPr algn="l">
              <a:spcBef>
                <a:spcPts val="300"/>
              </a:spcBef>
            </a:pPr>
            <a:r>
              <a:rPr b="1" sz="1300">
                <a:solidFill>
                  <a:srgbClr val="00BFA5"/>
                </a:solidFill>
                <a:latin typeface="Hiragino Kaku Gothic ProN"/>
              </a:rPr>
              <a:t>✓  </a:t>
            </a:r>
            <a:r>
              <a:rPr sz="1300">
                <a:solidFill>
                  <a:srgbClr val="00BFA5"/>
                </a:solidFill>
                <a:latin typeface="Hiragino Kaku Gothic ProN"/>
              </a:rPr>
              <a:t>「私史上最高」「今まで使った中で一番好き」</a:t>
            </a:r>
          </a:p>
          <a:p>
            <a:pPr algn="l">
              <a:spcBef>
                <a:spcPts val="300"/>
              </a:spcBef>
            </a:pPr>
            <a:r>
              <a:rPr b="1" sz="1300">
                <a:solidFill>
                  <a:srgbClr val="00BFA5"/>
                </a:solidFill>
                <a:latin typeface="Hiragino Kaku Gothic ProN"/>
              </a:rPr>
              <a:t>✓  </a:t>
            </a:r>
            <a:r>
              <a:rPr sz="1300">
                <a:solidFill>
                  <a:srgbClr val="00BFA5"/>
                </a:solidFill>
                <a:latin typeface="Hiragino Kaku Gothic ProN"/>
              </a:rPr>
              <a:t>あくまで個人の感想の範囲に留める</a:t>
            </a:r>
          </a:p>
          <a:p>
            <a:pPr algn="l">
              <a:spcBef>
                <a:spcPts val="300"/>
              </a:spcBef>
            </a:pPr>
            <a:r>
              <a:rPr sz="1300">
                <a:solidFill>
                  <a:srgbClr val="1A1A1A"/>
                </a:solidFill>
                <a:latin typeface="Hiragino Kaku Gothic ProN"/>
              </a:rPr>
              <a:t>•  字コンテ提出時に弊社でも確認・言い換え提案あり</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2004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4008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96011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28016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60020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92024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24028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56032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88036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20040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52044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84048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16052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48055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80059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12063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44067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76071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08075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40079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72083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04087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36091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68095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00099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832103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864107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896111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0" y="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0" y="32004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0" y="64008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0" y="960119"/>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0" y="128016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0" y="160020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0" y="192024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0" y="224028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0" y="256032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0" y="288036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0" y="320040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0" y="352044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0" y="384048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0" y="416052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0" y="4480559"/>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0" y="4800599"/>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0" y="5120639"/>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320040" y="164592"/>
            <a:ext cx="8503920" cy="594360"/>
          </a:xfrm>
          <a:prstGeom prst="rect">
            <a:avLst/>
          </a:prstGeom>
          <a:noFill/>
        </p:spPr>
        <p:txBody>
          <a:bodyPr wrap="square">
            <a:spAutoFit/>
          </a:bodyPr>
          <a:lstStyle/>
          <a:p>
            <a:pPr algn="l"/>
            <a:r>
              <a:rPr sz="2600" b="1" i="0">
                <a:solidFill>
                  <a:srgbClr val="1A1A1A"/>
                </a:solidFill>
                <a:latin typeface="Hiragino Kaku Gothic ProN"/>
              </a:rPr>
              <a:t>NG表現②「他社との比較表現」</a:t>
            </a:r>
          </a:p>
        </p:txBody>
      </p:sp>
      <p:sp>
        <p:nvSpPr>
          <p:cNvPr id="49" name="Rectangle 48"/>
          <p:cNvSpPr/>
          <p:nvPr/>
        </p:nvSpPr>
        <p:spPr>
          <a:xfrm>
            <a:off x="320040" y="731520"/>
            <a:ext cx="8503920" cy="41148"/>
          </a:xfrm>
          <a:prstGeom prst="rect">
            <a:avLst/>
          </a:prstGeom>
          <a:solidFill>
            <a:srgbClr val="FF39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ounded Rectangle 49"/>
          <p:cNvSpPr/>
          <p:nvPr/>
        </p:nvSpPr>
        <p:spPr>
          <a:xfrm>
            <a:off x="274320" y="914400"/>
            <a:ext cx="8595360" cy="1371600"/>
          </a:xfrm>
          <a:prstGeom prst="roundRect">
            <a:avLst/>
          </a:prstGeom>
          <a:solidFill>
            <a:srgbClr val="FFFFFF"/>
          </a:solidFill>
          <a:ln w="15240">
            <a:solidFill>
              <a:srgbClr val="FFD6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438912" y="1078992"/>
            <a:ext cx="8321040" cy="1097280"/>
          </a:xfrm>
          <a:prstGeom prst="rect">
            <a:avLst/>
          </a:prstGeom>
          <a:noFill/>
        </p:spPr>
        <p:txBody>
          <a:bodyPr wrap="square">
            <a:spAutoFit/>
          </a:bodyPr>
          <a:lstStyle/>
          <a:p>
            <a:pPr algn="l">
              <a:spcBef>
                <a:spcPts val="300"/>
              </a:spcBef>
            </a:pPr>
            <a:r>
              <a:rPr b="1" sz="1300">
                <a:solidFill>
                  <a:srgbClr val="FF3333"/>
                </a:solidFill>
                <a:latin typeface="Hiragino Kaku Gothic ProN"/>
              </a:rPr>
              <a:t>✗  </a:t>
            </a:r>
            <a:r>
              <a:rPr sz="1300">
                <a:solidFill>
                  <a:srgbClr val="FF3333"/>
                </a:solidFill>
                <a:latin typeface="Hiragino Kaku Gothic ProN"/>
              </a:rPr>
              <a:t>「A社の〇〇よりこっちの方が効く」</a:t>
            </a:r>
          </a:p>
          <a:p>
            <a:pPr algn="l">
              <a:spcBef>
                <a:spcPts val="300"/>
              </a:spcBef>
            </a:pPr>
            <a:r>
              <a:rPr b="1" sz="1300">
                <a:solidFill>
                  <a:srgbClr val="FF3333"/>
                </a:solidFill>
                <a:latin typeface="Hiragino Kaku Gothic ProN"/>
              </a:rPr>
              <a:t>✗  </a:t>
            </a:r>
            <a:r>
              <a:rPr sz="1300">
                <a:solidFill>
                  <a:srgbClr val="FF3333"/>
                </a:solidFill>
                <a:latin typeface="Hiragino Kaku Gothic ProN"/>
              </a:rPr>
              <a:t>「従来の〇〇は全然ダメだけど～」</a:t>
            </a:r>
          </a:p>
          <a:p>
            <a:pPr algn="l">
              <a:spcBef>
                <a:spcPts val="300"/>
              </a:spcBef>
            </a:pPr>
            <a:r>
              <a:rPr b="1" sz="1300">
                <a:solidFill>
                  <a:srgbClr val="FF3333"/>
                </a:solidFill>
                <a:latin typeface="Hiragino Kaku Gothic ProN"/>
              </a:rPr>
              <a:t>✗  </a:t>
            </a:r>
            <a:r>
              <a:rPr sz="1300">
                <a:solidFill>
                  <a:srgbClr val="FF3333"/>
                </a:solidFill>
                <a:latin typeface="Hiragino Kaku Gothic ProN"/>
              </a:rPr>
              <a:t>比較対象を明確にしない「漠然とした比較」もNG</a:t>
            </a:r>
          </a:p>
        </p:txBody>
      </p:sp>
      <p:sp>
        <p:nvSpPr>
          <p:cNvPr id="52" name="Rounded Rectangle 51"/>
          <p:cNvSpPr/>
          <p:nvPr/>
        </p:nvSpPr>
        <p:spPr>
          <a:xfrm>
            <a:off x="274320" y="2377440"/>
            <a:ext cx="8595360" cy="1188720"/>
          </a:xfrm>
          <a:prstGeom prst="roundRect">
            <a:avLst/>
          </a:prstGeom>
          <a:solidFill>
            <a:srgbClr val="FFFFFF"/>
          </a:solidFill>
          <a:ln w="15240">
            <a:solidFill>
              <a:srgbClr val="FFD6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438912" y="2542032"/>
            <a:ext cx="8321040" cy="914399"/>
          </a:xfrm>
          <a:prstGeom prst="rect">
            <a:avLst/>
          </a:prstGeom>
          <a:noFill/>
        </p:spPr>
        <p:txBody>
          <a:bodyPr wrap="square">
            <a:spAutoFit/>
          </a:bodyPr>
          <a:lstStyle/>
          <a:p>
            <a:pPr algn="l">
              <a:spcBef>
                <a:spcPts val="300"/>
              </a:spcBef>
            </a:pPr>
            <a:r>
              <a:rPr sz="1300">
                <a:solidFill>
                  <a:srgbClr val="1A1A1A"/>
                </a:solidFill>
                <a:latin typeface="Hiragino Kaku Gothic ProN"/>
              </a:rPr>
              <a:t>•  不当な比較は景表法違反＋他社への名誉毀損・営業妨害に直結</a:t>
            </a:r>
          </a:p>
          <a:p>
            <a:pPr algn="l">
              <a:spcBef>
                <a:spcPts val="300"/>
              </a:spcBef>
            </a:pPr>
            <a:r>
              <a:rPr sz="1300">
                <a:solidFill>
                  <a:srgbClr val="1A1A1A"/>
                </a:solidFill>
                <a:latin typeface="Hiragino Kaku Gothic ProN"/>
              </a:rPr>
              <a:t>•  SNSガイドラインで誹謗中傷としてアカウント停止の対象にもなり得る</a:t>
            </a:r>
          </a:p>
        </p:txBody>
      </p:sp>
      <p:sp>
        <p:nvSpPr>
          <p:cNvPr id="54" name="Rounded Rectangle 53"/>
          <p:cNvSpPr/>
          <p:nvPr/>
        </p:nvSpPr>
        <p:spPr>
          <a:xfrm>
            <a:off x="274320" y="3685032"/>
            <a:ext cx="8595360" cy="777240"/>
          </a:xfrm>
          <a:prstGeom prst="roundRect">
            <a:avLst/>
          </a:prstGeom>
          <a:solidFill>
            <a:srgbClr val="FFECF5"/>
          </a:solidFill>
          <a:ln w="19050">
            <a:solidFill>
              <a:srgbClr val="FF3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411479" y="3758184"/>
            <a:ext cx="8321040" cy="685800"/>
          </a:xfrm>
          <a:prstGeom prst="rect">
            <a:avLst/>
          </a:prstGeom>
          <a:noFill/>
        </p:spPr>
        <p:txBody>
          <a:bodyPr wrap="square">
            <a:noAutofit/>
          </a:bodyPr>
          <a:lstStyle/>
          <a:p>
            <a:r>
              <a:rPr sz="1300" b="1">
                <a:solidFill>
                  <a:srgbClr val="FF3999"/>
                </a:solidFill>
                <a:latin typeface="Hiragino Kaku Gothic ProN"/>
              </a:rPr>
              <a:t>PRする際は他を下げるのではなく「その商品自体の魅力」だけを真っすぐ伝えることに集中しましょう。</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2004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4008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96011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28016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60020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92024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24028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56032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88036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20040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52044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84048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16052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48055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80059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12063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44067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76071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08075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40079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72083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04087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36091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68095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00099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832103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864107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896111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0" y="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0" y="32004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0" y="64008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0" y="960119"/>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0" y="128016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0" y="160020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0" y="192024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0" y="224028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0" y="256032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0" y="288036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0" y="320040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0" y="352044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0" y="384048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0" y="416052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0" y="4480559"/>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0" y="4800599"/>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0" y="5120639"/>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320040" y="164592"/>
            <a:ext cx="8503920" cy="594360"/>
          </a:xfrm>
          <a:prstGeom prst="rect">
            <a:avLst/>
          </a:prstGeom>
          <a:noFill/>
        </p:spPr>
        <p:txBody>
          <a:bodyPr wrap="square">
            <a:spAutoFit/>
          </a:bodyPr>
          <a:lstStyle/>
          <a:p>
            <a:pPr algn="l"/>
            <a:r>
              <a:rPr sz="2600" b="1" i="0">
                <a:solidFill>
                  <a:srgbClr val="1A1A1A"/>
                </a:solidFill>
                <a:latin typeface="Hiragino Kaku Gothic ProN"/>
              </a:rPr>
              <a:t>必須ルール「成分名の注釈」と視認性</a:t>
            </a:r>
          </a:p>
        </p:txBody>
      </p:sp>
      <p:sp>
        <p:nvSpPr>
          <p:cNvPr id="49" name="Rectangle 48"/>
          <p:cNvSpPr/>
          <p:nvPr/>
        </p:nvSpPr>
        <p:spPr>
          <a:xfrm>
            <a:off x="320040" y="731520"/>
            <a:ext cx="8503920" cy="41148"/>
          </a:xfrm>
          <a:prstGeom prst="rect">
            <a:avLst/>
          </a:prstGeom>
          <a:solidFill>
            <a:srgbClr val="FF39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ounded Rectangle 49"/>
          <p:cNvSpPr/>
          <p:nvPr/>
        </p:nvSpPr>
        <p:spPr>
          <a:xfrm>
            <a:off x="274320" y="914400"/>
            <a:ext cx="8595360" cy="1005840"/>
          </a:xfrm>
          <a:prstGeom prst="roundRect">
            <a:avLst/>
          </a:prstGeom>
          <a:solidFill>
            <a:srgbClr val="FFFFFF"/>
          </a:solidFill>
          <a:ln w="15240">
            <a:solidFill>
              <a:srgbClr val="FFD6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438912" y="1078992"/>
            <a:ext cx="8321040" cy="731520"/>
          </a:xfrm>
          <a:prstGeom prst="rect">
            <a:avLst/>
          </a:prstGeom>
          <a:noFill/>
        </p:spPr>
        <p:txBody>
          <a:bodyPr wrap="square">
            <a:spAutoFit/>
          </a:bodyPr>
          <a:lstStyle/>
          <a:p>
            <a:pPr algn="l">
              <a:spcBef>
                <a:spcPts val="300"/>
              </a:spcBef>
            </a:pPr>
            <a:r>
              <a:rPr sz="1300">
                <a:solidFill>
                  <a:srgbClr val="1A1A1A"/>
                </a:solidFill>
                <a:latin typeface="Hiragino Kaku Gothic ProN"/>
              </a:rPr>
              <a:t>•  成分をアピールする際は「注釈（※）」がセットになる</a:t>
            </a:r>
          </a:p>
          <a:p>
            <a:pPr algn="l">
              <a:spcBef>
                <a:spcPts val="300"/>
              </a:spcBef>
            </a:pPr>
            <a:r>
              <a:rPr sz="1100">
                <a:solidFill>
                  <a:srgbClr val="666666"/>
                </a:solidFill>
                <a:latin typeface="Hiragino Kaku Gothic ProN"/>
              </a:rPr>
              <a:t>　　→  例：「ビタミンC配合」→「※アスコルビン酸（整肌成分）」を追記</a:t>
            </a:r>
          </a:p>
        </p:txBody>
      </p:sp>
      <p:sp>
        <p:nvSpPr>
          <p:cNvPr id="52" name="Rounded Rectangle 51"/>
          <p:cNvSpPr/>
          <p:nvPr/>
        </p:nvSpPr>
        <p:spPr>
          <a:xfrm>
            <a:off x="274320" y="2011680"/>
            <a:ext cx="4023360" cy="2194560"/>
          </a:xfrm>
          <a:prstGeom prst="roundRect">
            <a:avLst/>
          </a:prstGeom>
          <a:solidFill>
            <a:srgbClr val="FFFFFF"/>
          </a:solidFill>
          <a:ln w="15240">
            <a:solidFill>
              <a:srgbClr val="FFD6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274320" y="2011680"/>
            <a:ext cx="4023360" cy="384048"/>
          </a:xfrm>
          <a:prstGeom prst="rect">
            <a:avLst/>
          </a:prstGeom>
          <a:solidFill>
            <a:srgbClr val="FF3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411479" y="2039112"/>
            <a:ext cx="3749040" cy="347472"/>
          </a:xfrm>
          <a:prstGeom prst="rect">
            <a:avLst/>
          </a:prstGeom>
          <a:noFill/>
        </p:spPr>
        <p:txBody>
          <a:bodyPr wrap="square">
            <a:spAutoFit/>
          </a:bodyPr>
          <a:lstStyle/>
          <a:p>
            <a:pPr algn="l"/>
            <a:r>
              <a:rPr sz="1300" b="1" i="0">
                <a:solidFill>
                  <a:srgbClr val="FFFFFF"/>
                </a:solidFill>
                <a:latin typeface="Hiragino Kaku Gothic ProN"/>
              </a:rPr>
              <a:t>よくある修正指示</a:t>
            </a:r>
          </a:p>
        </p:txBody>
      </p:sp>
      <p:sp>
        <p:nvSpPr>
          <p:cNvPr id="55" name="TextBox 54"/>
          <p:cNvSpPr txBox="1"/>
          <p:nvPr/>
        </p:nvSpPr>
        <p:spPr>
          <a:xfrm>
            <a:off x="438912" y="2468880"/>
            <a:ext cx="3749040" cy="1627631"/>
          </a:xfrm>
          <a:prstGeom prst="rect">
            <a:avLst/>
          </a:prstGeom>
          <a:noFill/>
        </p:spPr>
        <p:txBody>
          <a:bodyPr wrap="square">
            <a:spAutoFit/>
          </a:bodyPr>
          <a:lstStyle/>
          <a:p>
            <a:pPr algn="l">
              <a:spcBef>
                <a:spcPts val="300"/>
              </a:spcBef>
            </a:pPr>
            <a:r>
              <a:rPr b="1" sz="1300">
                <a:solidFill>
                  <a:srgbClr val="FF3333"/>
                </a:solidFill>
                <a:latin typeface="Hiragino Kaku Gothic ProN"/>
              </a:rPr>
              <a:t>✗  </a:t>
            </a:r>
            <a:r>
              <a:rPr sz="1300">
                <a:solidFill>
                  <a:srgbClr val="FF3333"/>
                </a:solidFill>
                <a:latin typeface="Hiragino Kaku Gothic ProN"/>
              </a:rPr>
              <a:t>背景と同化している文字</a:t>
            </a:r>
          </a:p>
          <a:p>
            <a:pPr algn="l">
              <a:spcBef>
                <a:spcPts val="300"/>
              </a:spcBef>
            </a:pPr>
            <a:r>
              <a:rPr b="1" sz="1300">
                <a:solidFill>
                  <a:srgbClr val="FF3333"/>
                </a:solidFill>
                <a:latin typeface="Hiragino Kaku Gothic ProN"/>
              </a:rPr>
              <a:t>✗  </a:t>
            </a:r>
            <a:r>
              <a:rPr sz="1300">
                <a:solidFill>
                  <a:srgbClr val="FF3333"/>
                </a:solidFill>
                <a:latin typeface="Hiragino Kaku Gothic ProN"/>
              </a:rPr>
              <a:t>極小サイズの文字</a:t>
            </a:r>
          </a:p>
          <a:p>
            <a:pPr algn="l">
              <a:spcBef>
                <a:spcPts val="300"/>
              </a:spcBef>
            </a:pPr>
            <a:r>
              <a:rPr b="1" sz="1300">
                <a:solidFill>
                  <a:srgbClr val="FF3333"/>
                </a:solidFill>
                <a:latin typeface="Hiragino Kaku Gothic ProN"/>
              </a:rPr>
              <a:t>✗  </a:t>
            </a:r>
            <a:r>
              <a:rPr sz="1300">
                <a:solidFill>
                  <a:srgbClr val="FF3333"/>
                </a:solidFill>
                <a:latin typeface="Hiragino Kaku Gothic ProN"/>
              </a:rPr>
              <a:t>動画で一瞬しか表示されない</a:t>
            </a:r>
          </a:p>
        </p:txBody>
      </p:sp>
      <p:sp>
        <p:nvSpPr>
          <p:cNvPr id="56" name="Rounded Rectangle 55"/>
          <p:cNvSpPr/>
          <p:nvPr/>
        </p:nvSpPr>
        <p:spPr>
          <a:xfrm>
            <a:off x="4572000" y="2011680"/>
            <a:ext cx="4297680" cy="2194560"/>
          </a:xfrm>
          <a:prstGeom prst="roundRect">
            <a:avLst/>
          </a:prstGeom>
          <a:solidFill>
            <a:srgbClr val="FFFFFF"/>
          </a:solidFill>
          <a:ln w="15240">
            <a:solidFill>
              <a:srgbClr val="FFD6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ectangle 56"/>
          <p:cNvSpPr/>
          <p:nvPr/>
        </p:nvSpPr>
        <p:spPr>
          <a:xfrm>
            <a:off x="4572000" y="2011680"/>
            <a:ext cx="4297680" cy="384048"/>
          </a:xfrm>
          <a:prstGeom prst="rect">
            <a:avLst/>
          </a:prstGeom>
          <a:solidFill>
            <a:srgbClr val="00BF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4709160" y="2039112"/>
            <a:ext cx="4023360" cy="347472"/>
          </a:xfrm>
          <a:prstGeom prst="rect">
            <a:avLst/>
          </a:prstGeom>
          <a:noFill/>
        </p:spPr>
        <p:txBody>
          <a:bodyPr wrap="square">
            <a:spAutoFit/>
          </a:bodyPr>
          <a:lstStyle/>
          <a:p>
            <a:pPr algn="l"/>
            <a:r>
              <a:rPr sz="1300" b="1" i="0">
                <a:solidFill>
                  <a:srgbClr val="FFFFFF"/>
                </a:solidFill>
                <a:latin typeface="Hiragino Kaku Gothic ProN"/>
              </a:rPr>
              <a:t>正しい対応</a:t>
            </a:r>
          </a:p>
        </p:txBody>
      </p:sp>
      <p:sp>
        <p:nvSpPr>
          <p:cNvPr id="59" name="TextBox 58"/>
          <p:cNvSpPr txBox="1"/>
          <p:nvPr/>
        </p:nvSpPr>
        <p:spPr>
          <a:xfrm>
            <a:off x="4736592" y="2468880"/>
            <a:ext cx="4023360" cy="1627631"/>
          </a:xfrm>
          <a:prstGeom prst="rect">
            <a:avLst/>
          </a:prstGeom>
          <a:noFill/>
        </p:spPr>
        <p:txBody>
          <a:bodyPr wrap="square">
            <a:spAutoFit/>
          </a:bodyPr>
          <a:lstStyle/>
          <a:p>
            <a:pPr algn="l">
              <a:spcBef>
                <a:spcPts val="300"/>
              </a:spcBef>
            </a:pPr>
            <a:r>
              <a:rPr b="1" sz="1300">
                <a:solidFill>
                  <a:srgbClr val="00BFA5"/>
                </a:solidFill>
                <a:latin typeface="Hiragino Kaku Gothic ProN"/>
              </a:rPr>
              <a:t>✓  </a:t>
            </a:r>
            <a:r>
              <a:rPr sz="1300">
                <a:solidFill>
                  <a:srgbClr val="00BFA5"/>
                </a:solidFill>
                <a:latin typeface="Hiragino Kaku Gothic ProN"/>
              </a:rPr>
              <a:t>読めるコントラストとサイズで表示する</a:t>
            </a:r>
          </a:p>
          <a:p>
            <a:pPr algn="l">
              <a:spcBef>
                <a:spcPts val="300"/>
              </a:spcBef>
            </a:pPr>
            <a:r>
              <a:rPr b="1" sz="1300">
                <a:solidFill>
                  <a:srgbClr val="00BFA5"/>
                </a:solidFill>
                <a:latin typeface="Hiragino Kaku Gothic ProN"/>
              </a:rPr>
              <a:t>✓  </a:t>
            </a:r>
            <a:r>
              <a:rPr sz="1300">
                <a:solidFill>
                  <a:srgbClr val="00BFA5"/>
                </a:solidFill>
                <a:latin typeface="Hiragino Kaku Gothic ProN"/>
              </a:rPr>
              <a:t>十分な時間、視認できる状態を維持する</a:t>
            </a:r>
          </a:p>
          <a:p>
            <a:pPr algn="l">
              <a:spcBef>
                <a:spcPts val="300"/>
              </a:spcBef>
            </a:pPr>
            <a:r>
              <a:rPr sz="1300">
                <a:latin typeface="Hiragino Kaku Gothic ProN"/>
              </a:rPr>
              <a:t>⚠️  </a:t>
            </a:r>
            <a:r>
              <a:rPr sz="1300" b="1">
                <a:solidFill>
                  <a:srgbClr val="1A1A1A"/>
                </a:solidFill>
                <a:latin typeface="Hiragino Kaku Gothic ProN"/>
              </a:rPr>
              <a:t>スマホで認識できない注釈は法律上「書いていないのと同じ」</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2004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4008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96011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28016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60020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92024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24028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56032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88036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20040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52044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84048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16052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48055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80059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12063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44067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76071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08075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40079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72083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04087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36091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68095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00099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832103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864107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896111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0" y="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0" y="32004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0" y="64008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0" y="960119"/>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0" y="128016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0" y="160020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0" y="192024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0" y="224028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0" y="256032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0" y="288036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0" y="320040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0" y="352044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0" y="384048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0" y="416052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0" y="4480559"/>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0" y="4800599"/>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0" y="5120639"/>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0" y="0"/>
            <a:ext cx="9144000" cy="658368"/>
          </a:xfrm>
          <a:prstGeom prst="rect">
            <a:avLst/>
          </a:prstGeom>
          <a:solidFill>
            <a:srgbClr val="FF39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320040" y="91440"/>
            <a:ext cx="7315200" cy="502920"/>
          </a:xfrm>
          <a:prstGeom prst="rect">
            <a:avLst/>
          </a:prstGeom>
          <a:noFill/>
        </p:spPr>
        <p:txBody>
          <a:bodyPr wrap="square">
            <a:spAutoFit/>
          </a:bodyPr>
          <a:lstStyle/>
          <a:p>
            <a:pPr algn="l"/>
            <a:r>
              <a:rPr sz="2200" b="1" i="0">
                <a:solidFill>
                  <a:srgbClr val="FFFFFF"/>
                </a:solidFill>
                <a:latin typeface="Hiragino Kaku Gothic ProN"/>
              </a:rPr>
              <a:t>まとめ　動画②</a:t>
            </a:r>
          </a:p>
        </p:txBody>
      </p:sp>
      <p:sp>
        <p:nvSpPr>
          <p:cNvPr id="50" name="Rounded Rectangle 49"/>
          <p:cNvSpPr/>
          <p:nvPr/>
        </p:nvSpPr>
        <p:spPr>
          <a:xfrm>
            <a:off x="502920" y="804672"/>
            <a:ext cx="8138160" cy="868680"/>
          </a:xfrm>
          <a:prstGeom prst="roundRect">
            <a:avLst/>
          </a:prstGeom>
          <a:solidFill>
            <a:srgbClr val="FFECF5"/>
          </a:solidFill>
          <a:ln w="15240">
            <a:solidFill>
              <a:srgbClr val="FFD6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ounded Rectangle 50"/>
          <p:cNvSpPr/>
          <p:nvPr/>
        </p:nvSpPr>
        <p:spPr>
          <a:xfrm>
            <a:off x="548640" y="914400"/>
            <a:ext cx="640080" cy="640080"/>
          </a:xfrm>
          <a:prstGeom prst="roundRect">
            <a:avLst/>
          </a:prstGeom>
          <a:solidFill>
            <a:srgbClr val="FF39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548640" y="946403"/>
            <a:ext cx="640080" cy="576072"/>
          </a:xfrm>
          <a:prstGeom prst="rect">
            <a:avLst/>
          </a:prstGeom>
          <a:noFill/>
        </p:spPr>
        <p:txBody>
          <a:bodyPr wrap="square">
            <a:spAutoFit/>
          </a:bodyPr>
          <a:lstStyle/>
          <a:p>
            <a:pPr algn="ctr"/>
            <a:r>
              <a:rPr sz="1800" b="1" i="0">
                <a:solidFill>
                  <a:srgbClr val="FFFFFF"/>
                </a:solidFill>
                <a:latin typeface="Hiragino Kaku Gothic ProN"/>
              </a:rPr>
              <a:t>1</a:t>
            </a:r>
          </a:p>
        </p:txBody>
      </p:sp>
      <p:sp>
        <p:nvSpPr>
          <p:cNvPr id="53" name="TextBox 52"/>
          <p:cNvSpPr txBox="1"/>
          <p:nvPr/>
        </p:nvSpPr>
        <p:spPr>
          <a:xfrm>
            <a:off x="1325880" y="941832"/>
            <a:ext cx="7223760" cy="640080"/>
          </a:xfrm>
          <a:prstGeom prst="rect">
            <a:avLst/>
          </a:prstGeom>
          <a:noFill/>
        </p:spPr>
        <p:txBody>
          <a:bodyPr wrap="square">
            <a:spAutoFit/>
          </a:bodyPr>
          <a:lstStyle/>
          <a:p>
            <a:pPr algn="l"/>
            <a:r>
              <a:rPr sz="1300" b="0" i="0">
                <a:solidFill>
                  <a:srgbClr val="1A1A1A"/>
                </a:solidFill>
                <a:latin typeface="Hiragino Kaku Gothic ProN"/>
              </a:rPr>
              <a:t>修正指示は企業とクリエイター双方を守る防衛線。意図を理解して対応する</a:t>
            </a:r>
          </a:p>
        </p:txBody>
      </p:sp>
      <p:sp>
        <p:nvSpPr>
          <p:cNvPr id="54" name="Rounded Rectangle 53"/>
          <p:cNvSpPr/>
          <p:nvPr/>
        </p:nvSpPr>
        <p:spPr>
          <a:xfrm>
            <a:off x="502920" y="1920240"/>
            <a:ext cx="8138160" cy="868680"/>
          </a:xfrm>
          <a:prstGeom prst="roundRect">
            <a:avLst/>
          </a:prstGeom>
          <a:solidFill>
            <a:srgbClr val="FFECF5"/>
          </a:solidFill>
          <a:ln w="15240">
            <a:solidFill>
              <a:srgbClr val="FFD6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ounded Rectangle 54"/>
          <p:cNvSpPr/>
          <p:nvPr/>
        </p:nvSpPr>
        <p:spPr>
          <a:xfrm>
            <a:off x="548640" y="2029968"/>
            <a:ext cx="640080" cy="640080"/>
          </a:xfrm>
          <a:prstGeom prst="roundRect">
            <a:avLst/>
          </a:prstGeom>
          <a:solidFill>
            <a:srgbClr val="FF39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548640" y="2061972"/>
            <a:ext cx="640080" cy="576072"/>
          </a:xfrm>
          <a:prstGeom prst="rect">
            <a:avLst/>
          </a:prstGeom>
          <a:noFill/>
        </p:spPr>
        <p:txBody>
          <a:bodyPr wrap="square">
            <a:spAutoFit/>
          </a:bodyPr>
          <a:lstStyle/>
          <a:p>
            <a:pPr algn="ctr"/>
            <a:r>
              <a:rPr sz="1800" b="1" i="0">
                <a:solidFill>
                  <a:srgbClr val="FFFFFF"/>
                </a:solidFill>
                <a:latin typeface="Hiragino Kaku Gothic ProN"/>
              </a:rPr>
              <a:t>2</a:t>
            </a:r>
          </a:p>
        </p:txBody>
      </p:sp>
      <p:sp>
        <p:nvSpPr>
          <p:cNvPr id="57" name="TextBox 56"/>
          <p:cNvSpPr txBox="1"/>
          <p:nvPr/>
        </p:nvSpPr>
        <p:spPr>
          <a:xfrm>
            <a:off x="1325880" y="2057400"/>
            <a:ext cx="7223760" cy="640080"/>
          </a:xfrm>
          <a:prstGeom prst="rect">
            <a:avLst/>
          </a:prstGeom>
          <a:noFill/>
        </p:spPr>
        <p:txBody>
          <a:bodyPr wrap="square">
            <a:spAutoFit/>
          </a:bodyPr>
          <a:lstStyle/>
          <a:p>
            <a:pPr algn="l"/>
            <a:r>
              <a:rPr sz="1300" b="0" i="0">
                <a:solidFill>
                  <a:srgbClr val="1A1A1A"/>
                </a:solidFill>
                <a:latin typeface="Hiragino Kaku Gothic ProN"/>
              </a:rPr>
              <a:t>「日本一」「絶対」などの最大限級表現は根拠なしにはNG。主観表現に言い換える</a:t>
            </a:r>
          </a:p>
        </p:txBody>
      </p:sp>
      <p:sp>
        <p:nvSpPr>
          <p:cNvPr id="58" name="Rounded Rectangle 57"/>
          <p:cNvSpPr/>
          <p:nvPr/>
        </p:nvSpPr>
        <p:spPr>
          <a:xfrm>
            <a:off x="502920" y="3035808"/>
            <a:ext cx="8138160" cy="868680"/>
          </a:xfrm>
          <a:prstGeom prst="roundRect">
            <a:avLst/>
          </a:prstGeom>
          <a:solidFill>
            <a:srgbClr val="FFECF5"/>
          </a:solidFill>
          <a:ln w="15240">
            <a:solidFill>
              <a:srgbClr val="FFD6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ounded Rectangle 58"/>
          <p:cNvSpPr/>
          <p:nvPr/>
        </p:nvSpPr>
        <p:spPr>
          <a:xfrm>
            <a:off x="548640" y="3145536"/>
            <a:ext cx="640080" cy="640080"/>
          </a:xfrm>
          <a:prstGeom prst="roundRect">
            <a:avLst/>
          </a:prstGeom>
          <a:solidFill>
            <a:srgbClr val="FF39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548640" y="3177540"/>
            <a:ext cx="640080" cy="576072"/>
          </a:xfrm>
          <a:prstGeom prst="rect">
            <a:avLst/>
          </a:prstGeom>
          <a:noFill/>
        </p:spPr>
        <p:txBody>
          <a:bodyPr wrap="square">
            <a:spAutoFit/>
          </a:bodyPr>
          <a:lstStyle/>
          <a:p>
            <a:pPr algn="ctr"/>
            <a:r>
              <a:rPr sz="1800" b="1" i="0">
                <a:solidFill>
                  <a:srgbClr val="FFFFFF"/>
                </a:solidFill>
                <a:latin typeface="Hiragino Kaku Gothic ProN"/>
              </a:rPr>
              <a:t>3</a:t>
            </a:r>
          </a:p>
        </p:txBody>
      </p:sp>
      <p:sp>
        <p:nvSpPr>
          <p:cNvPr id="61" name="TextBox 60"/>
          <p:cNvSpPr txBox="1"/>
          <p:nvPr/>
        </p:nvSpPr>
        <p:spPr>
          <a:xfrm>
            <a:off x="1325880" y="3172968"/>
            <a:ext cx="7223760" cy="640080"/>
          </a:xfrm>
          <a:prstGeom prst="rect">
            <a:avLst/>
          </a:prstGeom>
          <a:noFill/>
        </p:spPr>
        <p:txBody>
          <a:bodyPr wrap="square">
            <a:spAutoFit/>
          </a:bodyPr>
          <a:lstStyle/>
          <a:p>
            <a:pPr algn="l"/>
            <a:r>
              <a:rPr sz="1300" b="0" i="0">
                <a:solidFill>
                  <a:srgbClr val="1A1A1A"/>
                </a:solidFill>
                <a:latin typeface="Hiragino Kaku Gothic ProN"/>
              </a:rPr>
              <a:t>注釈は視認できるサイズ・コントラスト・表示時間が必須。法律上の義務</a:t>
            </a:r>
          </a:p>
        </p:txBody>
      </p:sp>
      <p:sp>
        <p:nvSpPr>
          <p:cNvPr id="62" name="Rounded Rectangle 61"/>
          <p:cNvSpPr/>
          <p:nvPr/>
        </p:nvSpPr>
        <p:spPr>
          <a:xfrm>
            <a:off x="320040" y="4160520"/>
            <a:ext cx="8503920" cy="685800"/>
          </a:xfrm>
          <a:prstGeom prst="roundRect">
            <a:avLst/>
          </a:prstGeom>
          <a:solidFill>
            <a:srgbClr val="FFECF5"/>
          </a:solidFill>
          <a:ln w="15240">
            <a:solidFill>
              <a:srgbClr val="FF3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548640" y="4242816"/>
            <a:ext cx="8229600" cy="502920"/>
          </a:xfrm>
          <a:prstGeom prst="rect">
            <a:avLst/>
          </a:prstGeom>
          <a:noFill/>
        </p:spPr>
        <p:txBody>
          <a:bodyPr wrap="square">
            <a:spAutoFit/>
          </a:bodyPr>
          <a:lstStyle/>
          <a:p>
            <a:pPr algn="l"/>
            <a:r>
              <a:rPr sz="1200" b="0" i="1">
                <a:solidFill>
                  <a:srgbClr val="FF3999"/>
                </a:solidFill>
                <a:latin typeface="Hiragino Kaku Gothic ProN"/>
              </a:rPr>
              <a:t>▶  Next  |  動画③：アカウント停止を防ぐ：権利侵害とプラットフォーム規約</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3999"/>
        </a:solidFill>
        <a:effectLst/>
      </p:bgPr>
    </p:bg>
    <p:spTree>
      <p:nvGrpSpPr>
        <p:cNvPr id="1" name=""/>
        <p:cNvGrpSpPr/>
        <p:nvPr/>
      </p:nvGrpSpPr>
      <p:grpSpPr/>
      <p:sp>
        <p:nvSpPr>
          <p:cNvPr id="2" name="TextBox 1"/>
          <p:cNvSpPr txBox="1"/>
          <p:nvPr/>
        </p:nvSpPr>
        <p:spPr>
          <a:xfrm>
            <a:off x="-91440" y="182880"/>
            <a:ext cx="3200400" cy="4754880"/>
          </a:xfrm>
          <a:prstGeom prst="rect">
            <a:avLst/>
          </a:prstGeom>
          <a:noFill/>
        </p:spPr>
        <p:txBody>
          <a:bodyPr wrap="square">
            <a:spAutoFit/>
          </a:bodyPr>
          <a:lstStyle/>
          <a:p>
            <a:pPr algn="l"/>
            <a:r>
              <a:rPr sz="24000" b="1" i="0">
                <a:solidFill>
                  <a:srgbClr val="FF80BB"/>
                </a:solidFill>
                <a:latin typeface="Hiragino Kaku Gothic ProN"/>
              </a:rPr>
              <a:t>3</a:t>
            </a:r>
          </a:p>
        </p:txBody>
      </p:sp>
      <p:sp>
        <p:nvSpPr>
          <p:cNvPr id="3" name="Rounded Rectangle 2"/>
          <p:cNvSpPr/>
          <p:nvPr/>
        </p:nvSpPr>
        <p:spPr>
          <a:xfrm>
            <a:off x="3017520" y="1097280"/>
            <a:ext cx="5669280" cy="2560320"/>
          </a:xfrm>
          <a:prstGeom prst="roundRect">
            <a:avLst/>
          </a:prstGeom>
          <a:solidFill>
            <a:srgbClr val="FFFFFF"/>
          </a:solidFill>
          <a:ln w="1524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0" y="1280160"/>
            <a:ext cx="3840480" cy="1097280"/>
          </a:xfrm>
          <a:prstGeom prst="rect">
            <a:avLst/>
          </a:prstGeom>
          <a:noFill/>
        </p:spPr>
        <p:txBody>
          <a:bodyPr wrap="square">
            <a:spAutoFit/>
          </a:bodyPr>
          <a:lstStyle/>
          <a:p>
            <a:pPr algn="l"/>
            <a:r>
              <a:rPr sz="3000" b="1" i="0">
                <a:solidFill>
                  <a:srgbClr val="1A1A1A"/>
                </a:solidFill>
                <a:latin typeface="Hiragino Kaku Gothic ProN"/>
              </a:rPr>
              <a:t>権利侵害とプラットフォーム規約</a:t>
            </a:r>
          </a:p>
        </p:txBody>
      </p:sp>
      <p:sp>
        <p:nvSpPr>
          <p:cNvPr id="5" name="TextBox 4"/>
          <p:cNvSpPr txBox="1"/>
          <p:nvPr/>
        </p:nvSpPr>
        <p:spPr>
          <a:xfrm>
            <a:off x="3200400" y="2468880"/>
            <a:ext cx="3840480" cy="640080"/>
          </a:xfrm>
          <a:prstGeom prst="rect">
            <a:avLst/>
          </a:prstGeom>
          <a:noFill/>
        </p:spPr>
        <p:txBody>
          <a:bodyPr wrap="square">
            <a:spAutoFit/>
          </a:bodyPr>
          <a:lstStyle/>
          <a:p>
            <a:pPr algn="l"/>
            <a:r>
              <a:rPr sz="1500" b="0" i="0">
                <a:solidFill>
                  <a:srgbClr val="666666"/>
                </a:solidFill>
                <a:latin typeface="Hiragino Kaku Gothic ProN"/>
              </a:rPr>
              <a:t>アカウント停止を防ぐ</a:t>
            </a:r>
          </a:p>
        </p:txBody>
      </p:sp>
      <p:pic>
        <p:nvPicPr>
          <p:cNvPr id="6" name="Picture 5" descr="image-5-4.png"/>
          <p:cNvPicPr>
            <a:picLocks noChangeAspect="1"/>
          </p:cNvPicPr>
          <p:nvPr/>
        </p:nvPicPr>
        <p:blipFill>
          <a:blip r:embed="rId2"/>
          <a:stretch>
            <a:fillRect/>
          </a:stretch>
        </p:blipFill>
        <p:spPr>
          <a:xfrm>
            <a:off x="7132320" y="1188720"/>
            <a:ext cx="1371600" cy="1371600"/>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2004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4008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96011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28016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60020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92024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24028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56032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88036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20040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52044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84048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16052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48055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80059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12063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44067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76071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08075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40079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72083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04087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36091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68095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00099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832103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864107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896111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0" y="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0" y="32004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0" y="64008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0" y="960119"/>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0" y="128016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0" y="160020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0" y="192024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0" y="224028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0" y="256032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0" y="288036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0" y="320040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0" y="352044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0" y="384048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0" y="416052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0" y="4480559"/>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0" y="4800599"/>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0" y="5120639"/>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320040" y="164592"/>
            <a:ext cx="8503920" cy="594360"/>
          </a:xfrm>
          <a:prstGeom prst="rect">
            <a:avLst/>
          </a:prstGeom>
          <a:noFill/>
        </p:spPr>
        <p:txBody>
          <a:bodyPr wrap="square">
            <a:spAutoFit/>
          </a:bodyPr>
          <a:lstStyle/>
          <a:p>
            <a:pPr algn="l"/>
            <a:r>
              <a:rPr sz="3000" b="1" i="0">
                <a:solidFill>
                  <a:srgbClr val="1A1A1A"/>
                </a:solidFill>
                <a:latin typeface="Hiragino Kaku Gothic ProN"/>
              </a:rPr>
              <a:t>この動画で学ぶこと</a:t>
            </a:r>
          </a:p>
        </p:txBody>
      </p:sp>
      <p:sp>
        <p:nvSpPr>
          <p:cNvPr id="49" name="Rectangle 48"/>
          <p:cNvSpPr/>
          <p:nvPr/>
        </p:nvSpPr>
        <p:spPr>
          <a:xfrm>
            <a:off x="320040" y="731520"/>
            <a:ext cx="8503920" cy="41148"/>
          </a:xfrm>
          <a:prstGeom prst="rect">
            <a:avLst/>
          </a:prstGeom>
          <a:solidFill>
            <a:srgbClr val="FF39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ounded Rectangle 49"/>
          <p:cNvSpPr/>
          <p:nvPr/>
        </p:nvSpPr>
        <p:spPr>
          <a:xfrm>
            <a:off x="228600" y="960120"/>
            <a:ext cx="2743200" cy="3977639"/>
          </a:xfrm>
          <a:prstGeom prst="roundRect">
            <a:avLst/>
          </a:prstGeom>
          <a:solidFill>
            <a:srgbClr val="FFFFFF"/>
          </a:solidFill>
          <a:ln w="15240">
            <a:solidFill>
              <a:srgbClr val="FFD6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1" name="Picture 50" descr="image-1-3.png"/>
          <p:cNvPicPr>
            <a:picLocks noChangeAspect="1"/>
          </p:cNvPicPr>
          <p:nvPr/>
        </p:nvPicPr>
        <p:blipFill>
          <a:blip r:embed="rId2"/>
          <a:stretch>
            <a:fillRect/>
          </a:stretch>
        </p:blipFill>
        <p:spPr>
          <a:xfrm>
            <a:off x="914400" y="1097280"/>
            <a:ext cx="1371600" cy="1371600"/>
          </a:xfrm>
          <a:prstGeom prst="rect">
            <a:avLst/>
          </a:prstGeom>
        </p:spPr>
      </p:pic>
      <p:sp>
        <p:nvSpPr>
          <p:cNvPr id="52" name="Rounded Rectangle 51"/>
          <p:cNvSpPr/>
          <p:nvPr/>
        </p:nvSpPr>
        <p:spPr>
          <a:xfrm>
            <a:off x="365760" y="2834640"/>
            <a:ext cx="640080" cy="640080"/>
          </a:xfrm>
          <a:prstGeom prst="roundRect">
            <a:avLst/>
          </a:prstGeom>
          <a:solidFill>
            <a:srgbClr val="FF39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365760" y="2866644"/>
            <a:ext cx="640080" cy="576072"/>
          </a:xfrm>
          <a:prstGeom prst="rect">
            <a:avLst/>
          </a:prstGeom>
          <a:noFill/>
        </p:spPr>
        <p:txBody>
          <a:bodyPr wrap="square">
            <a:spAutoFit/>
          </a:bodyPr>
          <a:lstStyle/>
          <a:p>
            <a:pPr algn="ctr"/>
            <a:r>
              <a:rPr sz="2000" b="1" i="0">
                <a:solidFill>
                  <a:srgbClr val="FFFFFF"/>
                </a:solidFill>
                <a:latin typeface="Hiragino Kaku Gothic ProN"/>
              </a:rPr>
              <a:t>01</a:t>
            </a:r>
          </a:p>
        </p:txBody>
      </p:sp>
      <p:sp>
        <p:nvSpPr>
          <p:cNvPr id="54" name="TextBox 53"/>
          <p:cNvSpPr txBox="1"/>
          <p:nvPr/>
        </p:nvSpPr>
        <p:spPr>
          <a:xfrm>
            <a:off x="320040" y="3611880"/>
            <a:ext cx="2560320" cy="594360"/>
          </a:xfrm>
          <a:prstGeom prst="rect">
            <a:avLst/>
          </a:prstGeom>
          <a:noFill/>
        </p:spPr>
        <p:txBody>
          <a:bodyPr wrap="square">
            <a:spAutoFit/>
          </a:bodyPr>
          <a:lstStyle/>
          <a:p>
            <a:pPr algn="l"/>
            <a:r>
              <a:rPr sz="1300" b="1" i="0">
                <a:solidFill>
                  <a:srgbClr val="1A1A1A"/>
                </a:solidFill>
                <a:latin typeface="Hiragino Kaku Gothic ProN"/>
              </a:rPr>
              <a:t>著作権・肖像権の罠</a:t>
            </a:r>
          </a:p>
        </p:txBody>
      </p:sp>
      <p:sp>
        <p:nvSpPr>
          <p:cNvPr id="55" name="TextBox 54"/>
          <p:cNvSpPr txBox="1"/>
          <p:nvPr/>
        </p:nvSpPr>
        <p:spPr>
          <a:xfrm>
            <a:off x="320040" y="4251960"/>
            <a:ext cx="2560320" cy="594360"/>
          </a:xfrm>
          <a:prstGeom prst="rect">
            <a:avLst/>
          </a:prstGeom>
          <a:noFill/>
        </p:spPr>
        <p:txBody>
          <a:bodyPr wrap="square">
            <a:spAutoFit/>
          </a:bodyPr>
          <a:lstStyle/>
          <a:p>
            <a:pPr algn="l"/>
            <a:r>
              <a:rPr sz="1000" b="0" i="0">
                <a:solidFill>
                  <a:srgbClr val="666666"/>
                </a:solidFill>
                <a:latin typeface="Hiragino Kaku Gothic ProN"/>
              </a:rPr>
              <a:t>PR投稿は「商用利用」。うっかりNGを防ぐ</a:t>
            </a:r>
          </a:p>
        </p:txBody>
      </p:sp>
      <p:sp>
        <p:nvSpPr>
          <p:cNvPr id="56" name="Rounded Rectangle 55"/>
          <p:cNvSpPr/>
          <p:nvPr/>
        </p:nvSpPr>
        <p:spPr>
          <a:xfrm>
            <a:off x="3200400" y="960120"/>
            <a:ext cx="2743200" cy="3977639"/>
          </a:xfrm>
          <a:prstGeom prst="roundRect">
            <a:avLst/>
          </a:prstGeom>
          <a:solidFill>
            <a:srgbClr val="FFFFFF"/>
          </a:solidFill>
          <a:ln w="15240">
            <a:solidFill>
              <a:srgbClr val="FFD6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7" name="Picture 56" descr="image-1-1.png"/>
          <p:cNvPicPr>
            <a:picLocks noChangeAspect="1"/>
          </p:cNvPicPr>
          <p:nvPr/>
        </p:nvPicPr>
        <p:blipFill>
          <a:blip r:embed="rId3"/>
          <a:stretch>
            <a:fillRect/>
          </a:stretch>
        </p:blipFill>
        <p:spPr>
          <a:xfrm>
            <a:off x="3886200" y="1097280"/>
            <a:ext cx="1371600" cy="1371600"/>
          </a:xfrm>
          <a:prstGeom prst="rect">
            <a:avLst/>
          </a:prstGeom>
        </p:spPr>
      </p:pic>
      <p:sp>
        <p:nvSpPr>
          <p:cNvPr id="58" name="Rounded Rectangle 57"/>
          <p:cNvSpPr/>
          <p:nvPr/>
        </p:nvSpPr>
        <p:spPr>
          <a:xfrm>
            <a:off x="3337560" y="2834640"/>
            <a:ext cx="640080" cy="640080"/>
          </a:xfrm>
          <a:prstGeom prst="roundRect">
            <a:avLst/>
          </a:prstGeom>
          <a:solidFill>
            <a:srgbClr val="FF39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3337560" y="2866644"/>
            <a:ext cx="640080" cy="576072"/>
          </a:xfrm>
          <a:prstGeom prst="rect">
            <a:avLst/>
          </a:prstGeom>
          <a:noFill/>
        </p:spPr>
        <p:txBody>
          <a:bodyPr wrap="square">
            <a:spAutoFit/>
          </a:bodyPr>
          <a:lstStyle/>
          <a:p>
            <a:pPr algn="ctr"/>
            <a:r>
              <a:rPr sz="2000" b="1" i="0">
                <a:solidFill>
                  <a:srgbClr val="FFFFFF"/>
                </a:solidFill>
                <a:latin typeface="Hiragino Kaku Gothic ProN"/>
              </a:rPr>
              <a:t>02</a:t>
            </a:r>
          </a:p>
        </p:txBody>
      </p:sp>
      <p:sp>
        <p:nvSpPr>
          <p:cNvPr id="60" name="TextBox 59"/>
          <p:cNvSpPr txBox="1"/>
          <p:nvPr/>
        </p:nvSpPr>
        <p:spPr>
          <a:xfrm>
            <a:off x="3291840" y="3611880"/>
            <a:ext cx="2560320" cy="594360"/>
          </a:xfrm>
          <a:prstGeom prst="rect">
            <a:avLst/>
          </a:prstGeom>
          <a:noFill/>
        </p:spPr>
        <p:txBody>
          <a:bodyPr wrap="square">
            <a:spAutoFit/>
          </a:bodyPr>
          <a:lstStyle/>
          <a:p>
            <a:pPr algn="l"/>
            <a:r>
              <a:rPr sz="1300" b="1" i="0">
                <a:solidFill>
                  <a:srgbClr val="1A1A1A"/>
                </a:solidFill>
                <a:latin typeface="Hiragino Kaku Gothic ProN"/>
              </a:rPr>
              <a:t>音源の正しい選び方</a:t>
            </a:r>
          </a:p>
        </p:txBody>
      </p:sp>
      <p:sp>
        <p:nvSpPr>
          <p:cNvPr id="61" name="TextBox 60"/>
          <p:cNvSpPr txBox="1"/>
          <p:nvPr/>
        </p:nvSpPr>
        <p:spPr>
          <a:xfrm>
            <a:off x="3291840" y="4251960"/>
            <a:ext cx="2560320" cy="594360"/>
          </a:xfrm>
          <a:prstGeom prst="rect">
            <a:avLst/>
          </a:prstGeom>
          <a:noFill/>
        </p:spPr>
        <p:txBody>
          <a:bodyPr wrap="square">
            <a:spAutoFit/>
          </a:bodyPr>
          <a:lstStyle/>
          <a:p>
            <a:pPr algn="l"/>
            <a:r>
              <a:rPr sz="1000" b="0" i="0">
                <a:solidFill>
                  <a:srgbClr val="666666"/>
                </a:solidFill>
                <a:latin typeface="Hiragino Kaku Gothic ProN"/>
              </a:rPr>
              <a:t>流行り曲はPRではNG。商用利用可能な音源を使う</a:t>
            </a:r>
          </a:p>
        </p:txBody>
      </p:sp>
      <p:sp>
        <p:nvSpPr>
          <p:cNvPr id="62" name="Rounded Rectangle 61"/>
          <p:cNvSpPr/>
          <p:nvPr/>
        </p:nvSpPr>
        <p:spPr>
          <a:xfrm>
            <a:off x="6172200" y="960120"/>
            <a:ext cx="2743200" cy="3977639"/>
          </a:xfrm>
          <a:prstGeom prst="roundRect">
            <a:avLst/>
          </a:prstGeom>
          <a:solidFill>
            <a:srgbClr val="FFFFFF"/>
          </a:solidFill>
          <a:ln w="15240">
            <a:solidFill>
              <a:srgbClr val="FFD6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3" name="Picture 62" descr="image-5-4.png"/>
          <p:cNvPicPr>
            <a:picLocks noChangeAspect="1"/>
          </p:cNvPicPr>
          <p:nvPr/>
        </p:nvPicPr>
        <p:blipFill>
          <a:blip r:embed="rId4"/>
          <a:stretch>
            <a:fillRect/>
          </a:stretch>
        </p:blipFill>
        <p:spPr>
          <a:xfrm>
            <a:off x="6858000" y="1097280"/>
            <a:ext cx="1371600" cy="1371600"/>
          </a:xfrm>
          <a:prstGeom prst="rect">
            <a:avLst/>
          </a:prstGeom>
        </p:spPr>
      </p:pic>
      <p:sp>
        <p:nvSpPr>
          <p:cNvPr id="64" name="Rounded Rectangle 63"/>
          <p:cNvSpPr/>
          <p:nvPr/>
        </p:nvSpPr>
        <p:spPr>
          <a:xfrm>
            <a:off x="6309360" y="2834640"/>
            <a:ext cx="640080" cy="640080"/>
          </a:xfrm>
          <a:prstGeom prst="roundRect">
            <a:avLst/>
          </a:prstGeom>
          <a:solidFill>
            <a:srgbClr val="FF39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6309360" y="2866644"/>
            <a:ext cx="640080" cy="576072"/>
          </a:xfrm>
          <a:prstGeom prst="rect">
            <a:avLst/>
          </a:prstGeom>
          <a:noFill/>
        </p:spPr>
        <p:txBody>
          <a:bodyPr wrap="square">
            <a:spAutoFit/>
          </a:bodyPr>
          <a:lstStyle/>
          <a:p>
            <a:pPr algn="ctr"/>
            <a:r>
              <a:rPr sz="2000" b="1" i="0">
                <a:solidFill>
                  <a:srgbClr val="FFFFFF"/>
                </a:solidFill>
                <a:latin typeface="Hiragino Kaku Gothic ProN"/>
              </a:rPr>
              <a:t>03</a:t>
            </a:r>
          </a:p>
        </p:txBody>
      </p:sp>
      <p:sp>
        <p:nvSpPr>
          <p:cNvPr id="66" name="TextBox 65"/>
          <p:cNvSpPr txBox="1"/>
          <p:nvPr/>
        </p:nvSpPr>
        <p:spPr>
          <a:xfrm>
            <a:off x="6263640" y="3611880"/>
            <a:ext cx="2560320" cy="594360"/>
          </a:xfrm>
          <a:prstGeom prst="rect">
            <a:avLst/>
          </a:prstGeom>
          <a:noFill/>
        </p:spPr>
        <p:txBody>
          <a:bodyPr wrap="square">
            <a:spAutoFit/>
          </a:bodyPr>
          <a:lstStyle/>
          <a:p>
            <a:pPr algn="l"/>
            <a:r>
              <a:rPr sz="1300" b="1" i="0">
                <a:solidFill>
                  <a:srgbClr val="1A1A1A"/>
                </a:solidFill>
                <a:latin typeface="Hiragino Kaku Gothic ProN"/>
              </a:rPr>
              <a:t>プラットフォーム独自ルールと企業基準</a:t>
            </a:r>
          </a:p>
        </p:txBody>
      </p:sp>
      <p:sp>
        <p:nvSpPr>
          <p:cNvPr id="67" name="TextBox 66"/>
          <p:cNvSpPr txBox="1"/>
          <p:nvPr/>
        </p:nvSpPr>
        <p:spPr>
          <a:xfrm>
            <a:off x="6263640" y="4251960"/>
            <a:ext cx="2560320" cy="594360"/>
          </a:xfrm>
          <a:prstGeom prst="rect">
            <a:avLst/>
          </a:prstGeom>
          <a:noFill/>
        </p:spPr>
        <p:txBody>
          <a:bodyPr wrap="square">
            <a:spAutoFit/>
          </a:bodyPr>
          <a:lstStyle/>
          <a:p>
            <a:pPr algn="l"/>
            <a:r>
              <a:rPr sz="1000" b="0" i="0">
                <a:solidFill>
                  <a:srgbClr val="666666"/>
                </a:solidFill>
                <a:latin typeface="Hiragino Kaku Gothic ProN"/>
              </a:rPr>
              <a:t>SNSのガイドラインと掲載NG基準を知る</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2004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4008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96011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28016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60020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92024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24028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56032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88036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20040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52044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84048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16052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48055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80059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12063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44067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76071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08075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40079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72083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04087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36091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68095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00099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832103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864107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896111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0" y="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0" y="32004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0" y="64008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0" y="960119"/>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0" y="128016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0" y="160020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0" y="192024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0" y="224028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0" y="256032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0" y="288036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0" y="320040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0" y="352044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0" y="384048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0" y="416052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0" y="4480559"/>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0" y="4800599"/>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0" y="5120639"/>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320040" y="164592"/>
            <a:ext cx="8503920" cy="594360"/>
          </a:xfrm>
          <a:prstGeom prst="rect">
            <a:avLst/>
          </a:prstGeom>
          <a:noFill/>
        </p:spPr>
        <p:txBody>
          <a:bodyPr wrap="square">
            <a:spAutoFit/>
          </a:bodyPr>
          <a:lstStyle/>
          <a:p>
            <a:pPr algn="l"/>
            <a:r>
              <a:rPr sz="2600" b="1" i="0">
                <a:solidFill>
                  <a:srgbClr val="1A1A1A"/>
                </a:solidFill>
                <a:latin typeface="Hiragino Kaku Gothic ProN"/>
              </a:rPr>
              <a:t>商用利用は別モノ！著作権・肖像権の罠</a:t>
            </a:r>
          </a:p>
        </p:txBody>
      </p:sp>
      <p:sp>
        <p:nvSpPr>
          <p:cNvPr id="49" name="Rectangle 48"/>
          <p:cNvSpPr/>
          <p:nvPr/>
        </p:nvSpPr>
        <p:spPr>
          <a:xfrm>
            <a:off x="320040" y="731520"/>
            <a:ext cx="8503920" cy="41148"/>
          </a:xfrm>
          <a:prstGeom prst="rect">
            <a:avLst/>
          </a:prstGeom>
          <a:solidFill>
            <a:srgbClr val="FF39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ounded Rectangle 49"/>
          <p:cNvSpPr/>
          <p:nvPr/>
        </p:nvSpPr>
        <p:spPr>
          <a:xfrm>
            <a:off x="274320" y="914400"/>
            <a:ext cx="8595360" cy="822960"/>
          </a:xfrm>
          <a:prstGeom prst="roundRect">
            <a:avLst/>
          </a:prstGeom>
          <a:solidFill>
            <a:srgbClr val="FFFFFF"/>
          </a:solidFill>
          <a:ln w="15240">
            <a:solidFill>
              <a:srgbClr val="FFD6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438912" y="1078992"/>
            <a:ext cx="8321040" cy="548640"/>
          </a:xfrm>
          <a:prstGeom prst="rect">
            <a:avLst/>
          </a:prstGeom>
          <a:noFill/>
        </p:spPr>
        <p:txBody>
          <a:bodyPr wrap="square">
            <a:spAutoFit/>
          </a:bodyPr>
          <a:lstStyle/>
          <a:p>
            <a:pPr algn="l">
              <a:spcBef>
                <a:spcPts val="300"/>
              </a:spcBef>
            </a:pPr>
            <a:r>
              <a:rPr sz="1300">
                <a:solidFill>
                  <a:srgbClr val="1A1A1A"/>
                </a:solidFill>
                <a:latin typeface="Hiragino Kaku Gothic ProN"/>
              </a:rPr>
              <a:t>•  PR投稿は個人の趣味ではなく「商用利用（ビジネス）」。個人で許されることが広告ではNGになる</a:t>
            </a:r>
          </a:p>
        </p:txBody>
      </p:sp>
      <p:sp>
        <p:nvSpPr>
          <p:cNvPr id="52" name="Rounded Rectangle 51"/>
          <p:cNvSpPr/>
          <p:nvPr/>
        </p:nvSpPr>
        <p:spPr>
          <a:xfrm>
            <a:off x="274320" y="1828800"/>
            <a:ext cx="8595360" cy="1600200"/>
          </a:xfrm>
          <a:prstGeom prst="roundRect">
            <a:avLst/>
          </a:prstGeom>
          <a:solidFill>
            <a:srgbClr val="FFFFFF"/>
          </a:solidFill>
          <a:ln w="15240">
            <a:solidFill>
              <a:srgbClr val="FFD6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274320" y="1828800"/>
            <a:ext cx="8595360" cy="384048"/>
          </a:xfrm>
          <a:prstGeom prst="rect">
            <a:avLst/>
          </a:prstGeom>
          <a:solidFill>
            <a:srgbClr val="FF39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411479" y="1856231"/>
            <a:ext cx="8321040" cy="347472"/>
          </a:xfrm>
          <a:prstGeom prst="rect">
            <a:avLst/>
          </a:prstGeom>
          <a:noFill/>
        </p:spPr>
        <p:txBody>
          <a:bodyPr wrap="square">
            <a:spAutoFit/>
          </a:bodyPr>
          <a:lstStyle/>
          <a:p>
            <a:pPr algn="l"/>
            <a:r>
              <a:rPr sz="1300" b="1" i="0">
                <a:solidFill>
                  <a:srgbClr val="FFFFFF"/>
                </a:solidFill>
                <a:latin typeface="Hiragino Kaku Gothic ProN"/>
              </a:rPr>
              <a:t>うっかりNG例</a:t>
            </a:r>
          </a:p>
        </p:txBody>
      </p:sp>
      <p:sp>
        <p:nvSpPr>
          <p:cNvPr id="55" name="TextBox 54"/>
          <p:cNvSpPr txBox="1"/>
          <p:nvPr/>
        </p:nvSpPr>
        <p:spPr>
          <a:xfrm>
            <a:off x="438912" y="2286000"/>
            <a:ext cx="8321040" cy="1033271"/>
          </a:xfrm>
          <a:prstGeom prst="rect">
            <a:avLst/>
          </a:prstGeom>
          <a:noFill/>
        </p:spPr>
        <p:txBody>
          <a:bodyPr wrap="square">
            <a:spAutoFit/>
          </a:bodyPr>
          <a:lstStyle/>
          <a:p>
            <a:pPr algn="l">
              <a:spcBef>
                <a:spcPts val="300"/>
              </a:spcBef>
            </a:pPr>
            <a:r>
              <a:rPr b="1" sz="1300">
                <a:solidFill>
                  <a:srgbClr val="FF3333"/>
                </a:solidFill>
                <a:latin typeface="Hiragino Kaku Gothic ProN"/>
              </a:rPr>
              <a:t>✗  </a:t>
            </a:r>
            <a:r>
              <a:rPr sz="1300">
                <a:solidFill>
                  <a:srgbClr val="FF3333"/>
                </a:solidFill>
                <a:latin typeface="Hiragino Kaku Gothic ProN"/>
              </a:rPr>
              <a:t>テレビ画面・アニメキャラグッズ・自宅のブランドロゴ・着用物のロゴ（バッグ・靴等）</a:t>
            </a:r>
          </a:p>
          <a:p>
            <a:pPr algn="l">
              <a:spcBef>
                <a:spcPts val="300"/>
              </a:spcBef>
            </a:pPr>
            <a:r>
              <a:rPr b="1" sz="1300">
                <a:solidFill>
                  <a:srgbClr val="FF3333"/>
                </a:solidFill>
                <a:latin typeface="Hiragino Kaku Gothic ProN"/>
              </a:rPr>
              <a:t>✗  </a:t>
            </a:r>
            <a:r>
              <a:rPr sz="1300">
                <a:solidFill>
                  <a:srgbClr val="FF3333"/>
                </a:solidFill>
                <a:latin typeface="Hiragino Kaku Gothic ProN"/>
              </a:rPr>
              <a:t>許可なし他人の顔・東京タワー等場所を特定できるものの写り込み</a:t>
            </a:r>
          </a:p>
          <a:p>
            <a:pPr algn="l">
              <a:spcBef>
                <a:spcPts val="300"/>
              </a:spcBef>
            </a:pPr>
            <a:r>
              <a:rPr sz="1300">
                <a:latin typeface="Hiragino Kaku Gothic ProN"/>
              </a:rPr>
              <a:t>⚠️  </a:t>
            </a:r>
            <a:r>
              <a:rPr sz="1300" b="1">
                <a:solidFill>
                  <a:srgbClr val="1A1A1A"/>
                </a:solidFill>
                <a:latin typeface="Hiragino Kaku Gothic ProN"/>
              </a:rPr>
              <a:t>自宅以外での撮影は撮影許諾のテキストエビデンス提出が必須。口頭許可はNG</a:t>
            </a:r>
          </a:p>
        </p:txBody>
      </p:sp>
      <p:sp>
        <p:nvSpPr>
          <p:cNvPr id="56" name="Rounded Rectangle 55"/>
          <p:cNvSpPr/>
          <p:nvPr/>
        </p:nvSpPr>
        <p:spPr>
          <a:xfrm>
            <a:off x="274320" y="3538728"/>
            <a:ext cx="8595360" cy="777240"/>
          </a:xfrm>
          <a:prstGeom prst="roundRect">
            <a:avLst/>
          </a:prstGeom>
          <a:solidFill>
            <a:srgbClr val="FFECF5"/>
          </a:solidFill>
          <a:ln w="19050">
            <a:solidFill>
              <a:srgbClr val="FF3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411479" y="3611880"/>
            <a:ext cx="8321040" cy="685800"/>
          </a:xfrm>
          <a:prstGeom prst="rect">
            <a:avLst/>
          </a:prstGeom>
          <a:noFill/>
        </p:spPr>
        <p:txBody>
          <a:bodyPr wrap="square">
            <a:noAutofit/>
          </a:bodyPr>
          <a:lstStyle/>
          <a:p>
            <a:r>
              <a:rPr sz="1300" b="1">
                <a:solidFill>
                  <a:srgbClr val="FF3999"/>
                </a:solidFill>
                <a:latin typeface="Hiragino Kaku Gothic ProN"/>
              </a:rPr>
              <a:t>⚠️ リスク：権利者からの訴訟・動画削除・アカウント凍結。証拠なし撮影許可は無効です。</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2004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4008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96011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28016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60020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92024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24028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56032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88036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20040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52044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84048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16052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48055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80059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12063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44067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76071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08075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40079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72083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04087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36091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68095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00099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832103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864107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896111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0" y="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0" y="32004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0" y="64008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0" y="960119"/>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0" y="128016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0" y="160020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0" y="192024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0" y="224028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0" y="256032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0" y="288036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0" y="320040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0" y="352044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0" y="384048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0" y="416052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0" y="4480559"/>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0" y="4800599"/>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0" y="5120639"/>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320040" y="164592"/>
            <a:ext cx="8503920" cy="594360"/>
          </a:xfrm>
          <a:prstGeom prst="rect">
            <a:avLst/>
          </a:prstGeom>
          <a:noFill/>
        </p:spPr>
        <p:txBody>
          <a:bodyPr wrap="square">
            <a:spAutoFit/>
          </a:bodyPr>
          <a:lstStyle/>
          <a:p>
            <a:pPr algn="l"/>
            <a:r>
              <a:rPr sz="2600" b="1" i="0">
                <a:solidFill>
                  <a:srgbClr val="1A1A1A"/>
                </a:solidFill>
                <a:latin typeface="Hiragino Kaku Gothic ProN"/>
              </a:rPr>
              <a:t>一番多いミス！「音源」の正しい選び方</a:t>
            </a:r>
          </a:p>
        </p:txBody>
      </p:sp>
      <p:sp>
        <p:nvSpPr>
          <p:cNvPr id="49" name="Rectangle 48"/>
          <p:cNvSpPr/>
          <p:nvPr/>
        </p:nvSpPr>
        <p:spPr>
          <a:xfrm>
            <a:off x="320040" y="731520"/>
            <a:ext cx="8503920" cy="41148"/>
          </a:xfrm>
          <a:prstGeom prst="rect">
            <a:avLst/>
          </a:prstGeom>
          <a:solidFill>
            <a:srgbClr val="FF39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ounded Rectangle 49"/>
          <p:cNvSpPr/>
          <p:nvPr/>
        </p:nvSpPr>
        <p:spPr>
          <a:xfrm>
            <a:off x="274320" y="914400"/>
            <a:ext cx="8595360" cy="1005840"/>
          </a:xfrm>
          <a:prstGeom prst="roundRect">
            <a:avLst/>
          </a:prstGeom>
          <a:solidFill>
            <a:srgbClr val="FFFFFF"/>
          </a:solidFill>
          <a:ln w="15240">
            <a:solidFill>
              <a:srgbClr val="FFD6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438912" y="1078992"/>
            <a:ext cx="8321040" cy="731520"/>
          </a:xfrm>
          <a:prstGeom prst="rect">
            <a:avLst/>
          </a:prstGeom>
          <a:noFill/>
        </p:spPr>
        <p:txBody>
          <a:bodyPr wrap="square">
            <a:spAutoFit/>
          </a:bodyPr>
          <a:lstStyle/>
          <a:p>
            <a:pPr algn="l">
              <a:spcBef>
                <a:spcPts val="300"/>
              </a:spcBef>
            </a:pPr>
            <a:r>
              <a:rPr b="1" sz="1300">
                <a:solidFill>
                  <a:srgbClr val="FF3333"/>
                </a:solidFill>
                <a:latin typeface="Hiragino Kaku Gothic ProN"/>
              </a:rPr>
              <a:t>✗  </a:t>
            </a:r>
            <a:r>
              <a:rPr sz="1300">
                <a:solidFill>
                  <a:srgbClr val="FF3333"/>
                </a:solidFill>
                <a:latin typeface="Hiragino Kaku Gothic ProN"/>
              </a:rPr>
              <a:t>流行りの楽曲はPR投稿（商用利用）では原則使用NG</a:t>
            </a:r>
          </a:p>
          <a:p>
            <a:pPr algn="l">
              <a:spcBef>
                <a:spcPts val="300"/>
              </a:spcBef>
            </a:pPr>
            <a:r>
              <a:rPr sz="1100">
                <a:solidFill>
                  <a:srgbClr val="666666"/>
                </a:solidFill>
                <a:latin typeface="Hiragino Kaku Gothic ProN"/>
              </a:rPr>
              <a:t>　　→  プラットフォームの楽曲は「個人の非営利目的」でのみ許可されているものが多い</a:t>
            </a:r>
          </a:p>
        </p:txBody>
      </p:sp>
      <p:sp>
        <p:nvSpPr>
          <p:cNvPr id="52" name="Rounded Rectangle 51"/>
          <p:cNvSpPr/>
          <p:nvPr/>
        </p:nvSpPr>
        <p:spPr>
          <a:xfrm>
            <a:off x="274320" y="2011680"/>
            <a:ext cx="4114800" cy="2194560"/>
          </a:xfrm>
          <a:prstGeom prst="roundRect">
            <a:avLst/>
          </a:prstGeom>
          <a:solidFill>
            <a:srgbClr val="FFFFFF"/>
          </a:solidFill>
          <a:ln w="15240">
            <a:solidFill>
              <a:srgbClr val="FFD6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274320" y="2011680"/>
            <a:ext cx="4114800" cy="384048"/>
          </a:xfrm>
          <a:prstGeom prst="rect">
            <a:avLst/>
          </a:prstGeom>
          <a:solidFill>
            <a:srgbClr val="00BF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411479" y="2039112"/>
            <a:ext cx="3840480" cy="347472"/>
          </a:xfrm>
          <a:prstGeom prst="rect">
            <a:avLst/>
          </a:prstGeom>
          <a:noFill/>
        </p:spPr>
        <p:txBody>
          <a:bodyPr wrap="square">
            <a:spAutoFit/>
          </a:bodyPr>
          <a:lstStyle/>
          <a:p>
            <a:pPr algn="l"/>
            <a:r>
              <a:rPr sz="1300" b="1" i="0">
                <a:solidFill>
                  <a:srgbClr val="FFFFFF"/>
                </a:solidFill>
                <a:latin typeface="Hiragino Kaku Gothic ProN"/>
              </a:rPr>
              <a:t>正しい対応</a:t>
            </a:r>
          </a:p>
        </p:txBody>
      </p:sp>
      <p:sp>
        <p:nvSpPr>
          <p:cNvPr id="55" name="TextBox 54"/>
          <p:cNvSpPr txBox="1"/>
          <p:nvPr/>
        </p:nvSpPr>
        <p:spPr>
          <a:xfrm>
            <a:off x="438912" y="2468880"/>
            <a:ext cx="3840480" cy="1627631"/>
          </a:xfrm>
          <a:prstGeom prst="rect">
            <a:avLst/>
          </a:prstGeom>
          <a:noFill/>
        </p:spPr>
        <p:txBody>
          <a:bodyPr wrap="square">
            <a:spAutoFit/>
          </a:bodyPr>
          <a:lstStyle/>
          <a:p>
            <a:pPr algn="l">
              <a:spcBef>
                <a:spcPts val="300"/>
              </a:spcBef>
            </a:pPr>
            <a:r>
              <a:rPr b="1" sz="1300">
                <a:solidFill>
                  <a:srgbClr val="00BFA5"/>
                </a:solidFill>
                <a:latin typeface="Hiragino Kaku Gothic ProN"/>
              </a:rPr>
              <a:t>✓  </a:t>
            </a:r>
            <a:r>
              <a:rPr sz="1300">
                <a:solidFill>
                  <a:srgbClr val="00BFA5"/>
                </a:solidFill>
                <a:latin typeface="Hiragino Kaku Gothic ProN"/>
              </a:rPr>
              <a:t>各SNSの「商用利用可能（ビジネス用）ライブラリ」から選ぶ</a:t>
            </a:r>
          </a:p>
          <a:p>
            <a:pPr algn="l">
              <a:spcBef>
                <a:spcPts val="300"/>
              </a:spcBef>
            </a:pPr>
            <a:r>
              <a:rPr b="1" sz="1300">
                <a:solidFill>
                  <a:srgbClr val="00BFA5"/>
                </a:solidFill>
                <a:latin typeface="Hiragino Kaku Gothic ProN"/>
              </a:rPr>
              <a:t>✓  </a:t>
            </a:r>
            <a:r>
              <a:rPr sz="1300">
                <a:solidFill>
                  <a:srgbClr val="00BFA5"/>
                </a:solidFill>
                <a:latin typeface="Hiragino Kaku Gothic ProN"/>
              </a:rPr>
              <a:t>著作権フリー音源を使用する</a:t>
            </a:r>
          </a:p>
        </p:txBody>
      </p:sp>
      <p:sp>
        <p:nvSpPr>
          <p:cNvPr id="56" name="Rounded Rectangle 55"/>
          <p:cNvSpPr/>
          <p:nvPr/>
        </p:nvSpPr>
        <p:spPr>
          <a:xfrm>
            <a:off x="4663440" y="2011680"/>
            <a:ext cx="4206240" cy="2194560"/>
          </a:xfrm>
          <a:prstGeom prst="roundRect">
            <a:avLst/>
          </a:prstGeom>
          <a:solidFill>
            <a:srgbClr val="FFFFFF"/>
          </a:solidFill>
          <a:ln w="15240">
            <a:solidFill>
              <a:srgbClr val="FFD6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ectangle 56"/>
          <p:cNvSpPr/>
          <p:nvPr/>
        </p:nvSpPr>
        <p:spPr>
          <a:xfrm>
            <a:off x="4663440" y="2011680"/>
            <a:ext cx="4206240" cy="384048"/>
          </a:xfrm>
          <a:prstGeom prst="rect">
            <a:avLst/>
          </a:prstGeom>
          <a:solidFill>
            <a:srgbClr val="CC4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4800600" y="2039112"/>
            <a:ext cx="3931920" cy="347472"/>
          </a:xfrm>
          <a:prstGeom prst="rect">
            <a:avLst/>
          </a:prstGeom>
          <a:noFill/>
        </p:spPr>
        <p:txBody>
          <a:bodyPr wrap="square">
            <a:spAutoFit/>
          </a:bodyPr>
          <a:lstStyle/>
          <a:p>
            <a:pPr algn="l"/>
            <a:r>
              <a:rPr sz="1300" b="1" i="0">
                <a:solidFill>
                  <a:srgbClr val="FFFFFF"/>
                </a:solidFill>
                <a:latin typeface="Hiragino Kaku Gothic ProN"/>
              </a:rPr>
              <a:t>⚠️ 注意点・リスク</a:t>
            </a:r>
          </a:p>
        </p:txBody>
      </p:sp>
      <p:sp>
        <p:nvSpPr>
          <p:cNvPr id="59" name="TextBox 58"/>
          <p:cNvSpPr txBox="1"/>
          <p:nvPr/>
        </p:nvSpPr>
        <p:spPr>
          <a:xfrm>
            <a:off x="4828031" y="2468880"/>
            <a:ext cx="3931920" cy="1627631"/>
          </a:xfrm>
          <a:prstGeom prst="rect">
            <a:avLst/>
          </a:prstGeom>
          <a:noFill/>
        </p:spPr>
        <p:txBody>
          <a:bodyPr wrap="square">
            <a:spAutoFit/>
          </a:bodyPr>
          <a:lstStyle/>
          <a:p>
            <a:pPr algn="l">
              <a:spcBef>
                <a:spcPts val="300"/>
              </a:spcBef>
            </a:pPr>
            <a:r>
              <a:rPr sz="1300">
                <a:latin typeface="Hiragino Kaku Gothic ProN"/>
              </a:rPr>
              <a:t>⚠️  </a:t>
            </a:r>
            <a:r>
              <a:rPr sz="1300" b="1">
                <a:solidFill>
                  <a:srgbClr val="1A1A1A"/>
                </a:solidFill>
                <a:latin typeface="Hiragino Kaku Gothic ProN"/>
              </a:rPr>
              <a:t>TikTokは商用利用楽曲が限られる</a:t>
            </a:r>
          </a:p>
          <a:p>
            <a:pPr algn="l">
              <a:spcBef>
                <a:spcPts val="300"/>
              </a:spcBef>
            </a:pPr>
            <a:r>
              <a:rPr sz="1300">
                <a:solidFill>
                  <a:srgbClr val="1A1A1A"/>
                </a:solidFill>
                <a:latin typeface="Hiragino Kaku Gothic ProN"/>
              </a:rPr>
              <a:t>•  TikTok・TikTokLite両対応の楽曲選定が必要な案件もあり</a:t>
            </a:r>
          </a:p>
          <a:p>
            <a:pPr algn="l">
              <a:spcBef>
                <a:spcPts val="300"/>
              </a:spcBef>
            </a:pPr>
            <a:r>
              <a:rPr b="1" sz="1300">
                <a:solidFill>
                  <a:srgbClr val="FF3333"/>
                </a:solidFill>
                <a:latin typeface="Hiragino Kaku Gothic ProN"/>
              </a:rPr>
              <a:t>✗  </a:t>
            </a:r>
            <a:r>
              <a:rPr sz="1300">
                <a:solidFill>
                  <a:srgbClr val="FF3333"/>
                </a:solidFill>
                <a:latin typeface="Hiragino Kaku Gothic ProN"/>
              </a:rPr>
              <a:t>著作権侵害による動画のミュート（無音化）・法的措置</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2004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4008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96011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28016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60020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92024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24028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56032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88036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20040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52044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84048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16052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48055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80059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12063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44067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76071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08075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40079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72083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04087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36091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68095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00099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832103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864107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896111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0" y="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0" y="32004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0" y="64008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0" y="960119"/>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0" y="128016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0" y="160020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0" y="192024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0" y="224028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0" y="256032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0" y="288036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0" y="320040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0" y="352044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0" y="384048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0" y="416052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0" y="4480559"/>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0" y="4800599"/>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0" y="5120639"/>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320040" y="164592"/>
            <a:ext cx="8503920" cy="594360"/>
          </a:xfrm>
          <a:prstGeom prst="rect">
            <a:avLst/>
          </a:prstGeom>
          <a:noFill/>
        </p:spPr>
        <p:txBody>
          <a:bodyPr wrap="square">
            <a:spAutoFit/>
          </a:bodyPr>
          <a:lstStyle/>
          <a:p>
            <a:pPr algn="l"/>
            <a:r>
              <a:rPr sz="2600" b="1" i="0">
                <a:solidFill>
                  <a:srgbClr val="1A1A1A"/>
                </a:solidFill>
                <a:latin typeface="Hiragino Kaku Gothic ProN"/>
              </a:rPr>
              <a:t>SNS独自の禁止ルール（例：TikTokの飲酒）</a:t>
            </a:r>
          </a:p>
        </p:txBody>
      </p:sp>
      <p:sp>
        <p:nvSpPr>
          <p:cNvPr id="49" name="Rectangle 48"/>
          <p:cNvSpPr/>
          <p:nvPr/>
        </p:nvSpPr>
        <p:spPr>
          <a:xfrm>
            <a:off x="320040" y="731520"/>
            <a:ext cx="8503920" cy="41148"/>
          </a:xfrm>
          <a:prstGeom prst="rect">
            <a:avLst/>
          </a:prstGeom>
          <a:solidFill>
            <a:srgbClr val="FF39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ounded Rectangle 49"/>
          <p:cNvSpPr/>
          <p:nvPr/>
        </p:nvSpPr>
        <p:spPr>
          <a:xfrm>
            <a:off x="274320" y="914400"/>
            <a:ext cx="8595360" cy="1005840"/>
          </a:xfrm>
          <a:prstGeom prst="roundRect">
            <a:avLst/>
          </a:prstGeom>
          <a:solidFill>
            <a:srgbClr val="FFFFFF"/>
          </a:solidFill>
          <a:ln w="15240">
            <a:solidFill>
              <a:srgbClr val="FFD6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438912" y="1078992"/>
            <a:ext cx="8321040" cy="731520"/>
          </a:xfrm>
          <a:prstGeom prst="rect">
            <a:avLst/>
          </a:prstGeom>
          <a:noFill/>
        </p:spPr>
        <p:txBody>
          <a:bodyPr wrap="square">
            <a:spAutoFit/>
          </a:bodyPr>
          <a:lstStyle/>
          <a:p>
            <a:pPr algn="l">
              <a:spcBef>
                <a:spcPts val="300"/>
              </a:spcBef>
            </a:pPr>
            <a:r>
              <a:rPr sz="1300">
                <a:solidFill>
                  <a:srgbClr val="1A1A1A"/>
                </a:solidFill>
                <a:latin typeface="Hiragino Kaku Gothic ProN"/>
              </a:rPr>
              <a:t>•  法律とは別に、各プラットフォーム独自の「コミュニティガイドライン」が存在する</a:t>
            </a:r>
          </a:p>
          <a:p>
            <a:pPr algn="l">
              <a:spcBef>
                <a:spcPts val="300"/>
              </a:spcBef>
            </a:pPr>
            <a:r>
              <a:rPr sz="1300">
                <a:latin typeface="Hiragino Kaku Gothic ProN"/>
              </a:rPr>
              <a:t>⚠️  </a:t>
            </a:r>
            <a:r>
              <a:rPr sz="1300" b="1">
                <a:solidFill>
                  <a:srgbClr val="1A1A1A"/>
                </a:solidFill>
                <a:latin typeface="Hiragino Kaku Gothic ProN"/>
              </a:rPr>
              <a:t>法律を守っていてもSNSのルールに違反していればBANされる</a:t>
            </a:r>
          </a:p>
        </p:txBody>
      </p:sp>
      <p:sp>
        <p:nvSpPr>
          <p:cNvPr id="52" name="Rounded Rectangle 51"/>
          <p:cNvSpPr/>
          <p:nvPr/>
        </p:nvSpPr>
        <p:spPr>
          <a:xfrm>
            <a:off x="274320" y="2011680"/>
            <a:ext cx="8595360" cy="1234440"/>
          </a:xfrm>
          <a:prstGeom prst="roundRect">
            <a:avLst/>
          </a:prstGeom>
          <a:solidFill>
            <a:srgbClr val="FFFFFF"/>
          </a:solidFill>
          <a:ln w="15240">
            <a:solidFill>
              <a:srgbClr val="FFD6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274320" y="2011680"/>
            <a:ext cx="8595360" cy="384048"/>
          </a:xfrm>
          <a:prstGeom prst="rect">
            <a:avLst/>
          </a:prstGeom>
          <a:solidFill>
            <a:srgbClr val="FF39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411479" y="2039112"/>
            <a:ext cx="8321040" cy="347472"/>
          </a:xfrm>
          <a:prstGeom prst="rect">
            <a:avLst/>
          </a:prstGeom>
          <a:noFill/>
        </p:spPr>
        <p:txBody>
          <a:bodyPr wrap="square">
            <a:spAutoFit/>
          </a:bodyPr>
          <a:lstStyle/>
          <a:p>
            <a:pPr algn="l"/>
            <a:r>
              <a:rPr sz="1300" b="1" i="0">
                <a:solidFill>
                  <a:srgbClr val="FFFFFF"/>
                </a:solidFill>
                <a:latin typeface="Hiragino Kaku Gothic ProN"/>
              </a:rPr>
              <a:t>具体例</a:t>
            </a:r>
          </a:p>
        </p:txBody>
      </p:sp>
      <p:sp>
        <p:nvSpPr>
          <p:cNvPr id="55" name="TextBox 54"/>
          <p:cNvSpPr txBox="1"/>
          <p:nvPr/>
        </p:nvSpPr>
        <p:spPr>
          <a:xfrm>
            <a:off x="438912" y="2468880"/>
            <a:ext cx="8321040" cy="667512"/>
          </a:xfrm>
          <a:prstGeom prst="rect">
            <a:avLst/>
          </a:prstGeom>
          <a:noFill/>
        </p:spPr>
        <p:txBody>
          <a:bodyPr wrap="square">
            <a:spAutoFit/>
          </a:bodyPr>
          <a:lstStyle/>
          <a:p>
            <a:pPr algn="l">
              <a:spcBef>
                <a:spcPts val="300"/>
              </a:spcBef>
            </a:pPr>
            <a:r>
              <a:rPr b="1" sz="1300">
                <a:solidFill>
                  <a:srgbClr val="FF3333"/>
                </a:solidFill>
                <a:latin typeface="Hiragino Kaku Gothic ProN"/>
              </a:rPr>
              <a:t>✗  </a:t>
            </a:r>
            <a:r>
              <a:rPr sz="1300">
                <a:solidFill>
                  <a:srgbClr val="FF3333"/>
                </a:solidFill>
                <a:latin typeface="Hiragino Kaku Gothic ProN"/>
              </a:rPr>
              <a:t>TikTokでは「飲酒」を連想させる表現・広告は厳禁</a:t>
            </a:r>
          </a:p>
          <a:p>
            <a:pPr algn="l">
              <a:spcBef>
                <a:spcPts val="300"/>
              </a:spcBef>
            </a:pPr>
            <a:r>
              <a:rPr b="1" sz="1300">
                <a:solidFill>
                  <a:srgbClr val="00BFA5"/>
                </a:solidFill>
                <a:latin typeface="Hiragino Kaku Gothic ProN"/>
              </a:rPr>
              <a:t>✓  </a:t>
            </a:r>
            <a:r>
              <a:rPr sz="1300">
                <a:solidFill>
                  <a:srgbClr val="00BFA5"/>
                </a:solidFill>
                <a:latin typeface="Hiragino Kaku Gothic ProN"/>
              </a:rPr>
              <a:t>自分が活動するプラットフォームのルールは必ず事前に把握する</a:t>
            </a:r>
          </a:p>
        </p:txBody>
      </p:sp>
      <p:sp>
        <p:nvSpPr>
          <p:cNvPr id="56" name="Rounded Rectangle 55"/>
          <p:cNvSpPr/>
          <p:nvPr/>
        </p:nvSpPr>
        <p:spPr>
          <a:xfrm>
            <a:off x="274320" y="3364992"/>
            <a:ext cx="8595360" cy="777240"/>
          </a:xfrm>
          <a:prstGeom prst="roundRect">
            <a:avLst/>
          </a:prstGeom>
          <a:solidFill>
            <a:srgbClr val="FFECF5"/>
          </a:solidFill>
          <a:ln w="19050">
            <a:solidFill>
              <a:srgbClr val="FF3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411479" y="3438144"/>
            <a:ext cx="8321040" cy="685800"/>
          </a:xfrm>
          <a:prstGeom prst="rect">
            <a:avLst/>
          </a:prstGeom>
          <a:noFill/>
        </p:spPr>
        <p:txBody>
          <a:bodyPr wrap="square">
            <a:noAutofit/>
          </a:bodyPr>
          <a:lstStyle/>
          <a:p>
            <a:r>
              <a:rPr sz="1300" b="1">
                <a:solidFill>
                  <a:srgbClr val="FF3999"/>
                </a:solidFill>
                <a:latin typeface="Hiragino Kaku Gothic ProN"/>
              </a:rPr>
              <a:t>⚠️ リスク：広告掲載の拒否・アカウントのBAN（永久停止）。プラットフォームのルールを熟知することが必須です。</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2004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4008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96011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28016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60020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92024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24028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56032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88036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20040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52044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84048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16052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48055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80059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12063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44067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76071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08075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40079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72083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04087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36091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68095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00099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832103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864107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896111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0" y="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0" y="32004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0" y="64008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0" y="960119"/>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0" y="128016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0" y="160020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0" y="192024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0" y="224028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0" y="256032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0" y="288036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0" y="320040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0" y="352044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0" y="384048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0" y="416052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0" y="4480559"/>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0" y="4800599"/>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0" y="5120639"/>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320040" y="164592"/>
            <a:ext cx="8503920" cy="594360"/>
          </a:xfrm>
          <a:prstGeom prst="rect">
            <a:avLst/>
          </a:prstGeom>
          <a:noFill/>
        </p:spPr>
        <p:txBody>
          <a:bodyPr wrap="square">
            <a:spAutoFit/>
          </a:bodyPr>
          <a:lstStyle/>
          <a:p>
            <a:pPr algn="l"/>
            <a:r>
              <a:rPr sz="2600" b="1" i="0">
                <a:solidFill>
                  <a:srgbClr val="1A1A1A"/>
                </a:solidFill>
                <a:latin typeface="Hiragino Kaku Gothic ProN"/>
              </a:rPr>
              <a:t>企業が「掲載NG」とする表現基準</a:t>
            </a:r>
          </a:p>
        </p:txBody>
      </p:sp>
      <p:sp>
        <p:nvSpPr>
          <p:cNvPr id="49" name="Rectangle 48"/>
          <p:cNvSpPr/>
          <p:nvPr/>
        </p:nvSpPr>
        <p:spPr>
          <a:xfrm>
            <a:off x="320040" y="731520"/>
            <a:ext cx="8503920" cy="41148"/>
          </a:xfrm>
          <a:prstGeom prst="rect">
            <a:avLst/>
          </a:prstGeom>
          <a:solidFill>
            <a:srgbClr val="FF39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ounded Rectangle 49"/>
          <p:cNvSpPr/>
          <p:nvPr/>
        </p:nvSpPr>
        <p:spPr>
          <a:xfrm>
            <a:off x="274320" y="914400"/>
            <a:ext cx="8595360" cy="914400"/>
          </a:xfrm>
          <a:prstGeom prst="roundRect">
            <a:avLst/>
          </a:prstGeom>
          <a:solidFill>
            <a:srgbClr val="FFFFFF"/>
          </a:solidFill>
          <a:ln w="15240">
            <a:solidFill>
              <a:srgbClr val="FFD6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438912" y="1078992"/>
            <a:ext cx="8321040" cy="640080"/>
          </a:xfrm>
          <a:prstGeom prst="rect">
            <a:avLst/>
          </a:prstGeom>
          <a:noFill/>
        </p:spPr>
        <p:txBody>
          <a:bodyPr wrap="square">
            <a:spAutoFit/>
          </a:bodyPr>
          <a:lstStyle/>
          <a:p>
            <a:pPr algn="l">
              <a:spcBef>
                <a:spcPts val="300"/>
              </a:spcBef>
            </a:pPr>
            <a:r>
              <a:rPr sz="1300">
                <a:latin typeface="Hiragino Kaku Gothic ProN"/>
              </a:rPr>
              <a:t>⚠️  </a:t>
            </a:r>
            <a:r>
              <a:rPr sz="1300" b="1">
                <a:solidFill>
                  <a:srgbClr val="1A1A1A"/>
                </a:solidFill>
                <a:latin typeface="Hiragino Kaku Gothic ProN"/>
              </a:rPr>
              <a:t>法律や規約のギリギリを攻めるのはNG。最終判断は「企業」</a:t>
            </a:r>
          </a:p>
        </p:txBody>
      </p:sp>
      <p:sp>
        <p:nvSpPr>
          <p:cNvPr id="52" name="Rounded Rectangle 51"/>
          <p:cNvSpPr/>
          <p:nvPr/>
        </p:nvSpPr>
        <p:spPr>
          <a:xfrm>
            <a:off x="274320" y="1920240"/>
            <a:ext cx="8595360" cy="2240280"/>
          </a:xfrm>
          <a:prstGeom prst="roundRect">
            <a:avLst/>
          </a:prstGeom>
          <a:solidFill>
            <a:srgbClr val="FFFFFF"/>
          </a:solidFill>
          <a:ln w="15240">
            <a:solidFill>
              <a:srgbClr val="FFD6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274320" y="1920240"/>
            <a:ext cx="8595360" cy="384048"/>
          </a:xfrm>
          <a:prstGeom prst="rect">
            <a:avLst/>
          </a:prstGeom>
          <a:solidFill>
            <a:srgbClr val="FF39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411479" y="1947672"/>
            <a:ext cx="8321040" cy="347472"/>
          </a:xfrm>
          <a:prstGeom prst="rect">
            <a:avLst/>
          </a:prstGeom>
          <a:noFill/>
        </p:spPr>
        <p:txBody>
          <a:bodyPr wrap="square">
            <a:spAutoFit/>
          </a:bodyPr>
          <a:lstStyle/>
          <a:p>
            <a:pPr algn="l"/>
            <a:r>
              <a:rPr sz="1300" b="1" i="0">
                <a:solidFill>
                  <a:srgbClr val="FFFFFF"/>
                </a:solidFill>
                <a:latin typeface="Hiragino Kaku Gothic ProN"/>
              </a:rPr>
              <a:t>掲載をお断りする基準</a:t>
            </a:r>
          </a:p>
        </p:txBody>
      </p:sp>
      <p:sp>
        <p:nvSpPr>
          <p:cNvPr id="55" name="TextBox 54"/>
          <p:cNvSpPr txBox="1"/>
          <p:nvPr/>
        </p:nvSpPr>
        <p:spPr>
          <a:xfrm>
            <a:off x="438912" y="2377440"/>
            <a:ext cx="8321040" cy="1673352"/>
          </a:xfrm>
          <a:prstGeom prst="rect">
            <a:avLst/>
          </a:prstGeom>
          <a:noFill/>
        </p:spPr>
        <p:txBody>
          <a:bodyPr wrap="square">
            <a:spAutoFit/>
          </a:bodyPr>
          <a:lstStyle/>
          <a:p>
            <a:pPr algn="l">
              <a:spcBef>
                <a:spcPts val="300"/>
              </a:spcBef>
            </a:pPr>
            <a:r>
              <a:rPr b="1" sz="1300">
                <a:solidFill>
                  <a:srgbClr val="FF3333"/>
                </a:solidFill>
                <a:latin typeface="Hiragino Kaku Gothic ProN"/>
              </a:rPr>
              <a:t>✗  </a:t>
            </a:r>
            <a:r>
              <a:rPr sz="1300">
                <a:solidFill>
                  <a:srgbClr val="FF3333"/>
                </a:solidFill>
                <a:latin typeface="Hiragino Kaku Gothic ProN"/>
              </a:rPr>
              <a:t>誇張した表現のコンテンツ（過度なビフォーアフター等）</a:t>
            </a:r>
          </a:p>
          <a:p>
            <a:pPr algn="l">
              <a:spcBef>
                <a:spcPts val="300"/>
              </a:spcBef>
            </a:pPr>
            <a:r>
              <a:rPr b="1" sz="1300">
                <a:solidFill>
                  <a:srgbClr val="FF3333"/>
                </a:solidFill>
                <a:latin typeface="Hiragino Kaku Gothic ProN"/>
              </a:rPr>
              <a:t>✗  </a:t>
            </a:r>
            <a:r>
              <a:rPr sz="1300">
                <a:solidFill>
                  <a:srgbClr val="FF3333"/>
                </a:solidFill>
                <a:latin typeface="Hiragino Kaku Gothic ProN"/>
              </a:rPr>
              <a:t>ユーザーに不快感を抱かせる表現</a:t>
            </a:r>
          </a:p>
          <a:p>
            <a:pPr algn="l">
              <a:spcBef>
                <a:spcPts val="300"/>
              </a:spcBef>
            </a:pPr>
            <a:r>
              <a:rPr b="1" sz="1300">
                <a:solidFill>
                  <a:srgbClr val="FF3333"/>
                </a:solidFill>
                <a:latin typeface="Hiragino Kaku Gothic ProN"/>
              </a:rPr>
              <a:t>✗  </a:t>
            </a:r>
            <a:r>
              <a:rPr sz="1300">
                <a:solidFill>
                  <a:srgbClr val="FF3333"/>
                </a:solidFill>
                <a:latin typeface="Hiragino Kaku Gothic ProN"/>
              </a:rPr>
              <a:t>法律で禁止されている行為を連想させる表現</a:t>
            </a:r>
          </a:p>
          <a:p>
            <a:pPr algn="l">
              <a:spcBef>
                <a:spcPts val="300"/>
              </a:spcBef>
            </a:pPr>
            <a:r>
              <a:rPr b="1" sz="1300">
                <a:solidFill>
                  <a:srgbClr val="FF3333"/>
                </a:solidFill>
                <a:latin typeface="Hiragino Kaku Gothic ProN"/>
              </a:rPr>
              <a:t>✗  </a:t>
            </a:r>
            <a:r>
              <a:rPr sz="1300">
                <a:solidFill>
                  <a:srgbClr val="FF3333"/>
                </a:solidFill>
                <a:latin typeface="Hiragino Kaku Gothic ProN"/>
              </a:rPr>
              <a:t>その他、企業がクレームを懸念すると判断したもの</a:t>
            </a:r>
          </a:p>
        </p:txBody>
      </p:sp>
      <p:sp>
        <p:nvSpPr>
          <p:cNvPr id="56" name="Rounded Rectangle 55"/>
          <p:cNvSpPr/>
          <p:nvPr/>
        </p:nvSpPr>
        <p:spPr>
          <a:xfrm>
            <a:off x="274320" y="4270248"/>
            <a:ext cx="8595360" cy="777240"/>
          </a:xfrm>
          <a:prstGeom prst="roundRect">
            <a:avLst/>
          </a:prstGeom>
          <a:solidFill>
            <a:srgbClr val="FFECF5"/>
          </a:solidFill>
          <a:ln w="19050">
            <a:solidFill>
              <a:srgbClr val="FF3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411479" y="4343400"/>
            <a:ext cx="8321040" cy="685800"/>
          </a:xfrm>
          <a:prstGeom prst="rect">
            <a:avLst/>
          </a:prstGeom>
          <a:noFill/>
        </p:spPr>
        <p:txBody>
          <a:bodyPr wrap="square">
            <a:noAutofit/>
          </a:bodyPr>
          <a:lstStyle/>
          <a:p>
            <a:r>
              <a:rPr sz="1300" b="1">
                <a:solidFill>
                  <a:srgbClr val="FF3999"/>
                </a:solidFill>
                <a:latin typeface="Hiragino Kaku Gothic ProN"/>
              </a:rPr>
              <a:t>PRの目的は「商品を魅力的かつ安全に伝えること」。クレームリスクのある表現は全て修正対象です。</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2004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4008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96011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28016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60020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92024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24028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56032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88036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20040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52044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84048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16052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48055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80059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12063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44067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76071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08075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40079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72083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04087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36091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68095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00099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832103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864107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896111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0" y="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0" y="32004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0" y="64008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0" y="960119"/>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0" y="128016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0" y="160020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0" y="192024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0" y="224028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0" y="256032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0" y="288036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0" y="320040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0" y="352044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0" y="384048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0" y="416052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0" y="4480559"/>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0" y="4800599"/>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0" y="5120639"/>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0" y="0"/>
            <a:ext cx="9144000" cy="658368"/>
          </a:xfrm>
          <a:prstGeom prst="rect">
            <a:avLst/>
          </a:prstGeom>
          <a:solidFill>
            <a:srgbClr val="FF39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320040" y="91440"/>
            <a:ext cx="7315200" cy="502920"/>
          </a:xfrm>
          <a:prstGeom prst="rect">
            <a:avLst/>
          </a:prstGeom>
          <a:noFill/>
        </p:spPr>
        <p:txBody>
          <a:bodyPr wrap="square">
            <a:spAutoFit/>
          </a:bodyPr>
          <a:lstStyle/>
          <a:p>
            <a:pPr algn="l"/>
            <a:r>
              <a:rPr sz="2200" b="1" i="0">
                <a:solidFill>
                  <a:srgbClr val="FFFFFF"/>
                </a:solidFill>
                <a:latin typeface="Hiragino Kaku Gothic ProN"/>
              </a:rPr>
              <a:t>まとめ　動画③</a:t>
            </a:r>
          </a:p>
        </p:txBody>
      </p:sp>
      <p:sp>
        <p:nvSpPr>
          <p:cNvPr id="50" name="Rounded Rectangle 49"/>
          <p:cNvSpPr/>
          <p:nvPr/>
        </p:nvSpPr>
        <p:spPr>
          <a:xfrm>
            <a:off x="502920" y="804672"/>
            <a:ext cx="8138160" cy="868680"/>
          </a:xfrm>
          <a:prstGeom prst="roundRect">
            <a:avLst/>
          </a:prstGeom>
          <a:solidFill>
            <a:srgbClr val="FFECF5"/>
          </a:solidFill>
          <a:ln w="15240">
            <a:solidFill>
              <a:srgbClr val="FFD6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ounded Rectangle 50"/>
          <p:cNvSpPr/>
          <p:nvPr/>
        </p:nvSpPr>
        <p:spPr>
          <a:xfrm>
            <a:off x="548640" y="914400"/>
            <a:ext cx="640080" cy="640080"/>
          </a:xfrm>
          <a:prstGeom prst="roundRect">
            <a:avLst/>
          </a:prstGeom>
          <a:solidFill>
            <a:srgbClr val="FF39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548640" y="946403"/>
            <a:ext cx="640080" cy="576072"/>
          </a:xfrm>
          <a:prstGeom prst="rect">
            <a:avLst/>
          </a:prstGeom>
          <a:noFill/>
        </p:spPr>
        <p:txBody>
          <a:bodyPr wrap="square">
            <a:spAutoFit/>
          </a:bodyPr>
          <a:lstStyle/>
          <a:p>
            <a:pPr algn="ctr"/>
            <a:r>
              <a:rPr sz="1800" b="1" i="0">
                <a:solidFill>
                  <a:srgbClr val="FFFFFF"/>
                </a:solidFill>
                <a:latin typeface="Hiragino Kaku Gothic ProN"/>
              </a:rPr>
              <a:t>1</a:t>
            </a:r>
          </a:p>
        </p:txBody>
      </p:sp>
      <p:sp>
        <p:nvSpPr>
          <p:cNvPr id="53" name="TextBox 52"/>
          <p:cNvSpPr txBox="1"/>
          <p:nvPr/>
        </p:nvSpPr>
        <p:spPr>
          <a:xfrm>
            <a:off x="1325880" y="941832"/>
            <a:ext cx="7223760" cy="640080"/>
          </a:xfrm>
          <a:prstGeom prst="rect">
            <a:avLst/>
          </a:prstGeom>
          <a:noFill/>
        </p:spPr>
        <p:txBody>
          <a:bodyPr wrap="square">
            <a:spAutoFit/>
          </a:bodyPr>
          <a:lstStyle/>
          <a:p>
            <a:pPr algn="l"/>
            <a:r>
              <a:rPr sz="1300" b="0" i="0">
                <a:solidFill>
                  <a:srgbClr val="1A1A1A"/>
                </a:solidFill>
                <a:latin typeface="Hiragino Kaku Gothic ProN"/>
              </a:rPr>
              <a:t>PR投稿は商用利用。写り込み・撮影場所の著作権・肖像権に細心の注意を払う</a:t>
            </a:r>
          </a:p>
        </p:txBody>
      </p:sp>
      <p:sp>
        <p:nvSpPr>
          <p:cNvPr id="54" name="Rounded Rectangle 53"/>
          <p:cNvSpPr/>
          <p:nvPr/>
        </p:nvSpPr>
        <p:spPr>
          <a:xfrm>
            <a:off x="502920" y="1920240"/>
            <a:ext cx="8138160" cy="868680"/>
          </a:xfrm>
          <a:prstGeom prst="roundRect">
            <a:avLst/>
          </a:prstGeom>
          <a:solidFill>
            <a:srgbClr val="FFECF5"/>
          </a:solidFill>
          <a:ln w="15240">
            <a:solidFill>
              <a:srgbClr val="FFD6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ounded Rectangle 54"/>
          <p:cNvSpPr/>
          <p:nvPr/>
        </p:nvSpPr>
        <p:spPr>
          <a:xfrm>
            <a:off x="548640" y="2029968"/>
            <a:ext cx="640080" cy="640080"/>
          </a:xfrm>
          <a:prstGeom prst="roundRect">
            <a:avLst/>
          </a:prstGeom>
          <a:solidFill>
            <a:srgbClr val="FF39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548640" y="2061972"/>
            <a:ext cx="640080" cy="576072"/>
          </a:xfrm>
          <a:prstGeom prst="rect">
            <a:avLst/>
          </a:prstGeom>
          <a:noFill/>
        </p:spPr>
        <p:txBody>
          <a:bodyPr wrap="square">
            <a:spAutoFit/>
          </a:bodyPr>
          <a:lstStyle/>
          <a:p>
            <a:pPr algn="ctr"/>
            <a:r>
              <a:rPr sz="1800" b="1" i="0">
                <a:solidFill>
                  <a:srgbClr val="FFFFFF"/>
                </a:solidFill>
                <a:latin typeface="Hiragino Kaku Gothic ProN"/>
              </a:rPr>
              <a:t>2</a:t>
            </a:r>
          </a:p>
        </p:txBody>
      </p:sp>
      <p:sp>
        <p:nvSpPr>
          <p:cNvPr id="57" name="TextBox 56"/>
          <p:cNvSpPr txBox="1"/>
          <p:nvPr/>
        </p:nvSpPr>
        <p:spPr>
          <a:xfrm>
            <a:off x="1325880" y="2057400"/>
            <a:ext cx="7223760" cy="640080"/>
          </a:xfrm>
          <a:prstGeom prst="rect">
            <a:avLst/>
          </a:prstGeom>
          <a:noFill/>
        </p:spPr>
        <p:txBody>
          <a:bodyPr wrap="square">
            <a:spAutoFit/>
          </a:bodyPr>
          <a:lstStyle/>
          <a:p>
            <a:pPr algn="l"/>
            <a:r>
              <a:rPr sz="1300" b="0" i="0">
                <a:solidFill>
                  <a:srgbClr val="1A1A1A"/>
                </a:solidFill>
                <a:latin typeface="Hiragino Kaku Gothic ProN"/>
              </a:rPr>
              <a:t>流行りの楽曲はPRではNG。必ず商用利用可能な音源を選ぶ</a:t>
            </a:r>
          </a:p>
        </p:txBody>
      </p:sp>
      <p:sp>
        <p:nvSpPr>
          <p:cNvPr id="58" name="Rounded Rectangle 57"/>
          <p:cNvSpPr/>
          <p:nvPr/>
        </p:nvSpPr>
        <p:spPr>
          <a:xfrm>
            <a:off x="502920" y="3035808"/>
            <a:ext cx="8138160" cy="868680"/>
          </a:xfrm>
          <a:prstGeom prst="roundRect">
            <a:avLst/>
          </a:prstGeom>
          <a:solidFill>
            <a:srgbClr val="FFECF5"/>
          </a:solidFill>
          <a:ln w="15240">
            <a:solidFill>
              <a:srgbClr val="FFD6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ounded Rectangle 58"/>
          <p:cNvSpPr/>
          <p:nvPr/>
        </p:nvSpPr>
        <p:spPr>
          <a:xfrm>
            <a:off x="548640" y="3145536"/>
            <a:ext cx="640080" cy="640080"/>
          </a:xfrm>
          <a:prstGeom prst="roundRect">
            <a:avLst/>
          </a:prstGeom>
          <a:solidFill>
            <a:srgbClr val="FF39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548640" y="3177540"/>
            <a:ext cx="640080" cy="576072"/>
          </a:xfrm>
          <a:prstGeom prst="rect">
            <a:avLst/>
          </a:prstGeom>
          <a:noFill/>
        </p:spPr>
        <p:txBody>
          <a:bodyPr wrap="square">
            <a:spAutoFit/>
          </a:bodyPr>
          <a:lstStyle/>
          <a:p>
            <a:pPr algn="ctr"/>
            <a:r>
              <a:rPr sz="1800" b="1" i="0">
                <a:solidFill>
                  <a:srgbClr val="FFFFFF"/>
                </a:solidFill>
                <a:latin typeface="Hiragino Kaku Gothic ProN"/>
              </a:rPr>
              <a:t>3</a:t>
            </a:r>
          </a:p>
        </p:txBody>
      </p:sp>
      <p:sp>
        <p:nvSpPr>
          <p:cNvPr id="61" name="TextBox 60"/>
          <p:cNvSpPr txBox="1"/>
          <p:nvPr/>
        </p:nvSpPr>
        <p:spPr>
          <a:xfrm>
            <a:off x="1325880" y="3172968"/>
            <a:ext cx="7223760" cy="640080"/>
          </a:xfrm>
          <a:prstGeom prst="rect">
            <a:avLst/>
          </a:prstGeom>
          <a:noFill/>
        </p:spPr>
        <p:txBody>
          <a:bodyPr wrap="square">
            <a:spAutoFit/>
          </a:bodyPr>
          <a:lstStyle/>
          <a:p>
            <a:pPr algn="l"/>
            <a:r>
              <a:rPr sz="1300" b="0" i="0">
                <a:solidFill>
                  <a:srgbClr val="1A1A1A"/>
                </a:solidFill>
                <a:latin typeface="Hiragino Kaku Gothic ProN"/>
              </a:rPr>
              <a:t>法律を守っていてもSNSのガイドライン違反でBANされる。プラットフォームのルールを把握する</a:t>
            </a:r>
          </a:p>
        </p:txBody>
      </p:sp>
      <p:sp>
        <p:nvSpPr>
          <p:cNvPr id="62" name="Rounded Rectangle 61"/>
          <p:cNvSpPr/>
          <p:nvPr/>
        </p:nvSpPr>
        <p:spPr>
          <a:xfrm>
            <a:off x="320040" y="4160520"/>
            <a:ext cx="8503920" cy="685800"/>
          </a:xfrm>
          <a:prstGeom prst="roundRect">
            <a:avLst/>
          </a:prstGeom>
          <a:solidFill>
            <a:srgbClr val="FFECF5"/>
          </a:solidFill>
          <a:ln w="15240">
            <a:solidFill>
              <a:srgbClr val="FF3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548640" y="4242816"/>
            <a:ext cx="8229600" cy="502920"/>
          </a:xfrm>
          <a:prstGeom prst="rect">
            <a:avLst/>
          </a:prstGeom>
          <a:noFill/>
        </p:spPr>
        <p:txBody>
          <a:bodyPr wrap="square">
            <a:spAutoFit/>
          </a:bodyPr>
          <a:lstStyle/>
          <a:p>
            <a:pPr algn="l"/>
            <a:r>
              <a:rPr sz="1200" b="0" i="1">
                <a:solidFill>
                  <a:srgbClr val="FF3999"/>
                </a:solidFill>
                <a:latin typeface="Hiragino Kaku Gothic ProN"/>
              </a:rPr>
              <a:t>▶  Next  |  動画④：クライアントとの信頼関係を築く：実務と契約ルール</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3999"/>
        </a:solidFill>
        <a:effectLst/>
      </p:bgPr>
    </p:bg>
    <p:spTree>
      <p:nvGrpSpPr>
        <p:cNvPr id="1" name=""/>
        <p:cNvGrpSpPr/>
        <p:nvPr/>
      </p:nvGrpSpPr>
      <p:grpSpPr/>
      <p:sp>
        <p:nvSpPr>
          <p:cNvPr id="2" name="TextBox 1"/>
          <p:cNvSpPr txBox="1"/>
          <p:nvPr/>
        </p:nvSpPr>
        <p:spPr>
          <a:xfrm>
            <a:off x="-91440" y="182880"/>
            <a:ext cx="3200400" cy="4754880"/>
          </a:xfrm>
          <a:prstGeom prst="rect">
            <a:avLst/>
          </a:prstGeom>
          <a:noFill/>
        </p:spPr>
        <p:txBody>
          <a:bodyPr wrap="square">
            <a:spAutoFit/>
          </a:bodyPr>
          <a:lstStyle/>
          <a:p>
            <a:pPr algn="l"/>
            <a:r>
              <a:rPr sz="24000" b="1" i="0">
                <a:solidFill>
                  <a:srgbClr val="FF80BB"/>
                </a:solidFill>
                <a:latin typeface="Hiragino Kaku Gothic ProN"/>
              </a:rPr>
              <a:t>4</a:t>
            </a:r>
          </a:p>
        </p:txBody>
      </p:sp>
      <p:sp>
        <p:nvSpPr>
          <p:cNvPr id="3" name="Rounded Rectangle 2"/>
          <p:cNvSpPr/>
          <p:nvPr/>
        </p:nvSpPr>
        <p:spPr>
          <a:xfrm>
            <a:off x="3017520" y="1097280"/>
            <a:ext cx="5669280" cy="2560320"/>
          </a:xfrm>
          <a:prstGeom prst="roundRect">
            <a:avLst/>
          </a:prstGeom>
          <a:solidFill>
            <a:srgbClr val="FFFFFF"/>
          </a:solidFill>
          <a:ln w="1524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0" y="1280160"/>
            <a:ext cx="3840480" cy="1097280"/>
          </a:xfrm>
          <a:prstGeom prst="rect">
            <a:avLst/>
          </a:prstGeom>
          <a:noFill/>
        </p:spPr>
        <p:txBody>
          <a:bodyPr wrap="square">
            <a:spAutoFit/>
          </a:bodyPr>
          <a:lstStyle/>
          <a:p>
            <a:pPr algn="l"/>
            <a:r>
              <a:rPr sz="3000" b="1" i="0">
                <a:solidFill>
                  <a:srgbClr val="1A1A1A"/>
                </a:solidFill>
                <a:latin typeface="Hiragino Kaku Gothic ProN"/>
              </a:rPr>
              <a:t>実務と契約ルール</a:t>
            </a:r>
          </a:p>
        </p:txBody>
      </p:sp>
      <p:sp>
        <p:nvSpPr>
          <p:cNvPr id="5" name="TextBox 4"/>
          <p:cNvSpPr txBox="1"/>
          <p:nvPr/>
        </p:nvSpPr>
        <p:spPr>
          <a:xfrm>
            <a:off x="3200400" y="2468880"/>
            <a:ext cx="3840480" cy="640080"/>
          </a:xfrm>
          <a:prstGeom prst="rect">
            <a:avLst/>
          </a:prstGeom>
          <a:noFill/>
        </p:spPr>
        <p:txBody>
          <a:bodyPr wrap="square">
            <a:spAutoFit/>
          </a:bodyPr>
          <a:lstStyle/>
          <a:p>
            <a:pPr algn="l"/>
            <a:r>
              <a:rPr sz="1500" b="0" i="0">
                <a:solidFill>
                  <a:srgbClr val="666666"/>
                </a:solidFill>
                <a:latin typeface="Hiragino Kaku Gothic ProN"/>
              </a:rPr>
              <a:t>クライアントとの信頼関係を築く</a:t>
            </a:r>
          </a:p>
        </p:txBody>
      </p:sp>
      <p:pic>
        <p:nvPicPr>
          <p:cNvPr id="6" name="Picture 5" descr="image-2-1.png"/>
          <p:cNvPicPr>
            <a:picLocks noChangeAspect="1"/>
          </p:cNvPicPr>
          <p:nvPr/>
        </p:nvPicPr>
        <p:blipFill>
          <a:blip r:embed="rId2"/>
          <a:stretch>
            <a:fillRect/>
          </a:stretch>
        </p:blipFill>
        <p:spPr>
          <a:xfrm>
            <a:off x="7132320" y="1188720"/>
            <a:ext cx="1371600" cy="1371600"/>
          </a:xfrm>
          <a:prstGeom prst="rect">
            <a:avLst/>
          </a:prstGeom>
        </p:spPr>
      </p:pic>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2004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4008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96011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28016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60020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92024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24028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56032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88036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20040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52044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84048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16052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48055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80059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12063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44067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76071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08075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40079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72083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04087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36091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68095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00099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832103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864107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896111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0" y="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0" y="32004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0" y="64008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0" y="960119"/>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0" y="128016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0" y="160020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0" y="192024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0" y="224028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0" y="256032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0" y="288036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0" y="320040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0" y="352044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0" y="384048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0" y="416052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0" y="4480559"/>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0" y="4800599"/>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0" y="5120639"/>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320040" y="164592"/>
            <a:ext cx="8503920" cy="594360"/>
          </a:xfrm>
          <a:prstGeom prst="rect">
            <a:avLst/>
          </a:prstGeom>
          <a:noFill/>
        </p:spPr>
        <p:txBody>
          <a:bodyPr wrap="square">
            <a:spAutoFit/>
          </a:bodyPr>
          <a:lstStyle/>
          <a:p>
            <a:pPr algn="l"/>
            <a:r>
              <a:rPr sz="3000" b="1" i="0">
                <a:solidFill>
                  <a:srgbClr val="1A1A1A"/>
                </a:solidFill>
                <a:latin typeface="Hiragino Kaku Gothic ProN"/>
              </a:rPr>
              <a:t>この動画で学ぶこと</a:t>
            </a:r>
          </a:p>
        </p:txBody>
      </p:sp>
      <p:sp>
        <p:nvSpPr>
          <p:cNvPr id="49" name="Rectangle 48"/>
          <p:cNvSpPr/>
          <p:nvPr/>
        </p:nvSpPr>
        <p:spPr>
          <a:xfrm>
            <a:off x="320040" y="731520"/>
            <a:ext cx="8503920" cy="41148"/>
          </a:xfrm>
          <a:prstGeom prst="rect">
            <a:avLst/>
          </a:prstGeom>
          <a:solidFill>
            <a:srgbClr val="FF39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ounded Rectangle 49"/>
          <p:cNvSpPr/>
          <p:nvPr/>
        </p:nvSpPr>
        <p:spPr>
          <a:xfrm>
            <a:off x="228600" y="960120"/>
            <a:ext cx="2743200" cy="3977639"/>
          </a:xfrm>
          <a:prstGeom prst="roundRect">
            <a:avLst/>
          </a:prstGeom>
          <a:solidFill>
            <a:srgbClr val="FFFFFF"/>
          </a:solidFill>
          <a:ln w="15240">
            <a:solidFill>
              <a:srgbClr val="FFD6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1" name="Picture 50" descr="image-5-1.png"/>
          <p:cNvPicPr>
            <a:picLocks noChangeAspect="1"/>
          </p:cNvPicPr>
          <p:nvPr/>
        </p:nvPicPr>
        <p:blipFill>
          <a:blip r:embed="rId2"/>
          <a:stretch>
            <a:fillRect/>
          </a:stretch>
        </p:blipFill>
        <p:spPr>
          <a:xfrm>
            <a:off x="914400" y="1097280"/>
            <a:ext cx="1371600" cy="1371600"/>
          </a:xfrm>
          <a:prstGeom prst="rect">
            <a:avLst/>
          </a:prstGeom>
        </p:spPr>
      </p:pic>
      <p:sp>
        <p:nvSpPr>
          <p:cNvPr id="52" name="Rounded Rectangle 51"/>
          <p:cNvSpPr/>
          <p:nvPr/>
        </p:nvSpPr>
        <p:spPr>
          <a:xfrm>
            <a:off x="365760" y="2834640"/>
            <a:ext cx="640080" cy="640080"/>
          </a:xfrm>
          <a:prstGeom prst="roundRect">
            <a:avLst/>
          </a:prstGeom>
          <a:solidFill>
            <a:srgbClr val="FF39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365760" y="2866644"/>
            <a:ext cx="640080" cy="576072"/>
          </a:xfrm>
          <a:prstGeom prst="rect">
            <a:avLst/>
          </a:prstGeom>
          <a:noFill/>
        </p:spPr>
        <p:txBody>
          <a:bodyPr wrap="square">
            <a:spAutoFit/>
          </a:bodyPr>
          <a:lstStyle/>
          <a:p>
            <a:pPr algn="ctr"/>
            <a:r>
              <a:rPr sz="2000" b="1" i="0">
                <a:solidFill>
                  <a:srgbClr val="FFFFFF"/>
                </a:solidFill>
                <a:latin typeface="Hiragino Kaku Gothic ProN"/>
              </a:rPr>
              <a:t>01</a:t>
            </a:r>
          </a:p>
        </p:txBody>
      </p:sp>
      <p:sp>
        <p:nvSpPr>
          <p:cNvPr id="54" name="TextBox 53"/>
          <p:cNvSpPr txBox="1"/>
          <p:nvPr/>
        </p:nvSpPr>
        <p:spPr>
          <a:xfrm>
            <a:off x="320040" y="3611880"/>
            <a:ext cx="2560320" cy="594360"/>
          </a:xfrm>
          <a:prstGeom prst="rect">
            <a:avLst/>
          </a:prstGeom>
          <a:noFill/>
        </p:spPr>
        <p:txBody>
          <a:bodyPr wrap="square">
            <a:spAutoFit/>
          </a:bodyPr>
          <a:lstStyle/>
          <a:p>
            <a:pPr algn="l"/>
            <a:r>
              <a:rPr sz="1300" b="1" i="0">
                <a:solidFill>
                  <a:srgbClr val="1A1A1A"/>
                </a:solidFill>
                <a:latin typeface="Hiragino Kaku Gothic ProN"/>
              </a:rPr>
              <a:t>フライングと二次利用の禁止</a:t>
            </a:r>
          </a:p>
        </p:txBody>
      </p:sp>
      <p:sp>
        <p:nvSpPr>
          <p:cNvPr id="55" name="TextBox 54"/>
          <p:cNvSpPr txBox="1"/>
          <p:nvPr/>
        </p:nvSpPr>
        <p:spPr>
          <a:xfrm>
            <a:off x="320040" y="4251960"/>
            <a:ext cx="2560320" cy="594360"/>
          </a:xfrm>
          <a:prstGeom prst="rect">
            <a:avLst/>
          </a:prstGeom>
          <a:noFill/>
        </p:spPr>
        <p:txBody>
          <a:bodyPr wrap="square">
            <a:spAutoFit/>
          </a:bodyPr>
          <a:lstStyle/>
          <a:p>
            <a:pPr algn="l"/>
            <a:r>
              <a:rPr sz="1000" b="0" i="0">
                <a:solidFill>
                  <a:srgbClr val="666666"/>
                </a:solidFill>
                <a:latin typeface="Hiragino Kaku Gothic ProN"/>
              </a:rPr>
              <a:t>情報解禁前の投稿・契約外媒体への転載はNG</a:t>
            </a:r>
          </a:p>
        </p:txBody>
      </p:sp>
      <p:sp>
        <p:nvSpPr>
          <p:cNvPr id="56" name="Rounded Rectangle 55"/>
          <p:cNvSpPr/>
          <p:nvPr/>
        </p:nvSpPr>
        <p:spPr>
          <a:xfrm>
            <a:off x="3200400" y="960120"/>
            <a:ext cx="2743200" cy="3977639"/>
          </a:xfrm>
          <a:prstGeom prst="roundRect">
            <a:avLst/>
          </a:prstGeom>
          <a:solidFill>
            <a:srgbClr val="FFFFFF"/>
          </a:solidFill>
          <a:ln w="15240">
            <a:solidFill>
              <a:srgbClr val="FFD6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7" name="Picture 56" descr="image-5-1.png"/>
          <p:cNvPicPr>
            <a:picLocks noChangeAspect="1"/>
          </p:cNvPicPr>
          <p:nvPr/>
        </p:nvPicPr>
        <p:blipFill>
          <a:blip r:embed="rId2"/>
          <a:stretch>
            <a:fillRect/>
          </a:stretch>
        </p:blipFill>
        <p:spPr>
          <a:xfrm>
            <a:off x="3886200" y="1097280"/>
            <a:ext cx="1371600" cy="1371600"/>
          </a:xfrm>
          <a:prstGeom prst="rect">
            <a:avLst/>
          </a:prstGeom>
        </p:spPr>
      </p:pic>
      <p:sp>
        <p:nvSpPr>
          <p:cNvPr id="58" name="Rounded Rectangle 57"/>
          <p:cNvSpPr/>
          <p:nvPr/>
        </p:nvSpPr>
        <p:spPr>
          <a:xfrm>
            <a:off x="3337560" y="2834640"/>
            <a:ext cx="640080" cy="640080"/>
          </a:xfrm>
          <a:prstGeom prst="roundRect">
            <a:avLst/>
          </a:prstGeom>
          <a:solidFill>
            <a:srgbClr val="FF39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3337560" y="2866644"/>
            <a:ext cx="640080" cy="576072"/>
          </a:xfrm>
          <a:prstGeom prst="rect">
            <a:avLst/>
          </a:prstGeom>
          <a:noFill/>
        </p:spPr>
        <p:txBody>
          <a:bodyPr wrap="square">
            <a:spAutoFit/>
          </a:bodyPr>
          <a:lstStyle/>
          <a:p>
            <a:pPr algn="ctr"/>
            <a:r>
              <a:rPr sz="2000" b="1" i="0">
                <a:solidFill>
                  <a:srgbClr val="FFFFFF"/>
                </a:solidFill>
                <a:latin typeface="Hiragino Kaku Gothic ProN"/>
              </a:rPr>
              <a:t>02</a:t>
            </a:r>
          </a:p>
        </p:txBody>
      </p:sp>
      <p:sp>
        <p:nvSpPr>
          <p:cNvPr id="60" name="TextBox 59"/>
          <p:cNvSpPr txBox="1"/>
          <p:nvPr/>
        </p:nvSpPr>
        <p:spPr>
          <a:xfrm>
            <a:off x="3291840" y="3611880"/>
            <a:ext cx="2560320" cy="594360"/>
          </a:xfrm>
          <a:prstGeom prst="rect">
            <a:avLst/>
          </a:prstGeom>
          <a:noFill/>
        </p:spPr>
        <p:txBody>
          <a:bodyPr wrap="square">
            <a:spAutoFit/>
          </a:bodyPr>
          <a:lstStyle/>
          <a:p>
            <a:pPr algn="l"/>
            <a:r>
              <a:rPr sz="1300" b="1" i="0">
                <a:solidFill>
                  <a:srgbClr val="1A1A1A"/>
                </a:solidFill>
                <a:latin typeface="Hiragino Kaku Gothic ProN"/>
              </a:rPr>
              <a:t>競合排除ルール</a:t>
            </a:r>
          </a:p>
        </p:txBody>
      </p:sp>
      <p:sp>
        <p:nvSpPr>
          <p:cNvPr id="61" name="TextBox 60"/>
          <p:cNvSpPr txBox="1"/>
          <p:nvPr/>
        </p:nvSpPr>
        <p:spPr>
          <a:xfrm>
            <a:off x="3291840" y="4251960"/>
            <a:ext cx="2560320" cy="594360"/>
          </a:xfrm>
          <a:prstGeom prst="rect">
            <a:avLst/>
          </a:prstGeom>
          <a:noFill/>
        </p:spPr>
        <p:txBody>
          <a:bodyPr wrap="square">
            <a:spAutoFit/>
          </a:bodyPr>
          <a:lstStyle/>
          <a:p>
            <a:pPr algn="l"/>
            <a:r>
              <a:rPr sz="1000" b="0" i="0">
                <a:solidFill>
                  <a:srgbClr val="666666"/>
                </a:solidFill>
                <a:latin typeface="Hiragino Kaku Gothic ProN"/>
              </a:rPr>
              <a:t>期間・対象商品の範囲を必ず確認する</a:t>
            </a:r>
          </a:p>
        </p:txBody>
      </p:sp>
      <p:sp>
        <p:nvSpPr>
          <p:cNvPr id="62" name="Rounded Rectangle 61"/>
          <p:cNvSpPr/>
          <p:nvPr/>
        </p:nvSpPr>
        <p:spPr>
          <a:xfrm>
            <a:off x="6172200" y="960120"/>
            <a:ext cx="2743200" cy="3977639"/>
          </a:xfrm>
          <a:prstGeom prst="roundRect">
            <a:avLst/>
          </a:prstGeom>
          <a:solidFill>
            <a:srgbClr val="FFFFFF"/>
          </a:solidFill>
          <a:ln w="15240">
            <a:solidFill>
              <a:srgbClr val="FFD6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3" name="Picture 62" descr="image-6-1.png"/>
          <p:cNvPicPr>
            <a:picLocks noChangeAspect="1"/>
          </p:cNvPicPr>
          <p:nvPr/>
        </p:nvPicPr>
        <p:blipFill>
          <a:blip r:embed="rId3"/>
          <a:stretch>
            <a:fillRect/>
          </a:stretch>
        </p:blipFill>
        <p:spPr>
          <a:xfrm>
            <a:off x="6858000" y="1097280"/>
            <a:ext cx="1371600" cy="1371600"/>
          </a:xfrm>
          <a:prstGeom prst="rect">
            <a:avLst/>
          </a:prstGeom>
        </p:spPr>
      </p:pic>
      <p:sp>
        <p:nvSpPr>
          <p:cNvPr id="64" name="Rounded Rectangle 63"/>
          <p:cNvSpPr/>
          <p:nvPr/>
        </p:nvSpPr>
        <p:spPr>
          <a:xfrm>
            <a:off x="6309360" y="2834640"/>
            <a:ext cx="640080" cy="640080"/>
          </a:xfrm>
          <a:prstGeom prst="roundRect">
            <a:avLst/>
          </a:prstGeom>
          <a:solidFill>
            <a:srgbClr val="FF39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6309360" y="2866644"/>
            <a:ext cx="640080" cy="576072"/>
          </a:xfrm>
          <a:prstGeom prst="rect">
            <a:avLst/>
          </a:prstGeom>
          <a:noFill/>
        </p:spPr>
        <p:txBody>
          <a:bodyPr wrap="square">
            <a:spAutoFit/>
          </a:bodyPr>
          <a:lstStyle/>
          <a:p>
            <a:pPr algn="ctr"/>
            <a:r>
              <a:rPr sz="2000" b="1" i="0">
                <a:solidFill>
                  <a:srgbClr val="FFFFFF"/>
                </a:solidFill>
                <a:latin typeface="Hiragino Kaku Gothic ProN"/>
              </a:rPr>
              <a:t>03</a:t>
            </a:r>
          </a:p>
        </p:txBody>
      </p:sp>
      <p:sp>
        <p:nvSpPr>
          <p:cNvPr id="66" name="TextBox 65"/>
          <p:cNvSpPr txBox="1"/>
          <p:nvPr/>
        </p:nvSpPr>
        <p:spPr>
          <a:xfrm>
            <a:off x="6263640" y="3611880"/>
            <a:ext cx="2560320" cy="594360"/>
          </a:xfrm>
          <a:prstGeom prst="rect">
            <a:avLst/>
          </a:prstGeom>
          <a:noFill/>
        </p:spPr>
        <p:txBody>
          <a:bodyPr wrap="square">
            <a:spAutoFit/>
          </a:bodyPr>
          <a:lstStyle/>
          <a:p>
            <a:pPr algn="l"/>
            <a:r>
              <a:rPr sz="1300" b="1" i="0">
                <a:solidFill>
                  <a:srgbClr val="1A1A1A"/>
                </a:solidFill>
                <a:latin typeface="Hiragino Kaku Gothic ProN"/>
              </a:rPr>
              <a:t>ルールはあなた自身を守る盾</a:t>
            </a:r>
          </a:p>
        </p:txBody>
      </p:sp>
      <p:sp>
        <p:nvSpPr>
          <p:cNvPr id="67" name="TextBox 66"/>
          <p:cNvSpPr txBox="1"/>
          <p:nvPr/>
        </p:nvSpPr>
        <p:spPr>
          <a:xfrm>
            <a:off x="6263640" y="4251960"/>
            <a:ext cx="2560320" cy="594360"/>
          </a:xfrm>
          <a:prstGeom prst="rect">
            <a:avLst/>
          </a:prstGeom>
          <a:noFill/>
        </p:spPr>
        <p:txBody>
          <a:bodyPr wrap="square">
            <a:spAutoFit/>
          </a:bodyPr>
          <a:lstStyle/>
          <a:p>
            <a:pPr algn="l"/>
            <a:r>
              <a:rPr sz="1000" b="0" i="0">
                <a:solidFill>
                  <a:srgbClr val="666666"/>
                </a:solidFill>
                <a:latin typeface="Hiragino Kaku Gothic ProN"/>
              </a:rPr>
              <a:t>法律・規約・契約を守るクリエイターが信頼される</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2004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4008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96011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28016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60020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92024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24028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56032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88036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20040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52044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84048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16052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48055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80059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12063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44067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76071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08075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40079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72083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04087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36091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68095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00099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832103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864107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896111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0" y="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0" y="32004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0" y="64008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0" y="960119"/>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0" y="128016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0" y="160020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0" y="192024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0" y="224028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0" y="256032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0" y="288036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0" y="320040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0" y="352044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0" y="384048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0" y="416052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0" y="4480559"/>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0" y="4800599"/>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0" y="5120639"/>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320040" y="164592"/>
            <a:ext cx="8503920" cy="594360"/>
          </a:xfrm>
          <a:prstGeom prst="rect">
            <a:avLst/>
          </a:prstGeom>
          <a:noFill/>
        </p:spPr>
        <p:txBody>
          <a:bodyPr wrap="square">
            <a:spAutoFit/>
          </a:bodyPr>
          <a:lstStyle/>
          <a:p>
            <a:pPr algn="l"/>
            <a:r>
              <a:rPr sz="2600" b="1" i="0">
                <a:solidFill>
                  <a:srgbClr val="1A1A1A"/>
                </a:solidFill>
                <a:latin typeface="Hiragino Kaku Gothic ProN"/>
              </a:rPr>
              <a:t>「フライング」と「勝手な二次利用」は厳禁</a:t>
            </a:r>
          </a:p>
        </p:txBody>
      </p:sp>
      <p:sp>
        <p:nvSpPr>
          <p:cNvPr id="49" name="Rectangle 48"/>
          <p:cNvSpPr/>
          <p:nvPr/>
        </p:nvSpPr>
        <p:spPr>
          <a:xfrm>
            <a:off x="320040" y="731520"/>
            <a:ext cx="8503920" cy="41148"/>
          </a:xfrm>
          <a:prstGeom prst="rect">
            <a:avLst/>
          </a:prstGeom>
          <a:solidFill>
            <a:srgbClr val="FF39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ounded Rectangle 49"/>
          <p:cNvSpPr/>
          <p:nvPr/>
        </p:nvSpPr>
        <p:spPr>
          <a:xfrm>
            <a:off x="274320" y="914400"/>
            <a:ext cx="8595360" cy="3246120"/>
          </a:xfrm>
          <a:prstGeom prst="roundRect">
            <a:avLst/>
          </a:prstGeom>
          <a:solidFill>
            <a:srgbClr val="FFFFFF"/>
          </a:solidFill>
          <a:ln w="15240">
            <a:solidFill>
              <a:srgbClr val="FFD6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438912" y="1078992"/>
            <a:ext cx="8321040" cy="2971800"/>
          </a:xfrm>
          <a:prstGeom prst="rect">
            <a:avLst/>
          </a:prstGeom>
          <a:noFill/>
        </p:spPr>
        <p:txBody>
          <a:bodyPr wrap="square">
            <a:spAutoFit/>
          </a:bodyPr>
          <a:lstStyle/>
          <a:p>
            <a:pPr algn="l">
              <a:spcBef>
                <a:spcPts val="300"/>
              </a:spcBef>
            </a:pPr>
            <a:r>
              <a:rPr b="1" sz="1300">
                <a:solidFill>
                  <a:srgbClr val="FF3333"/>
                </a:solidFill>
                <a:latin typeface="Hiragino Kaku Gothic ProN"/>
              </a:rPr>
              <a:t>✗  </a:t>
            </a:r>
            <a:r>
              <a:rPr sz="1300">
                <a:solidFill>
                  <a:srgbClr val="FF3333"/>
                </a:solidFill>
                <a:latin typeface="Hiragino Kaku Gothic ProN"/>
              </a:rPr>
              <a:t>投稿日前のPR商材の使用や、匂わせ投稿（事前許可必須）</a:t>
            </a:r>
          </a:p>
          <a:p>
            <a:pPr algn="l">
              <a:spcBef>
                <a:spcPts val="300"/>
              </a:spcBef>
            </a:pPr>
            <a:r>
              <a:rPr sz="1100">
                <a:solidFill>
                  <a:srgbClr val="666666"/>
                </a:solidFill>
                <a:latin typeface="Hiragino Kaku Gothic ProN"/>
              </a:rPr>
              <a:t>　　→  情報解禁日より前に商品を動画に出すと企業のプロモーション計画を台無しにする</a:t>
            </a:r>
          </a:p>
          <a:p>
            <a:pPr algn="l">
              <a:spcBef>
                <a:spcPts val="300"/>
              </a:spcBef>
            </a:pPr>
            <a:r>
              <a:rPr b="1" sz="1300">
                <a:solidFill>
                  <a:srgbClr val="FF3333"/>
                </a:solidFill>
                <a:latin typeface="Hiragino Kaku Gothic ProN"/>
              </a:rPr>
              <a:t>✗  </a:t>
            </a:r>
            <a:r>
              <a:rPr sz="1300">
                <a:solidFill>
                  <a:srgbClr val="FF3333"/>
                </a:solidFill>
                <a:latin typeface="Hiragino Kaku Gothic ProN"/>
              </a:rPr>
              <a:t>指定された以外のSNSへの勝手な投稿（他媒体への転載）</a:t>
            </a:r>
          </a:p>
          <a:p>
            <a:pPr algn="l">
              <a:spcBef>
                <a:spcPts val="300"/>
              </a:spcBef>
            </a:pPr>
            <a:r>
              <a:rPr b="1" sz="1300">
                <a:solidFill>
                  <a:srgbClr val="FF3333"/>
                </a:solidFill>
                <a:latin typeface="Hiragino Kaku Gothic ProN"/>
              </a:rPr>
              <a:t>✗  </a:t>
            </a:r>
            <a:r>
              <a:rPr sz="1300">
                <a:solidFill>
                  <a:srgbClr val="FF3333"/>
                </a:solidFill>
                <a:latin typeface="Hiragino Kaku Gothic ProN"/>
              </a:rPr>
              <a:t>企業が提供したロゴや素材の無断使用</a:t>
            </a:r>
          </a:p>
          <a:p>
            <a:pPr algn="l">
              <a:spcBef>
                <a:spcPts val="300"/>
              </a:spcBef>
            </a:pPr>
            <a:r>
              <a:rPr b="1" sz="1300">
                <a:solidFill>
                  <a:srgbClr val="00BFA5"/>
                </a:solidFill>
                <a:latin typeface="Hiragino Kaku Gothic ProN"/>
              </a:rPr>
              <a:t>✓  </a:t>
            </a:r>
            <a:r>
              <a:rPr sz="1300">
                <a:solidFill>
                  <a:srgbClr val="00BFA5"/>
                </a:solidFill>
                <a:latin typeface="Hiragino Kaku Gothic ProN"/>
              </a:rPr>
              <a:t>他媒体への無償転載は喜ばれる企業も多い。まずTORIHADAへ相談を</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2004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4008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96011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28016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60020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92024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24028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56032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88036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20040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52044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84048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16052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48055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80059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12063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44067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76071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08075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40079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72083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04087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36091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68095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00099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832103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864107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896111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0" y="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0" y="32004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0" y="64008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0" y="960119"/>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0" y="128016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0" y="160020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0" y="192024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0" y="224028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0" y="256032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0" y="288036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0" y="320040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0" y="352044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0" y="384048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0" y="416052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0" y="4480559"/>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0" y="4800599"/>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0" y="5120639"/>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320040" y="164592"/>
            <a:ext cx="8503920" cy="594360"/>
          </a:xfrm>
          <a:prstGeom prst="rect">
            <a:avLst/>
          </a:prstGeom>
          <a:noFill/>
        </p:spPr>
        <p:txBody>
          <a:bodyPr wrap="square">
            <a:spAutoFit/>
          </a:bodyPr>
          <a:lstStyle/>
          <a:p>
            <a:pPr algn="l"/>
            <a:r>
              <a:rPr sz="2600" b="1" i="0">
                <a:solidFill>
                  <a:srgbClr val="1A1A1A"/>
                </a:solidFill>
                <a:latin typeface="Hiragino Kaku Gothic ProN"/>
              </a:rPr>
              <a:t>「競合排除（競合避止）」のルール</a:t>
            </a:r>
          </a:p>
        </p:txBody>
      </p:sp>
      <p:sp>
        <p:nvSpPr>
          <p:cNvPr id="49" name="Rectangle 48"/>
          <p:cNvSpPr/>
          <p:nvPr/>
        </p:nvSpPr>
        <p:spPr>
          <a:xfrm>
            <a:off x="320040" y="731520"/>
            <a:ext cx="8503920" cy="41148"/>
          </a:xfrm>
          <a:prstGeom prst="rect">
            <a:avLst/>
          </a:prstGeom>
          <a:solidFill>
            <a:srgbClr val="FF39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ounded Rectangle 49"/>
          <p:cNvSpPr/>
          <p:nvPr/>
        </p:nvSpPr>
        <p:spPr>
          <a:xfrm>
            <a:off x="274320" y="914400"/>
            <a:ext cx="8595360" cy="1325880"/>
          </a:xfrm>
          <a:prstGeom prst="roundRect">
            <a:avLst/>
          </a:prstGeom>
          <a:solidFill>
            <a:srgbClr val="FFFFFF"/>
          </a:solidFill>
          <a:ln w="15240">
            <a:solidFill>
              <a:srgbClr val="FFD6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438912" y="1078992"/>
            <a:ext cx="8321040" cy="1051560"/>
          </a:xfrm>
          <a:prstGeom prst="rect">
            <a:avLst/>
          </a:prstGeom>
          <a:noFill/>
        </p:spPr>
        <p:txBody>
          <a:bodyPr wrap="square">
            <a:spAutoFit/>
          </a:bodyPr>
          <a:lstStyle/>
          <a:p>
            <a:pPr algn="l">
              <a:spcBef>
                <a:spcPts val="300"/>
              </a:spcBef>
            </a:pPr>
            <a:r>
              <a:rPr sz="1300">
                <a:solidFill>
                  <a:srgbClr val="1A1A1A"/>
                </a:solidFill>
                <a:latin typeface="Hiragino Kaku Gothic ProN"/>
              </a:rPr>
              <a:t>•  「A社の案件をやったら、その後〇ヶ月間はライバルB社の類似商品PRをしてはいけない」という契約</a:t>
            </a:r>
          </a:p>
          <a:p>
            <a:pPr algn="l">
              <a:spcBef>
                <a:spcPts val="300"/>
              </a:spcBef>
            </a:pPr>
            <a:r>
              <a:rPr sz="1300">
                <a:solidFill>
                  <a:srgbClr val="1A1A1A"/>
                </a:solidFill>
                <a:latin typeface="Hiragino Kaku Gothic ProN"/>
              </a:rPr>
              <a:t>•  クリエイターの「発信の説得力」と企業の「ブランド」を守ることが目的</a:t>
            </a:r>
          </a:p>
        </p:txBody>
      </p:sp>
      <p:sp>
        <p:nvSpPr>
          <p:cNvPr id="52" name="Rounded Rectangle 51"/>
          <p:cNvSpPr/>
          <p:nvPr/>
        </p:nvSpPr>
        <p:spPr>
          <a:xfrm>
            <a:off x="274320" y="2331720"/>
            <a:ext cx="8595360" cy="1645920"/>
          </a:xfrm>
          <a:prstGeom prst="roundRect">
            <a:avLst/>
          </a:prstGeom>
          <a:solidFill>
            <a:srgbClr val="FFFFFF"/>
          </a:solidFill>
          <a:ln w="15240">
            <a:solidFill>
              <a:srgbClr val="FFD6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274320" y="2331720"/>
            <a:ext cx="8595360" cy="384048"/>
          </a:xfrm>
          <a:prstGeom prst="rect">
            <a:avLst/>
          </a:prstGeom>
          <a:solidFill>
            <a:srgbClr val="FF39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411479" y="2359151"/>
            <a:ext cx="8321040" cy="347472"/>
          </a:xfrm>
          <a:prstGeom prst="rect">
            <a:avLst/>
          </a:prstGeom>
          <a:noFill/>
        </p:spPr>
        <p:txBody>
          <a:bodyPr wrap="square">
            <a:spAutoFit/>
          </a:bodyPr>
          <a:lstStyle/>
          <a:p>
            <a:pPr algn="l"/>
            <a:r>
              <a:rPr sz="1300" b="1" i="0">
                <a:solidFill>
                  <a:srgbClr val="FFFFFF"/>
                </a:solidFill>
                <a:latin typeface="Hiragino Kaku Gothic ProN"/>
              </a:rPr>
              <a:t>案件を受ける前に必ず確認</a:t>
            </a:r>
          </a:p>
        </p:txBody>
      </p:sp>
      <p:sp>
        <p:nvSpPr>
          <p:cNvPr id="55" name="TextBox 54"/>
          <p:cNvSpPr txBox="1"/>
          <p:nvPr/>
        </p:nvSpPr>
        <p:spPr>
          <a:xfrm>
            <a:off x="438912" y="2788920"/>
            <a:ext cx="8321040" cy="1078992"/>
          </a:xfrm>
          <a:prstGeom prst="rect">
            <a:avLst/>
          </a:prstGeom>
          <a:noFill/>
        </p:spPr>
        <p:txBody>
          <a:bodyPr wrap="square">
            <a:spAutoFit/>
          </a:bodyPr>
          <a:lstStyle/>
          <a:p>
            <a:pPr algn="l">
              <a:spcBef>
                <a:spcPts val="300"/>
              </a:spcBef>
            </a:pPr>
            <a:r>
              <a:rPr b="1" sz="1300">
                <a:solidFill>
                  <a:srgbClr val="00BFA5"/>
                </a:solidFill>
                <a:latin typeface="Hiragino Kaku Gothic ProN"/>
              </a:rPr>
              <a:t>✓  </a:t>
            </a:r>
            <a:r>
              <a:rPr sz="1300">
                <a:solidFill>
                  <a:srgbClr val="00BFA5"/>
                </a:solidFill>
                <a:latin typeface="Hiragino Kaku Gothic ProN"/>
              </a:rPr>
              <a:t>「いつまで」競合排除期間が続くか</a:t>
            </a:r>
          </a:p>
          <a:p>
            <a:pPr algn="l">
              <a:spcBef>
                <a:spcPts val="300"/>
              </a:spcBef>
            </a:pPr>
            <a:r>
              <a:rPr b="1" sz="1300">
                <a:solidFill>
                  <a:srgbClr val="00BFA5"/>
                </a:solidFill>
                <a:latin typeface="Hiragino Kaku Gothic ProN"/>
              </a:rPr>
              <a:t>✓  </a:t>
            </a:r>
            <a:r>
              <a:rPr sz="1300">
                <a:solidFill>
                  <a:srgbClr val="00BFA5"/>
                </a:solidFill>
                <a:latin typeface="Hiragino Kaku Gothic ProN"/>
              </a:rPr>
              <a:t>「どのジャンルの商品が」NGになるか</a:t>
            </a:r>
          </a:p>
          <a:p>
            <a:pPr algn="l">
              <a:spcBef>
                <a:spcPts val="300"/>
              </a:spcBef>
            </a:pPr>
            <a:r>
              <a:rPr b="1" sz="1300">
                <a:solidFill>
                  <a:srgbClr val="00BFA5"/>
                </a:solidFill>
                <a:latin typeface="Hiragino Kaku Gothic ProN"/>
              </a:rPr>
              <a:t>✓  </a:t>
            </a:r>
            <a:r>
              <a:rPr sz="1300">
                <a:solidFill>
                  <a:srgbClr val="00BFA5"/>
                </a:solidFill>
                <a:latin typeface="Hiragino Kaku Gothic ProN"/>
              </a:rPr>
              <a:t>「どのような内容が」対象になるか</a:t>
            </a:r>
          </a:p>
          <a:p>
            <a:pPr algn="l">
              <a:spcBef>
                <a:spcPts val="300"/>
              </a:spcBef>
            </a:pPr>
            <a:r>
              <a:rPr b="1" sz="1300">
                <a:solidFill>
                  <a:srgbClr val="FF3333"/>
                </a:solidFill>
                <a:latin typeface="Hiragino Kaku Gothic ProN"/>
              </a:rPr>
              <a:t>✗  </a:t>
            </a:r>
            <a:r>
              <a:rPr sz="1300">
                <a:solidFill>
                  <a:srgbClr val="FF3333"/>
                </a:solidFill>
                <a:latin typeface="Hiragino Kaku Gothic ProN"/>
              </a:rPr>
              <a:t>契約違反になると違約金が発生する可能性あり</a:t>
            </a:r>
          </a:p>
        </p:txBody>
      </p:sp>
      <p:sp>
        <p:nvSpPr>
          <p:cNvPr id="56" name="Rounded Rectangle 55"/>
          <p:cNvSpPr/>
          <p:nvPr/>
        </p:nvSpPr>
        <p:spPr>
          <a:xfrm>
            <a:off x="274320" y="4087368"/>
            <a:ext cx="8595360" cy="777240"/>
          </a:xfrm>
          <a:prstGeom prst="roundRect">
            <a:avLst/>
          </a:prstGeom>
          <a:solidFill>
            <a:srgbClr val="FFECF5"/>
          </a:solidFill>
          <a:ln w="19050">
            <a:solidFill>
              <a:srgbClr val="FF3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411479" y="4160520"/>
            <a:ext cx="8321040" cy="685800"/>
          </a:xfrm>
          <a:prstGeom prst="rect">
            <a:avLst/>
          </a:prstGeom>
          <a:noFill/>
        </p:spPr>
        <p:txBody>
          <a:bodyPr wrap="square">
            <a:noAutofit/>
          </a:bodyPr>
          <a:lstStyle/>
          <a:p>
            <a:r>
              <a:rPr sz="1300" b="1">
                <a:solidFill>
                  <a:srgbClr val="FF3999"/>
                </a:solidFill>
                <a:latin typeface="Hiragino Kaku Gothic ProN"/>
              </a:rPr>
              <a:t>昨日「この美容液が一番！」→ 翌日に別ブランドをPR → 誰もその人を信用しなくなります。</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2004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4008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96011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28016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60020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92024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24028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56032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88036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20040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52044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84048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16052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48055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80059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12063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44067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76071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08075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40079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72083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04087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36091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68095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00099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832103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864107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896111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0" y="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0" y="32004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0" y="64008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0" y="960119"/>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0" y="128016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0" y="160020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0" y="192024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0" y="224028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0" y="256032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0" y="288036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0" y="320040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0" y="352044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0" y="384048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0" y="416052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0" y="4480559"/>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0" y="4800599"/>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0" y="5120639"/>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0" y="0"/>
            <a:ext cx="9144000" cy="777240"/>
          </a:xfrm>
          <a:prstGeom prst="rect">
            <a:avLst/>
          </a:prstGeom>
          <a:solidFill>
            <a:srgbClr val="FF39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274320" y="73152"/>
            <a:ext cx="8595360" cy="640080"/>
          </a:xfrm>
          <a:prstGeom prst="rect">
            <a:avLst/>
          </a:prstGeom>
          <a:noFill/>
        </p:spPr>
        <p:txBody>
          <a:bodyPr wrap="square">
            <a:spAutoFit/>
          </a:bodyPr>
          <a:lstStyle/>
          <a:p>
            <a:pPr algn="ctr"/>
            <a:r>
              <a:rPr sz="2600" b="1" i="0">
                <a:solidFill>
                  <a:srgbClr val="FFFFFF"/>
                </a:solidFill>
                <a:latin typeface="Hiragino Kaku Gothic ProN"/>
              </a:rPr>
              <a:t>第2週の研修　お疲れさまでした！</a:t>
            </a:r>
          </a:p>
        </p:txBody>
      </p:sp>
      <p:sp>
        <p:nvSpPr>
          <p:cNvPr id="50" name="TextBox 49"/>
          <p:cNvSpPr txBox="1"/>
          <p:nvPr/>
        </p:nvSpPr>
        <p:spPr>
          <a:xfrm>
            <a:off x="274320" y="777240"/>
            <a:ext cx="8595360" cy="384048"/>
          </a:xfrm>
          <a:prstGeom prst="rect">
            <a:avLst/>
          </a:prstGeom>
          <a:noFill/>
        </p:spPr>
        <p:txBody>
          <a:bodyPr wrap="square">
            <a:spAutoFit/>
          </a:bodyPr>
          <a:lstStyle/>
          <a:p>
            <a:pPr algn="ctr"/>
            <a:r>
              <a:rPr sz="1300" b="0" i="0">
                <a:solidFill>
                  <a:srgbClr val="666666"/>
                </a:solidFill>
                <a:latin typeface="Hiragino Kaku Gothic ProN"/>
              </a:rPr>
              <a:t>TORIHADA クリエイターネットワーク研修</a:t>
            </a:r>
          </a:p>
        </p:txBody>
      </p:sp>
      <p:pic>
        <p:nvPicPr>
          <p:cNvPr id="51" name="Picture 50" descr="image-2-1.png"/>
          <p:cNvPicPr>
            <a:picLocks noChangeAspect="1"/>
          </p:cNvPicPr>
          <p:nvPr/>
        </p:nvPicPr>
        <p:blipFill>
          <a:blip r:embed="rId2"/>
          <a:stretch>
            <a:fillRect/>
          </a:stretch>
        </p:blipFill>
        <p:spPr>
          <a:xfrm>
            <a:off x="274320" y="1234440"/>
            <a:ext cx="1371600" cy="1371600"/>
          </a:xfrm>
          <a:prstGeom prst="rect">
            <a:avLst/>
          </a:prstGeom>
        </p:spPr>
      </p:pic>
      <p:pic>
        <p:nvPicPr>
          <p:cNvPr id="52" name="Picture 51" descr="image-6-1.png"/>
          <p:cNvPicPr>
            <a:picLocks noChangeAspect="1"/>
          </p:cNvPicPr>
          <p:nvPr/>
        </p:nvPicPr>
        <p:blipFill>
          <a:blip r:embed="rId3"/>
          <a:stretch>
            <a:fillRect/>
          </a:stretch>
        </p:blipFill>
        <p:spPr>
          <a:xfrm>
            <a:off x="3886200" y="1234440"/>
            <a:ext cx="1371600" cy="1371600"/>
          </a:xfrm>
          <a:prstGeom prst="rect">
            <a:avLst/>
          </a:prstGeom>
        </p:spPr>
      </p:pic>
      <p:pic>
        <p:nvPicPr>
          <p:cNvPr id="53" name="Picture 52" descr="image-1-2.png"/>
          <p:cNvPicPr>
            <a:picLocks noChangeAspect="1"/>
          </p:cNvPicPr>
          <p:nvPr/>
        </p:nvPicPr>
        <p:blipFill>
          <a:blip r:embed="rId4"/>
          <a:stretch>
            <a:fillRect/>
          </a:stretch>
        </p:blipFill>
        <p:spPr>
          <a:xfrm>
            <a:off x="7498079" y="1234440"/>
            <a:ext cx="1371600" cy="1371600"/>
          </a:xfrm>
          <a:prstGeom prst="rect">
            <a:avLst/>
          </a:prstGeom>
        </p:spPr>
      </p:pic>
      <p:sp>
        <p:nvSpPr>
          <p:cNvPr id="54" name="Rounded Rectangle 53"/>
          <p:cNvSpPr/>
          <p:nvPr/>
        </p:nvSpPr>
        <p:spPr>
          <a:xfrm>
            <a:off x="502920" y="2788920"/>
            <a:ext cx="8138160" cy="566928"/>
          </a:xfrm>
          <a:prstGeom prst="roundRect">
            <a:avLst/>
          </a:prstGeom>
          <a:solidFill>
            <a:srgbClr val="FFECF5"/>
          </a:solidFill>
          <a:ln w="15240">
            <a:solidFill>
              <a:srgbClr val="FFD6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ounded Rectangle 54"/>
          <p:cNvSpPr/>
          <p:nvPr/>
        </p:nvSpPr>
        <p:spPr>
          <a:xfrm>
            <a:off x="548640" y="2843784"/>
            <a:ext cx="457200" cy="457200"/>
          </a:xfrm>
          <a:prstGeom prst="roundRect">
            <a:avLst/>
          </a:prstGeom>
          <a:solidFill>
            <a:srgbClr val="FF39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548640" y="2866644"/>
            <a:ext cx="457200" cy="411480"/>
          </a:xfrm>
          <a:prstGeom prst="rect">
            <a:avLst/>
          </a:prstGeom>
          <a:noFill/>
        </p:spPr>
        <p:txBody>
          <a:bodyPr wrap="square">
            <a:spAutoFit/>
          </a:bodyPr>
          <a:lstStyle/>
          <a:p>
            <a:pPr algn="ctr"/>
            <a:r>
              <a:rPr sz="1400" b="1" i="0">
                <a:solidFill>
                  <a:srgbClr val="FFFFFF"/>
                </a:solidFill>
                <a:latin typeface="Hiragino Kaku Gothic ProN"/>
              </a:rPr>
              <a:t>1</a:t>
            </a:r>
          </a:p>
        </p:txBody>
      </p:sp>
      <p:sp>
        <p:nvSpPr>
          <p:cNvPr id="57" name="TextBox 56"/>
          <p:cNvSpPr txBox="1"/>
          <p:nvPr/>
        </p:nvSpPr>
        <p:spPr>
          <a:xfrm>
            <a:off x="1143000" y="2880360"/>
            <a:ext cx="7406640" cy="411480"/>
          </a:xfrm>
          <a:prstGeom prst="rect">
            <a:avLst/>
          </a:prstGeom>
          <a:noFill/>
        </p:spPr>
        <p:txBody>
          <a:bodyPr wrap="square">
            <a:spAutoFit/>
          </a:bodyPr>
          <a:lstStyle/>
          <a:p>
            <a:pPr algn="l"/>
            <a:r>
              <a:rPr sz="1200" b="0" i="0">
                <a:solidFill>
                  <a:srgbClr val="1A1A1A"/>
                </a:solidFill>
                <a:latin typeface="Hiragino Kaku Gothic ProN"/>
              </a:rPr>
              <a:t>法律・規約・契約を守るクリエイターは、企業から最も信頼される</a:t>
            </a:r>
          </a:p>
        </p:txBody>
      </p:sp>
      <p:sp>
        <p:nvSpPr>
          <p:cNvPr id="58" name="Rounded Rectangle 57"/>
          <p:cNvSpPr/>
          <p:nvPr/>
        </p:nvSpPr>
        <p:spPr>
          <a:xfrm>
            <a:off x="502920" y="3474720"/>
            <a:ext cx="8138160" cy="566928"/>
          </a:xfrm>
          <a:prstGeom prst="roundRect">
            <a:avLst/>
          </a:prstGeom>
          <a:solidFill>
            <a:srgbClr val="FFECF5"/>
          </a:solidFill>
          <a:ln w="15240">
            <a:solidFill>
              <a:srgbClr val="FFD6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ounded Rectangle 58"/>
          <p:cNvSpPr/>
          <p:nvPr/>
        </p:nvSpPr>
        <p:spPr>
          <a:xfrm>
            <a:off x="548640" y="3529584"/>
            <a:ext cx="457200" cy="457200"/>
          </a:xfrm>
          <a:prstGeom prst="roundRect">
            <a:avLst/>
          </a:prstGeom>
          <a:solidFill>
            <a:srgbClr val="FF39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548640" y="3552444"/>
            <a:ext cx="457200" cy="411480"/>
          </a:xfrm>
          <a:prstGeom prst="rect">
            <a:avLst/>
          </a:prstGeom>
          <a:noFill/>
        </p:spPr>
        <p:txBody>
          <a:bodyPr wrap="square">
            <a:spAutoFit/>
          </a:bodyPr>
          <a:lstStyle/>
          <a:p>
            <a:pPr algn="ctr"/>
            <a:r>
              <a:rPr sz="1400" b="1" i="0">
                <a:solidFill>
                  <a:srgbClr val="FFFFFF"/>
                </a:solidFill>
                <a:latin typeface="Hiragino Kaku Gothic ProN"/>
              </a:rPr>
              <a:t>2</a:t>
            </a:r>
          </a:p>
        </p:txBody>
      </p:sp>
      <p:sp>
        <p:nvSpPr>
          <p:cNvPr id="61" name="TextBox 60"/>
          <p:cNvSpPr txBox="1"/>
          <p:nvPr/>
        </p:nvSpPr>
        <p:spPr>
          <a:xfrm>
            <a:off x="1143000" y="3566160"/>
            <a:ext cx="7406640" cy="411480"/>
          </a:xfrm>
          <a:prstGeom prst="rect">
            <a:avLst/>
          </a:prstGeom>
          <a:noFill/>
        </p:spPr>
        <p:txBody>
          <a:bodyPr wrap="square">
            <a:spAutoFit/>
          </a:bodyPr>
          <a:lstStyle/>
          <a:p>
            <a:pPr algn="l"/>
            <a:r>
              <a:rPr sz="1200" b="0" i="0">
                <a:solidFill>
                  <a:srgbClr val="1A1A1A"/>
                </a:solidFill>
                <a:latin typeface="Hiragino Kaku Gothic ProN"/>
              </a:rPr>
              <a:t>修正指示の意図を理解し、安全な発信を心がけることが「継続的な案件獲得」への近道</a:t>
            </a:r>
          </a:p>
        </p:txBody>
      </p:sp>
      <p:sp>
        <p:nvSpPr>
          <p:cNvPr id="62" name="Rounded Rectangle 61"/>
          <p:cNvSpPr/>
          <p:nvPr/>
        </p:nvSpPr>
        <p:spPr>
          <a:xfrm>
            <a:off x="502920" y="4160520"/>
            <a:ext cx="8138160" cy="566928"/>
          </a:xfrm>
          <a:prstGeom prst="roundRect">
            <a:avLst/>
          </a:prstGeom>
          <a:solidFill>
            <a:srgbClr val="FFECF5"/>
          </a:solidFill>
          <a:ln w="15240">
            <a:solidFill>
              <a:srgbClr val="FFD6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ounded Rectangle 62"/>
          <p:cNvSpPr/>
          <p:nvPr/>
        </p:nvSpPr>
        <p:spPr>
          <a:xfrm>
            <a:off x="548640" y="4215383"/>
            <a:ext cx="457200" cy="457200"/>
          </a:xfrm>
          <a:prstGeom prst="roundRect">
            <a:avLst/>
          </a:prstGeom>
          <a:solidFill>
            <a:srgbClr val="FF39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548640" y="4238244"/>
            <a:ext cx="457200" cy="411480"/>
          </a:xfrm>
          <a:prstGeom prst="rect">
            <a:avLst/>
          </a:prstGeom>
          <a:noFill/>
        </p:spPr>
        <p:txBody>
          <a:bodyPr wrap="square">
            <a:spAutoFit/>
          </a:bodyPr>
          <a:lstStyle/>
          <a:p>
            <a:pPr algn="ctr"/>
            <a:r>
              <a:rPr sz="1400" b="1" i="0">
                <a:solidFill>
                  <a:srgbClr val="FFFFFF"/>
                </a:solidFill>
                <a:latin typeface="Hiragino Kaku Gothic ProN"/>
              </a:rPr>
              <a:t>3</a:t>
            </a:r>
          </a:p>
        </p:txBody>
      </p:sp>
      <p:sp>
        <p:nvSpPr>
          <p:cNvPr id="65" name="TextBox 64"/>
          <p:cNvSpPr txBox="1"/>
          <p:nvPr/>
        </p:nvSpPr>
        <p:spPr>
          <a:xfrm>
            <a:off x="1143000" y="4251959"/>
            <a:ext cx="7406640" cy="411480"/>
          </a:xfrm>
          <a:prstGeom prst="rect">
            <a:avLst/>
          </a:prstGeom>
          <a:noFill/>
        </p:spPr>
        <p:txBody>
          <a:bodyPr wrap="square">
            <a:spAutoFit/>
          </a:bodyPr>
          <a:lstStyle/>
          <a:p>
            <a:pPr algn="l"/>
            <a:r>
              <a:rPr sz="1200" b="0" i="0">
                <a:solidFill>
                  <a:srgbClr val="1A1A1A"/>
                </a:solidFill>
                <a:latin typeface="Hiragino Kaku Gothic ProN"/>
              </a:rPr>
              <a:t>ルールは表現を縛るものではなく、あなたのキャリアを守る「盾」</a:t>
            </a:r>
          </a:p>
        </p:txBody>
      </p:sp>
      <p:sp>
        <p:nvSpPr>
          <p:cNvPr id="66" name="Rounded Rectangle 65"/>
          <p:cNvSpPr/>
          <p:nvPr/>
        </p:nvSpPr>
        <p:spPr>
          <a:xfrm>
            <a:off x="320040" y="4681728"/>
            <a:ext cx="8503920" cy="329184"/>
          </a:xfrm>
          <a:prstGeom prst="roundRect">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457200" y="4700016"/>
            <a:ext cx="8229600" cy="274320"/>
          </a:xfrm>
          <a:prstGeom prst="rect">
            <a:avLst/>
          </a:prstGeom>
          <a:noFill/>
        </p:spPr>
        <p:txBody>
          <a:bodyPr wrap="square">
            <a:spAutoFit/>
          </a:bodyPr>
          <a:lstStyle/>
          <a:p>
            <a:pPr algn="ctr"/>
            <a:r>
              <a:rPr sz="1100" b="1" i="1">
                <a:solidFill>
                  <a:srgbClr val="1A1A1A"/>
                </a:solidFill>
                <a:latin typeface="Hiragino Kaku Gothic ProN"/>
              </a:rPr>
              <a:t>才能が扉を開く。あなたを部屋に留まらせるのは、プロとしての信頼です。</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