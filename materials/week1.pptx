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2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86000" y="182880"/>
            <a:ext cx="4572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FF4DB8">
                    <a:alpha val="15000"/>
                  </a:srgbClr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?</a:t>
            </a:r>
            <a:endParaRPr lang="en-US" sz="32000" dirty="0"/>
          </a:p>
        </p:txBody>
      </p:sp>
      <p:pic>
        <p:nvPicPr>
          <p:cNvPr id="58" name="Image 0" descr="C:\Users\長澤開\Downloads\pptx-editor\public\illustrations\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0"/>
            <a:ext cx="1371600" cy="1371600"/>
          </a:xfrm>
          <a:prstGeom prst="rect">
            <a:avLst/>
          </a:prstGeom>
        </p:spPr>
      </p:pic>
      <p:pic>
        <p:nvPicPr>
          <p:cNvPr id="59" name="Image 1" descr="C:\Users\長澤開\Downloads\pptx-editor\public\illustrations\growth-grap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11480"/>
            <a:ext cx="1737360" cy="1371600"/>
          </a:xfrm>
          <a:prstGeom prst="rect">
            <a:avLst/>
          </a:prstGeom>
        </p:spPr>
      </p:pic>
      <p:pic>
        <p:nvPicPr>
          <p:cNvPr id="60" name="Image 2" descr="C:\Users\長澤開\Downloads\pptx-editor\public\illustrations\coins-mon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3200400"/>
            <a:ext cx="1828800" cy="1463040"/>
          </a:xfrm>
          <a:prstGeom prst="rect">
            <a:avLst/>
          </a:prstGeom>
        </p:spPr>
      </p:pic>
      <p:pic>
        <p:nvPicPr>
          <p:cNvPr id="61" name="Image 3" descr="C:\Users\長澤開\Downloads\pptx-editor\public\illustrations\star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7772400" y="3474720"/>
            <a:ext cx="1005840" cy="1005840"/>
          </a:xfrm>
          <a:prstGeom prst="rect">
            <a:avLst/>
          </a:prstGeom>
        </p:spPr>
      </p:pic>
      <p:pic>
        <p:nvPicPr>
          <p:cNvPr id="62" name="Image 4" descr="C:\Users\長澤開\Downloads\pptx-editor\public\illustrations\star.png">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137160" y="2103120"/>
            <a:ext cx="548640" cy="548640"/>
          </a:xfrm>
          <a:prstGeom prst="rect">
            <a:avLst/>
          </a:prstGeom>
        </p:spPr>
      </p:pic>
      <p:sp>
        <p:nvSpPr>
          <p:cNvPr id="63" name="Shape 56"/>
          <p:cNvSpPr/>
          <p:nvPr/>
        </p:nvSpPr>
        <p:spPr>
          <a:xfrm>
            <a:off x="1097280" y="1627632"/>
            <a:ext cx="6949440" cy="1078992"/>
          </a:xfrm>
          <a:prstGeom prst="rect">
            <a:avLst/>
          </a:prstGeom>
          <a:solidFill>
            <a:srgbClr val="FFFFFF"/>
          </a:solidFill>
          <a:ln w="31750">
            <a:solidFill>
              <a:srgbClr val="264653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1207008" y="1682496"/>
            <a:ext cx="67299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spc="100" kern="0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Torihada-Creator-License-Center</a:t>
            </a:r>
            <a:endParaRPr lang="en-US" sz="2700" dirty="0"/>
          </a:p>
        </p:txBody>
      </p:sp>
      <p:sp>
        <p:nvSpPr>
          <p:cNvPr id="65" name="Shape 58"/>
          <p:cNvSpPr/>
          <p:nvPr/>
        </p:nvSpPr>
        <p:spPr>
          <a:xfrm>
            <a:off x="1207008" y="1728216"/>
            <a:ext cx="6729984" cy="45720"/>
          </a:xfrm>
          <a:prstGeom prst="rect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1207008" y="2633472"/>
            <a:ext cx="6729984" cy="45720"/>
          </a:xfrm>
          <a:prstGeom prst="rect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7" name="Text 60"/>
          <p:cNvSpPr/>
          <p:nvPr/>
        </p:nvSpPr>
        <p:spPr>
          <a:xfrm>
            <a:off x="1645920" y="2834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～ プロクリエイターになるために ～</a:t>
            </a:r>
            <a:endParaRPr lang="en-US" sz="1600" dirty="0"/>
          </a:p>
        </p:txBody>
      </p:sp>
      <p:sp>
        <p:nvSpPr>
          <p:cNvPr id="68" name="Shape 6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69" name="Text 6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Torihada-Creator-License-Center  ／  クリエイター研修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この動画で学ぶこと</a:t>
            </a:r>
            <a:endParaRPr lang="en-US" sz="3200" dirty="0"/>
          </a:p>
        </p:txBody>
      </p:sp>
      <p:sp>
        <p:nvSpPr>
          <p:cNvPr id="58" name="Shape 56"/>
          <p:cNvSpPr/>
          <p:nvPr/>
        </p:nvSpPr>
        <p:spPr>
          <a:xfrm>
            <a:off x="457200" y="850392"/>
            <a:ext cx="8229600" cy="36576"/>
          </a:xfrm>
          <a:prstGeom prst="rect">
            <a:avLst/>
          </a:prstGeom>
          <a:solidFill>
            <a:srgbClr val="FFB3E0"/>
          </a:solidFill>
          <a:ln w="12700">
            <a:solidFill>
              <a:srgbClr val="FFB3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" y="96012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60" name="Image 0" descr="C:\Users\長澤開\Downloads\pptx-editor\public\illustrations\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051560"/>
            <a:ext cx="1828800" cy="1417320"/>
          </a:xfrm>
          <a:prstGeom prst="rect">
            <a:avLst/>
          </a:prstGeom>
        </p:spPr>
      </p:pic>
      <p:sp>
        <p:nvSpPr>
          <p:cNvPr id="61" name="Shape 58"/>
          <p:cNvSpPr/>
          <p:nvPr/>
        </p:nvSpPr>
        <p:spPr>
          <a:xfrm>
            <a:off x="566928" y="2578608"/>
            <a:ext cx="548640" cy="54864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66928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800" dirty="0"/>
          </a:p>
        </p:txBody>
      </p:sp>
      <p:sp>
        <p:nvSpPr>
          <p:cNvPr id="63" name="Text 60"/>
          <p:cNvSpPr/>
          <p:nvPr/>
        </p:nvSpPr>
        <p:spPr>
          <a:xfrm>
            <a:off x="594360" y="3200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3者構造を理解する</a:t>
            </a:r>
            <a:endParaRPr lang="en-US" sz="1500" dirty="0"/>
          </a:p>
        </p:txBody>
      </p:sp>
      <p:sp>
        <p:nvSpPr>
          <p:cNvPr id="64" name="Text 61"/>
          <p:cNvSpPr/>
          <p:nvPr/>
        </p:nvSpPr>
        <p:spPr>
          <a:xfrm>
            <a:off x="594360" y="3794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広告主・TORIHADA・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クリエイターの関係と責任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3291840" y="96012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66" name="Image 1" descr="C:\Users\長澤開\Downloads\pptx-editor\public\illustrations\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051560"/>
            <a:ext cx="1828800" cy="1417320"/>
          </a:xfrm>
          <a:prstGeom prst="rect">
            <a:avLst/>
          </a:prstGeom>
        </p:spPr>
      </p:pic>
      <p:sp>
        <p:nvSpPr>
          <p:cNvPr id="67" name="Shape 63"/>
          <p:cNvSpPr/>
          <p:nvPr/>
        </p:nvSpPr>
        <p:spPr>
          <a:xfrm>
            <a:off x="3401568" y="2578608"/>
            <a:ext cx="548640" cy="54864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3401568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800" dirty="0"/>
          </a:p>
        </p:txBody>
      </p:sp>
      <p:sp>
        <p:nvSpPr>
          <p:cNvPr id="69" name="Text 65"/>
          <p:cNvSpPr/>
          <p:nvPr/>
        </p:nvSpPr>
        <p:spPr>
          <a:xfrm>
            <a:off x="3429000" y="3200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研修済みフラグの価値</a:t>
            </a:r>
            <a:endParaRPr lang="en-US" sz="1500" dirty="0"/>
          </a:p>
        </p:txBody>
      </p:sp>
      <p:sp>
        <p:nvSpPr>
          <p:cNvPr id="70" name="Text 66"/>
          <p:cNvSpPr/>
          <p:nvPr/>
        </p:nvSpPr>
        <p:spPr>
          <a:xfrm>
            <a:off x="3429000" y="3794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優先的に案件オファーが届く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仕組みを知る</a:t>
            </a:r>
            <a:endParaRPr lang="en-US" sz="1200" dirty="0"/>
          </a:p>
        </p:txBody>
      </p:sp>
      <p:sp>
        <p:nvSpPr>
          <p:cNvPr id="71" name="Shape 67"/>
          <p:cNvSpPr/>
          <p:nvPr/>
        </p:nvSpPr>
        <p:spPr>
          <a:xfrm>
            <a:off x="6126480" y="96012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72" name="Image 2" descr="C:\Users\長澤開\Downloads\pptx-editor\public\illustrations\light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51560"/>
            <a:ext cx="1828800" cy="1417320"/>
          </a:xfrm>
          <a:prstGeom prst="rect">
            <a:avLst/>
          </a:prstGeom>
        </p:spPr>
      </p:pic>
      <p:sp>
        <p:nvSpPr>
          <p:cNvPr id="73" name="Shape 68"/>
          <p:cNvSpPr/>
          <p:nvPr/>
        </p:nvSpPr>
        <p:spPr>
          <a:xfrm>
            <a:off x="6236208" y="2578608"/>
            <a:ext cx="548640" cy="54864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74" name="Text 69"/>
          <p:cNvSpPr/>
          <p:nvPr/>
        </p:nvSpPr>
        <p:spPr>
          <a:xfrm>
            <a:off x="6236208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800" dirty="0"/>
          </a:p>
        </p:txBody>
      </p:sp>
      <p:sp>
        <p:nvSpPr>
          <p:cNvPr id="75" name="Text 70"/>
          <p:cNvSpPr/>
          <p:nvPr/>
        </p:nvSpPr>
        <p:spPr>
          <a:xfrm>
            <a:off x="6263640" y="3200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プロとは何か</a:t>
            </a:r>
            <a:endParaRPr lang="en-US" sz="1500" dirty="0"/>
          </a:p>
        </p:txBody>
      </p:sp>
      <p:sp>
        <p:nvSpPr>
          <p:cNvPr id="76" name="Text 71"/>
          <p:cNvSpPr/>
          <p:nvPr/>
        </p:nvSpPr>
        <p:spPr>
          <a:xfrm>
            <a:off x="6263640" y="3794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フォロワー数ではなく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ビジネス基本が求められる理由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PR案件の「3者構造」を理解しよう</a:t>
            </a:r>
            <a:endParaRPr lang="en-US" sz="2600" dirty="0"/>
          </a:p>
        </p:txBody>
      </p:sp>
      <p:sp>
        <p:nvSpPr>
          <p:cNvPr id="58" name="Shape 56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FFB3E0"/>
          </a:solidFill>
          <a:ln w="12700">
            <a:solidFill>
              <a:srgbClr val="FFB3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914400"/>
            <a:ext cx="9144000" cy="3566160"/>
          </a:xfrm>
          <a:prstGeom prst="rect">
            <a:avLst/>
          </a:prstGeom>
          <a:solidFill>
            <a:srgbClr val="FFE6F3"/>
          </a:solidFill>
          <a:ln w="12700">
            <a:solidFill>
              <a:srgbClr val="FFE6F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0040" y="109728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1" name="Image 0" descr="C:\Users\長澤開\Downloads\pptx-editor\public\illustrations\bar-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1828800" cy="1371600"/>
          </a:xfrm>
          <a:prstGeom prst="rect">
            <a:avLst/>
          </a:prstGeom>
        </p:spPr>
      </p:pic>
      <p:sp>
        <p:nvSpPr>
          <p:cNvPr id="62" name="Text 59"/>
          <p:cNvSpPr/>
          <p:nvPr/>
        </p:nvSpPr>
        <p:spPr>
          <a:xfrm>
            <a:off x="411480" y="2606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広告主様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（クライアント）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411480" y="32918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商品・サービスをPRしたい企業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3246120" y="109728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5" name="Image 1" descr="C:\Users\長澤開\Downloads\pptx-editor\public\illustrations\people-network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7600" y="1188720"/>
            <a:ext cx="1828800" cy="1371600"/>
          </a:xfrm>
          <a:prstGeom prst="rect">
            <a:avLst/>
          </a:prstGeom>
        </p:spPr>
      </p:pic>
      <p:sp>
        <p:nvSpPr>
          <p:cNvPr id="66" name="Text 62"/>
          <p:cNvSpPr/>
          <p:nvPr/>
        </p:nvSpPr>
        <p:spPr>
          <a:xfrm>
            <a:off x="3337560" y="2606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TORIHADA</a:t>
            </a:r>
            <a:endParaRPr lang="en-US" sz="1600" dirty="0"/>
          </a:p>
        </p:txBody>
      </p:sp>
      <p:sp>
        <p:nvSpPr>
          <p:cNvPr id="67" name="Text 63"/>
          <p:cNvSpPr/>
          <p:nvPr/>
        </p:nvSpPr>
        <p:spPr>
          <a:xfrm>
            <a:off x="3337560" y="32918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案件をマネジメントし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クリエイターに委託</a:t>
            </a:r>
            <a:endParaRPr lang="en-US" sz="1200" dirty="0"/>
          </a:p>
        </p:txBody>
      </p:sp>
      <p:sp>
        <p:nvSpPr>
          <p:cNvPr id="68" name="Shape 64"/>
          <p:cNvSpPr/>
          <p:nvPr/>
        </p:nvSpPr>
        <p:spPr>
          <a:xfrm>
            <a:off x="6172200" y="109728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9" name="Image 2" descr="C:\Users\長澤開\Downloads\pptx-editor\public\illustrations\video-creator.sv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83680" y="1188720"/>
            <a:ext cx="1828800" cy="1371600"/>
          </a:xfrm>
          <a:prstGeom prst="rect">
            <a:avLst/>
          </a:prstGeom>
        </p:spPr>
      </p:pic>
      <p:sp>
        <p:nvSpPr>
          <p:cNvPr id="70" name="Text 65"/>
          <p:cNvSpPr/>
          <p:nvPr/>
        </p:nvSpPr>
        <p:spPr>
          <a:xfrm>
            <a:off x="6263640" y="2606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クリエイター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（あなた）</a:t>
            </a:r>
            <a:endParaRPr lang="en-US" sz="1600" dirty="0"/>
          </a:p>
        </p:txBody>
      </p:sp>
      <p:sp>
        <p:nvSpPr>
          <p:cNvPr id="71" name="Text 66"/>
          <p:cNvSpPr/>
          <p:nvPr/>
        </p:nvSpPr>
        <p:spPr>
          <a:xfrm>
            <a:off x="6263640" y="32918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動画を制作・投稿し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報酬を受け取る</a:t>
            </a:r>
            <a:endParaRPr lang="en-US" sz="1200" dirty="0"/>
          </a:p>
        </p:txBody>
      </p:sp>
      <p:sp>
        <p:nvSpPr>
          <p:cNvPr id="72" name="Text 67"/>
          <p:cNvSpPr/>
          <p:nvPr/>
        </p:nvSpPr>
        <p:spPr>
          <a:xfrm>
            <a:off x="3017520" y="24231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800" dirty="0"/>
          </a:p>
        </p:txBody>
      </p:sp>
      <p:sp>
        <p:nvSpPr>
          <p:cNvPr id="73" name="Text 68"/>
          <p:cNvSpPr/>
          <p:nvPr/>
        </p:nvSpPr>
        <p:spPr>
          <a:xfrm>
            <a:off x="5943600" y="24231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800" dirty="0"/>
          </a:p>
        </p:txBody>
      </p:sp>
      <p:sp>
        <p:nvSpPr>
          <p:cNvPr id="74" name="Shape 69"/>
          <p:cNvSpPr/>
          <p:nvPr/>
        </p:nvSpPr>
        <p:spPr>
          <a:xfrm>
            <a:off x="365760" y="4279392"/>
            <a:ext cx="8412480" cy="594360"/>
          </a:xfrm>
          <a:prstGeom prst="roundRect">
            <a:avLst>
              <a:gd name="adj" fmla="val 10769"/>
            </a:avLst>
          </a:prstGeom>
          <a:solidFill>
            <a:srgbClr val="FFF0F5"/>
          </a:solidFill>
          <a:ln w="19050">
            <a:solidFill>
              <a:srgbClr val="FF4DB8"/>
            </a:solidFill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502920" y="43159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【重要】あなたと広告主は直接契約していない。あなたの言動 ＝ TORIHADAの評価につながる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1480" y="373075"/>
            <a:ext cx="8321040" cy="344729"/>
          </a:xfrm>
          <a:prstGeom prst="rect">
            <a:avLst/>
          </a:prstGeom>
          <a:solidFill>
            <a:srgbClr val="FFE455"/>
          </a:solidFill>
          <a:ln w="12700">
            <a:solidFill>
              <a:srgbClr val="FFE4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研修済みフラグで「選ばれる」クリエイターになる</a:t>
            </a:r>
            <a:endParaRPr lang="en-US" sz="2200" dirty="0"/>
          </a:p>
        </p:txBody>
      </p:sp>
      <p:sp>
        <p:nvSpPr>
          <p:cNvPr id="59" name="Shape 57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FFB3E0"/>
          </a:solidFill>
          <a:ln w="12700">
            <a:solidFill>
              <a:srgbClr val="FFB3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" y="960120"/>
            <a:ext cx="3840480" cy="3749040"/>
          </a:xfrm>
          <a:prstGeom prst="roundRect">
            <a:avLst>
              <a:gd name="adj" fmla="val 2439"/>
            </a:avLst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65760" y="960120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9601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研修なし</a:t>
            </a:r>
            <a:endParaRPr lang="en-US" sz="1700" dirty="0"/>
          </a:p>
        </p:txBody>
      </p:sp>
      <p:sp>
        <p:nvSpPr>
          <p:cNvPr id="63" name="Text 61"/>
          <p:cNvSpPr/>
          <p:nvPr/>
        </p:nvSpPr>
        <p:spPr>
          <a:xfrm>
            <a:off x="548640" y="166420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39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 案件オファーの優先度：低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48640" y="232257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39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 クオリティ保証ができない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548640" y="298094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39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 クライアントへの説明が難しい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48640" y="363931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39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 案件進行リスクが高い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4251960" y="2286000"/>
            <a:ext cx="640080" cy="64008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51960" y="2313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4937760" y="960120"/>
            <a:ext cx="3840480" cy="3749040"/>
          </a:xfrm>
          <a:prstGeom prst="roundRect">
            <a:avLst>
              <a:gd name="adj" fmla="val 2439"/>
            </a:avLst>
          </a:prstGeom>
          <a:solidFill>
            <a:srgbClr val="FFF5FB"/>
          </a:solidFill>
          <a:ln w="19050">
            <a:solidFill>
              <a:srgbClr val="FF4DB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937760" y="960120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37760" y="9601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研修済み ✓</a:t>
            </a:r>
            <a:endParaRPr lang="en-US" sz="1700" dirty="0"/>
          </a:p>
        </p:txBody>
      </p:sp>
      <p:sp>
        <p:nvSpPr>
          <p:cNvPr id="72" name="Text 70"/>
          <p:cNvSpPr/>
          <p:nvPr/>
        </p:nvSpPr>
        <p:spPr>
          <a:xfrm>
            <a:off x="5120640" y="166420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案件オファーの優先度：高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5120640" y="232257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クオリティ保証済みとして紹介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5120640" y="298094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クライアントへの期待値コントロール可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5120640" y="363931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案件進行がスムーズ</a:t>
            </a:r>
            <a:endParaRPr lang="en-US" sz="1300" dirty="0"/>
          </a:p>
        </p:txBody>
      </p:sp>
      <p:pic>
        <p:nvPicPr>
          <p:cNvPr id="76" name="Image 0" descr="C:\Users\長澤開\Downloads\pptx-editor\public\illustrations\trophy-badge.svg">    </p:cNvPr>
          <p:cNvPicPr>
            <a:picLocks noChangeAspect="1"/>
          </p:cNvPicPr>
          <p:nvPr/>
        </p:nvPicPr>
        <p:blipFill>
          <a:blip r:embed="rId1">
            <a:alphaModFix amt="9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92240" y="4160520"/>
            <a:ext cx="1371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0040" y="235915"/>
            <a:ext cx="6035040" cy="344729"/>
          </a:xfrm>
          <a:prstGeom prst="rect">
            <a:avLst/>
          </a:prstGeom>
          <a:solidFill>
            <a:srgbClr val="FFE455"/>
          </a:solidFill>
          <a:ln w="12700">
            <a:solidFill>
              <a:srgbClr val="FFE4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572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プロのクリエイターとは？</a:t>
            </a:r>
            <a:endParaRPr lang="en-US" sz="3000" dirty="0"/>
          </a:p>
        </p:txBody>
      </p:sp>
      <p:sp>
        <p:nvSpPr>
          <p:cNvPr id="60" name="Text 58"/>
          <p:cNvSpPr/>
          <p:nvPr/>
        </p:nvSpPr>
        <p:spPr>
          <a:xfrm>
            <a:off x="36576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フォロワー数ではなく、4つのビジネスの基本を守れる人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72000" y="914400"/>
            <a:ext cx="0" cy="422910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pic>
        <p:nvPicPr>
          <p:cNvPr id="63" name="Image 0" descr="C:\Users\長澤開\Downloads\pptx-editor\public\illustrations\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1508760" cy="1508760"/>
          </a:xfrm>
          <a:prstGeom prst="rect">
            <a:avLst/>
          </a:prstGeom>
        </p:spPr>
      </p:pic>
      <p:sp>
        <p:nvSpPr>
          <p:cNvPr id="64" name="Text 61"/>
          <p:cNvSpPr/>
          <p:nvPr/>
        </p:nvSpPr>
        <p:spPr>
          <a:xfrm>
            <a:off x="2194560" y="1325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納期を守る</a:t>
            </a:r>
            <a:endParaRPr lang="en-US" sz="1500" dirty="0"/>
          </a:p>
        </p:txBody>
      </p:sp>
      <p:sp>
        <p:nvSpPr>
          <p:cNvPr id="65" name="Text 62"/>
          <p:cNvSpPr/>
          <p:nvPr/>
        </p:nvSpPr>
        <p:spPr>
          <a:xfrm>
            <a:off x="2194560" y="184708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期限を守ることが信頼の基本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遅れる場合は必ず事前連絡</a:t>
            </a:r>
            <a:endParaRPr lang="en-US" sz="1100" dirty="0"/>
          </a:p>
        </p:txBody>
      </p:sp>
      <p:pic>
        <p:nvPicPr>
          <p:cNvPr id="66" name="Image 1" descr="C:\Users\長澤開\Downloads\pptx-editor\public\illustrations\check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051560"/>
            <a:ext cx="1508760" cy="1508760"/>
          </a:xfrm>
          <a:prstGeom prst="rect">
            <a:avLst/>
          </a:prstGeom>
        </p:spPr>
      </p:pic>
      <p:sp>
        <p:nvSpPr>
          <p:cNvPr id="67" name="Text 63"/>
          <p:cNvSpPr/>
          <p:nvPr/>
        </p:nvSpPr>
        <p:spPr>
          <a:xfrm>
            <a:off x="6675120" y="1325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指示通りに動く</a:t>
            </a:r>
            <a:endParaRPr lang="en-US" sz="1500" dirty="0"/>
          </a:p>
        </p:txBody>
      </p:sp>
      <p:sp>
        <p:nvSpPr>
          <p:cNvPr id="68" name="Text 64"/>
          <p:cNvSpPr/>
          <p:nvPr/>
        </p:nvSpPr>
        <p:spPr>
          <a:xfrm>
            <a:off x="6675120" y="184708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ブリーフィングを正確に理解し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勝手な判断で進めない</a:t>
            </a:r>
            <a:endParaRPr lang="en-US" sz="1100" dirty="0"/>
          </a:p>
        </p:txBody>
      </p:sp>
      <p:pic>
        <p:nvPicPr>
          <p:cNvPr id="69" name="Image 2" descr="C:\Users\長澤開\Downloads\pptx-editor\public\illustrations\docu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54680"/>
            <a:ext cx="1508760" cy="1508760"/>
          </a:xfrm>
          <a:prstGeom prst="rect">
            <a:avLst/>
          </a:prstGeom>
        </p:spPr>
      </p:pic>
      <p:sp>
        <p:nvSpPr>
          <p:cNvPr id="70" name="Text 65"/>
          <p:cNvSpPr/>
          <p:nvPr/>
        </p:nvSpPr>
        <p:spPr>
          <a:xfrm>
            <a:off x="2194560" y="3429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情報を外に漏らさない</a:t>
            </a:r>
            <a:endParaRPr lang="en-US" sz="1500" dirty="0"/>
          </a:p>
        </p:txBody>
      </p:sp>
      <p:sp>
        <p:nvSpPr>
          <p:cNvPr id="71" name="Text 66"/>
          <p:cNvSpPr/>
          <p:nvPr/>
        </p:nvSpPr>
        <p:spPr>
          <a:xfrm>
            <a:off x="2194560" y="395020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案件内容・クライアント情報は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守秘義務あり（契約終了後1年）</a:t>
            </a:r>
            <a:endParaRPr lang="en-US" sz="1100" dirty="0"/>
          </a:p>
        </p:txBody>
      </p:sp>
      <p:pic>
        <p:nvPicPr>
          <p:cNvPr id="72" name="Image 3" descr="C:\Users\長澤開\Downloads\pptx-editor\public\illustrations\speech-bub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154680"/>
            <a:ext cx="1508760" cy="1508760"/>
          </a:xfrm>
          <a:prstGeom prst="rect">
            <a:avLst/>
          </a:prstGeom>
        </p:spPr>
      </p:pic>
      <p:sp>
        <p:nvSpPr>
          <p:cNvPr id="73" name="Text 67"/>
          <p:cNvSpPr/>
          <p:nvPr/>
        </p:nvSpPr>
        <p:spPr>
          <a:xfrm>
            <a:off x="6675120" y="3429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ミスは隠さず報告</a:t>
            </a:r>
            <a:endParaRPr lang="en-US" sz="1500" dirty="0"/>
          </a:p>
        </p:txBody>
      </p:sp>
      <p:sp>
        <p:nvSpPr>
          <p:cNvPr id="74" name="Text 68"/>
          <p:cNvSpPr/>
          <p:nvPr/>
        </p:nvSpPr>
        <p:spPr>
          <a:xfrm>
            <a:off x="6675120" y="395020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トラブルの早期共有が被害最小化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隠蔽は最大のNG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73152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　動画①</a:t>
            </a:r>
            <a:endParaRPr lang="en-US" sz="2200" dirty="0"/>
          </a:p>
        </p:txBody>
      </p:sp>
      <p:sp>
        <p:nvSpPr>
          <p:cNvPr id="59" name="Shape 57"/>
          <p:cNvSpPr/>
          <p:nvPr/>
        </p:nvSpPr>
        <p:spPr>
          <a:xfrm>
            <a:off x="457200" y="1005840"/>
            <a:ext cx="594360" cy="59436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188720" y="914400"/>
            <a:ext cx="74980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371600" y="987552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PR案件は「広告主・TORIHADA・クリエイター」の3者構造で動く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57200" y="2148840"/>
            <a:ext cx="594360" cy="59436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188720" y="2057400"/>
            <a:ext cx="74980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371600" y="2130552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研修修了フラグで、優先的に案件オファーが届く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57200" y="3291840"/>
            <a:ext cx="594360" cy="59436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188720" y="3200400"/>
            <a:ext cx="74980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371600" y="3273552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プロとは「ビジネスの基本を守れる人」のこと</a:t>
            </a:r>
            <a:endParaRPr lang="en-US" sz="1600" dirty="0"/>
          </a:p>
        </p:txBody>
      </p:sp>
      <p:pic>
        <p:nvPicPr>
          <p:cNvPr id="71" name="Image 0" descr="C:\Users\長澤開\Downloads\pptx-editor\public\illustrations\star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406640" y="3200400"/>
            <a:ext cx="1280160" cy="1005840"/>
          </a:xfrm>
          <a:prstGeom prst="rect">
            <a:avLst/>
          </a:prstGeom>
        </p:spPr>
      </p:pic>
      <p:sp>
        <p:nvSpPr>
          <p:cNvPr id="72" name="Shape 69"/>
          <p:cNvSpPr/>
          <p:nvPr/>
        </p:nvSpPr>
        <p:spPr>
          <a:xfrm>
            <a:off x="365760" y="4370832"/>
            <a:ext cx="8412480" cy="548640"/>
          </a:xfrm>
          <a:prstGeom prst="roundRect">
            <a:avLst>
              <a:gd name="adj" fmla="val 11667"/>
            </a:avLst>
          </a:prstGeom>
          <a:solidFill>
            <a:srgbClr val="FFF0F5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502920" y="441655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 Next  |  動画②：PR案件でやってはいけないこと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4D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0" y="91440"/>
            <a:ext cx="41148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0" b="1" dirty="0">
                <a:solidFill>
                  <a:srgbClr val="FFFFFF">
                    <a:alpha val="80000"/>
                  </a:srgbClr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30000" dirty="0"/>
          </a:p>
        </p:txBody>
      </p:sp>
      <p:pic>
        <p:nvPicPr>
          <p:cNvPr id="3" name="Image 0" descr="C:\Users\長澤開\Downloads\pptx-editor\public\illustrations\megaphone.svg">    </p:cNvPr>
          <p:cNvPicPr>
            <a:picLocks noChangeAspect="1"/>
          </p:cNvPicPr>
          <p:nvPr/>
        </p:nvPicPr>
        <p:blipFill>
          <a:blip r:embed="rId1">
            <a:alphaModFix amt="9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0" y="91440"/>
            <a:ext cx="2468880" cy="2194560"/>
          </a:xfrm>
          <a:prstGeom prst="rect">
            <a:avLst/>
          </a:prstGeom>
        </p:spPr>
      </p:pic>
      <p:pic>
        <p:nvPicPr>
          <p:cNvPr id="4" name="Image 1" descr="C:\Users\長澤開\Downloads\pptx-editor\public\illustrations\warning-person.svg">    </p:cNvPr>
          <p:cNvPicPr>
            <a:picLocks noChangeAspect="1"/>
          </p:cNvPicPr>
          <p:nvPr/>
        </p:nvPicPr>
        <p:blipFill>
          <a:blip r:embed="rId3">
            <a:alphaModFix amt="9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0" y="3108960"/>
            <a:ext cx="2011680" cy="1920240"/>
          </a:xfrm>
          <a:prstGeom prst="rect">
            <a:avLst/>
          </a:prstGeom>
        </p:spPr>
      </p:pic>
      <p:pic>
        <p:nvPicPr>
          <p:cNvPr id="5" name="Image 2" descr="C:\Users\長澤開\Downloads\pptx-editor\public\illustrations\arrow.png">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82880" y="3474720"/>
            <a:ext cx="1645920" cy="155448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2743200" y="1371600"/>
            <a:ext cx="576072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926080" y="160020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避けるべきNG行動</a:t>
            </a:r>
            <a:endParaRPr lang="en-US" sz="3800" dirty="0"/>
          </a:p>
        </p:txBody>
      </p:sp>
      <p:sp>
        <p:nvSpPr>
          <p:cNvPr id="8" name="Text 3"/>
          <p:cNvSpPr/>
          <p:nvPr/>
        </p:nvSpPr>
        <p:spPr>
          <a:xfrm>
            <a:off x="2926080" y="260604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PR案件でやってはいけないこと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この動画で学ぶこと</a:t>
            </a:r>
            <a:endParaRPr lang="en-US" sz="3200" dirty="0"/>
          </a:p>
        </p:txBody>
      </p:sp>
      <p:sp>
        <p:nvSpPr>
          <p:cNvPr id="58" name="Shape 56"/>
          <p:cNvSpPr/>
          <p:nvPr/>
        </p:nvSpPr>
        <p:spPr>
          <a:xfrm>
            <a:off x="457200" y="850392"/>
            <a:ext cx="8229600" cy="36576"/>
          </a:xfrm>
          <a:prstGeom prst="rect">
            <a:avLst/>
          </a:prstGeom>
          <a:solidFill>
            <a:srgbClr val="FFB3E0"/>
          </a:solidFill>
          <a:ln w="12700">
            <a:solidFill>
              <a:srgbClr val="FFB3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" y="96012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60" name="Image 0" descr="C:\Users\長澤開\Downloads\pptx-editor\public\illustrations\warning-pers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680" y="1051560"/>
            <a:ext cx="1828800" cy="1417320"/>
          </a:xfrm>
          <a:prstGeom prst="rect">
            <a:avLst/>
          </a:prstGeom>
        </p:spPr>
      </p:pic>
      <p:sp>
        <p:nvSpPr>
          <p:cNvPr id="61" name="Shape 58"/>
          <p:cNvSpPr/>
          <p:nvPr/>
        </p:nvSpPr>
        <p:spPr>
          <a:xfrm>
            <a:off x="566928" y="2578608"/>
            <a:ext cx="548640" cy="54864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66928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800" dirty="0"/>
          </a:p>
        </p:txBody>
      </p:sp>
      <p:sp>
        <p:nvSpPr>
          <p:cNvPr id="63" name="Text 60"/>
          <p:cNvSpPr/>
          <p:nvPr/>
        </p:nvSpPr>
        <p:spPr>
          <a:xfrm>
            <a:off x="594360" y="3200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4つのNGケース</a:t>
            </a:r>
            <a:endParaRPr lang="en-US" sz="1500" dirty="0"/>
          </a:p>
        </p:txBody>
      </p:sp>
      <p:sp>
        <p:nvSpPr>
          <p:cNvPr id="64" name="Text 61"/>
          <p:cNvSpPr/>
          <p:nvPr/>
        </p:nvSpPr>
        <p:spPr>
          <a:xfrm>
            <a:off x="594360" y="3794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実際に起きがちな違反行為を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具体的な事例で確認する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3291840" y="96012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66" name="Image 1" descr="C:\Users\長澤開\Downloads\pptx-editor\public\illustrations\shield-lock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3320" y="1051560"/>
            <a:ext cx="1828800" cy="1417320"/>
          </a:xfrm>
          <a:prstGeom prst="rect">
            <a:avLst/>
          </a:prstGeom>
        </p:spPr>
      </p:pic>
      <p:sp>
        <p:nvSpPr>
          <p:cNvPr id="67" name="Shape 63"/>
          <p:cNvSpPr/>
          <p:nvPr/>
        </p:nvSpPr>
        <p:spPr>
          <a:xfrm>
            <a:off x="3401568" y="2578608"/>
            <a:ext cx="548640" cy="54864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3401568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800" dirty="0"/>
          </a:p>
        </p:txBody>
      </p:sp>
      <p:sp>
        <p:nvSpPr>
          <p:cNvPr id="69" name="Text 65"/>
          <p:cNvSpPr/>
          <p:nvPr/>
        </p:nvSpPr>
        <p:spPr>
          <a:xfrm>
            <a:off x="3429000" y="3200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違反するとどうなるか</a:t>
            </a:r>
            <a:endParaRPr lang="en-US" sz="1500" dirty="0"/>
          </a:p>
        </p:txBody>
      </p:sp>
      <p:sp>
        <p:nvSpPr>
          <p:cNvPr id="70" name="Text 66"/>
          <p:cNvSpPr/>
          <p:nvPr/>
        </p:nvSpPr>
        <p:spPr>
          <a:xfrm>
            <a:off x="3429000" y="3794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損害賠償・契約解除など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リアルなリスクを理解する</a:t>
            </a:r>
            <a:endParaRPr lang="en-US" sz="1200" dirty="0"/>
          </a:p>
        </p:txBody>
      </p:sp>
      <p:sp>
        <p:nvSpPr>
          <p:cNvPr id="71" name="Shape 67"/>
          <p:cNvSpPr/>
          <p:nvPr/>
        </p:nvSpPr>
        <p:spPr>
          <a:xfrm>
            <a:off x="6126480" y="96012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72" name="Image 2" descr="C:\Users\長澤開\Downloads\pptx-editor\public\illustrations\contract-pen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7960" y="1051560"/>
            <a:ext cx="1828800" cy="1417320"/>
          </a:xfrm>
          <a:prstGeom prst="rect">
            <a:avLst/>
          </a:prstGeom>
        </p:spPr>
      </p:pic>
      <p:sp>
        <p:nvSpPr>
          <p:cNvPr id="73" name="Shape 68"/>
          <p:cNvSpPr/>
          <p:nvPr/>
        </p:nvSpPr>
        <p:spPr>
          <a:xfrm>
            <a:off x="6236208" y="2578608"/>
            <a:ext cx="548640" cy="54864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74" name="Text 69"/>
          <p:cNvSpPr/>
          <p:nvPr/>
        </p:nvSpPr>
        <p:spPr>
          <a:xfrm>
            <a:off x="6236208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800" dirty="0"/>
          </a:p>
        </p:txBody>
      </p:sp>
      <p:sp>
        <p:nvSpPr>
          <p:cNvPr id="75" name="Text 70"/>
          <p:cNvSpPr/>
          <p:nvPr/>
        </p:nvSpPr>
        <p:spPr>
          <a:xfrm>
            <a:off x="6263640" y="3200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根拠となる規約条項</a:t>
            </a:r>
            <a:endParaRPr lang="en-US" sz="1500" dirty="0"/>
          </a:p>
        </p:txBody>
      </p:sp>
      <p:sp>
        <p:nvSpPr>
          <p:cNvPr id="76" name="Text 71"/>
          <p:cNvSpPr/>
          <p:nvPr/>
        </p:nvSpPr>
        <p:spPr>
          <a:xfrm>
            <a:off x="6263640" y="3794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第8条・第13条・第17条・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第19条・第22条を押さえる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1480" y="373075"/>
            <a:ext cx="8321040" cy="344729"/>
          </a:xfrm>
          <a:prstGeom prst="rect">
            <a:avLst/>
          </a:prstGeom>
          <a:solidFill>
            <a:srgbClr val="FFE455"/>
          </a:solidFill>
          <a:ln w="12700">
            <a:solidFill>
              <a:srgbClr val="FFE4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やってはいけない！4つのNGケース</a:t>
            </a:r>
            <a:endParaRPr lang="en-US" sz="2600" dirty="0"/>
          </a:p>
        </p:txBody>
      </p:sp>
      <p:sp>
        <p:nvSpPr>
          <p:cNvPr id="59" name="Shape 57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FFB3E0"/>
          </a:solidFill>
          <a:ln w="12700">
            <a:solidFill>
              <a:srgbClr val="FFB3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" y="100584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57200" y="1143000"/>
            <a:ext cx="548640" cy="411480"/>
          </a:xfrm>
          <a:prstGeom prst="roundRect">
            <a:avLst>
              <a:gd name="adj" fmla="val 15556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11430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3749040" y="1143000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FFE6F3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749040" y="11430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第8条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097280" y="11704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競合他社の案件を同時受注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457200" y="169164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コスメ系案件Aの契約中に同カテゴリの別ブランドBのオファーを受注→ 即契約違反・降板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754880" y="100584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846320" y="1143000"/>
            <a:ext cx="548640" cy="411480"/>
          </a:xfrm>
          <a:prstGeom prst="roundRect">
            <a:avLst>
              <a:gd name="adj" fmla="val 15556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46320" y="11430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8138160" y="1143000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FFE6F3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138160" y="11430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第19条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486400" y="11704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案件情報をSNSに投稿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4846320" y="169164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「撮影楽しかった！🎬」と投稿→ クライアント名・商品が特定できる状態は守秘義務違反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365760" y="288036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457200" y="3017520"/>
            <a:ext cx="548640" cy="411480"/>
          </a:xfrm>
          <a:prstGeom prst="roundRect">
            <a:avLst>
              <a:gd name="adj" fmla="val 15556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30175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3749040" y="3017520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FFE6F3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749040" y="30175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第13条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1097280" y="30449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友人・知人に仕事を丸投げ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457200" y="356616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「後輩に撮影だけ頼んだ」「編集を外注した」→ 書面承諾なしの再委託はすべて禁止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4754880" y="288036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4846320" y="3017520"/>
            <a:ext cx="548640" cy="411480"/>
          </a:xfrm>
          <a:prstGeom prst="roundRect">
            <a:avLst>
              <a:gd name="adj" fmla="val 15556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46320" y="30175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8138160" y="3017520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FFE6F3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138160" y="30175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第8条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5486400" y="30449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品位を損なう言動・SNS投稿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4846320" y="356616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炎上発言・不適切投稿→ 広告主のブランドイメージに直結。即時解除・損害賠償の対象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🚫  こんなケースはNG！〜同日投稿編〜</a:t>
            </a:r>
            <a:endParaRPr lang="en-US" sz="2200" dirty="0"/>
          </a:p>
        </p:txBody>
      </p:sp>
      <p:sp>
        <p:nvSpPr>
          <p:cNvPr id="59" name="Shape 57"/>
          <p:cNvSpPr/>
          <p:nvPr/>
        </p:nvSpPr>
        <p:spPr>
          <a:xfrm>
            <a:off x="274320" y="96012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9F9"/>
          </a:solidFill>
          <a:ln w="15240">
            <a:solidFill>
              <a:srgbClr val="FFCCC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6032" y="978408"/>
            <a:ext cx="457200" cy="45720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6032" y="978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pic>
        <p:nvPicPr>
          <p:cNvPr id="62" name="Image 0" descr="C:\Users\長澤開\Downloads\pptx-editor\public\illustrations\smartphone-pr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" y="1024128"/>
            <a:ext cx="868680" cy="841248"/>
          </a:xfrm>
          <a:prstGeom prst="rect">
            <a:avLst/>
          </a:prstGeom>
        </p:spPr>
      </p:pic>
      <p:sp>
        <p:nvSpPr>
          <p:cNvPr id="63" name="Text 60"/>
          <p:cNvSpPr/>
          <p:nvPr/>
        </p:nvSpPr>
        <p:spPr>
          <a:xfrm>
            <a:off x="1719072" y="1024128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メイク系クリエイターAさん、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コスメブランドXのPR動画の投稿日を迎えた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1965960" y="21488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39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1800" dirty="0"/>
          </a:p>
        </p:txBody>
      </p:sp>
      <p:sp>
        <p:nvSpPr>
          <p:cNvPr id="65" name="Shape 62"/>
          <p:cNvSpPr/>
          <p:nvPr/>
        </p:nvSpPr>
        <p:spPr>
          <a:xfrm>
            <a:off x="274320" y="2542032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0F0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56032" y="2560320"/>
            <a:ext cx="457200" cy="45720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256032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pic>
        <p:nvPicPr>
          <p:cNvPr id="68" name="Image 1" descr="C:\Users\長澤開\Downloads\pptx-editor\public\illustrations\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841248" cy="804672"/>
          </a:xfrm>
          <a:prstGeom prst="rect">
            <a:avLst/>
          </a:prstGeom>
        </p:spPr>
      </p:pic>
      <p:sp>
        <p:nvSpPr>
          <p:cNvPr id="69" name="Text 65"/>
          <p:cNvSpPr/>
          <p:nvPr/>
        </p:nvSpPr>
        <p:spPr>
          <a:xfrm>
            <a:off x="1719072" y="2633472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同じ日に、別のメイク用品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ブランドYのPR投稿も公開してしまった！</a:t>
            </a:r>
            <a:endParaRPr lang="en-US" sz="1100" dirty="0"/>
          </a:p>
        </p:txBody>
      </p:sp>
      <p:sp>
        <p:nvSpPr>
          <p:cNvPr id="70" name="Text 66"/>
          <p:cNvSpPr/>
          <p:nvPr/>
        </p:nvSpPr>
        <p:spPr>
          <a:xfrm>
            <a:off x="4434840" y="263347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39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2200" dirty="0"/>
          </a:p>
        </p:txBody>
      </p:sp>
      <p:sp>
        <p:nvSpPr>
          <p:cNvPr id="71" name="Shape 67"/>
          <p:cNvSpPr/>
          <p:nvPr/>
        </p:nvSpPr>
        <p:spPr>
          <a:xfrm>
            <a:off x="4956048" y="960120"/>
            <a:ext cx="3886200" cy="1600200"/>
          </a:xfrm>
          <a:prstGeom prst="roundRect">
            <a:avLst>
              <a:gd name="adj" fmla="val 5714"/>
            </a:avLst>
          </a:prstGeom>
          <a:solidFill>
            <a:srgbClr val="FFF0F0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5074920" y="1033272"/>
            <a:ext cx="1600200" cy="347472"/>
          </a:xfrm>
          <a:prstGeom prst="roundRect">
            <a:avLst>
              <a:gd name="adj" fmla="val 18421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5074920" y="103327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どうなった？</a:t>
            </a:r>
            <a:endParaRPr lang="en-US" sz="1200" dirty="0"/>
          </a:p>
        </p:txBody>
      </p:sp>
      <p:pic>
        <p:nvPicPr>
          <p:cNvPr id="74" name="Image 2" descr="C:\Users\長澤開\Downloads\pptx-editor\public\illustrations\document.png">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8183880" y="1005840"/>
            <a:ext cx="594360" cy="594360"/>
          </a:xfrm>
          <a:prstGeom prst="rect">
            <a:avLst/>
          </a:prstGeom>
        </p:spPr>
      </p:pic>
      <p:sp>
        <p:nvSpPr>
          <p:cNvPr id="75" name="Text 70"/>
          <p:cNvSpPr/>
          <p:nvPr/>
        </p:nvSpPr>
        <p:spPr>
          <a:xfrm>
            <a:off x="5102352" y="1444752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 ブランドXから削除要請が入る</a:t>
            </a:r>
            <a:endParaRPr lang="en-US" sz="1100" dirty="0"/>
          </a:p>
        </p:txBody>
      </p:sp>
      <p:sp>
        <p:nvSpPr>
          <p:cNvPr id="76" name="Text 71"/>
          <p:cNvSpPr/>
          <p:nvPr/>
        </p:nvSpPr>
        <p:spPr>
          <a:xfrm>
            <a:off x="5102352" y="1792224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 案件降板・報酬全額没収リスク</a:t>
            </a:r>
            <a:endParaRPr lang="en-US" sz="1100" dirty="0"/>
          </a:p>
        </p:txBody>
      </p:sp>
      <p:sp>
        <p:nvSpPr>
          <p:cNvPr id="77" name="Text 72"/>
          <p:cNvSpPr/>
          <p:nvPr/>
        </p:nvSpPr>
        <p:spPr>
          <a:xfrm>
            <a:off x="5102352" y="2139696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 今後のオファー機会を失う</a:t>
            </a:r>
            <a:endParaRPr lang="en-US" sz="1100" dirty="0"/>
          </a:p>
        </p:txBody>
      </p:sp>
      <p:sp>
        <p:nvSpPr>
          <p:cNvPr id="78" name="Shape 73"/>
          <p:cNvSpPr/>
          <p:nvPr/>
        </p:nvSpPr>
        <p:spPr>
          <a:xfrm>
            <a:off x="4956048" y="2679192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9" name="Text 74"/>
          <p:cNvSpPr/>
          <p:nvPr/>
        </p:nvSpPr>
        <p:spPr>
          <a:xfrm>
            <a:off x="507492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📋  TORIHADAのルール（発注書特記事項）</a:t>
            </a:r>
            <a:endParaRPr lang="en-US" sz="1100" dirty="0"/>
          </a:p>
        </p:txBody>
      </p:sp>
      <p:sp>
        <p:nvSpPr>
          <p:cNvPr id="80" name="Text 75"/>
          <p:cNvSpPr/>
          <p:nvPr/>
        </p:nvSpPr>
        <p:spPr>
          <a:xfrm>
            <a:off x="5102352" y="31821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 PR投稿日に他のPR投稿を同日公開はNG</a:t>
            </a:r>
            <a:endParaRPr lang="en-US" sz="1100" dirty="0"/>
          </a:p>
        </p:txBody>
      </p:sp>
      <p:sp>
        <p:nvSpPr>
          <p:cNvPr id="81" name="Text 76"/>
          <p:cNvSpPr/>
          <p:nvPr/>
        </p:nvSpPr>
        <p:spPr>
          <a:xfrm>
            <a:off x="5102352" y="35112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 オーガニック投稿も同日はNG</a:t>
            </a:r>
            <a:endParaRPr lang="en-US" sz="1100" dirty="0"/>
          </a:p>
        </p:txBody>
      </p:sp>
      <p:sp>
        <p:nvSpPr>
          <p:cNvPr id="82" name="Text 77"/>
          <p:cNvSpPr/>
          <p:nvPr/>
        </p:nvSpPr>
        <p:spPr>
          <a:xfrm>
            <a:off x="5102352" y="3840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 やむを得ない場合は事前申告が必須</a:t>
            </a:r>
            <a:endParaRPr lang="en-US" sz="1100" dirty="0"/>
          </a:p>
        </p:txBody>
      </p:sp>
      <p:sp>
        <p:nvSpPr>
          <p:cNvPr id="83" name="Shape 78"/>
          <p:cNvSpPr/>
          <p:nvPr/>
        </p:nvSpPr>
        <p:spPr>
          <a:xfrm>
            <a:off x="274320" y="4407408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FFE6F3"/>
          </a:solidFill>
          <a:ln w="15240">
            <a:solidFill>
              <a:srgbClr val="FF4DB8"/>
            </a:solidFill>
            <a:prstDash val="solid"/>
          </a:ln>
        </p:spPr>
      </p:sp>
      <p:sp>
        <p:nvSpPr>
          <p:cNvPr id="84" name="Text 79"/>
          <p:cNvSpPr/>
          <p:nvPr/>
        </p:nvSpPr>
        <p:spPr>
          <a:xfrm>
            <a:off x="475488" y="44531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 「同日投稿禁止」は発注書の特記事項に明記されています。知らなかったでは通じません！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発注書（特記事項）で定められたNGルール</a:t>
            </a:r>
            <a:endParaRPr lang="en-US" sz="2000" dirty="0"/>
          </a:p>
        </p:txBody>
      </p:sp>
      <p:sp>
        <p:nvSpPr>
          <p:cNvPr id="59" name="Shape 57"/>
          <p:cNvSpPr/>
          <p:nvPr/>
        </p:nvSpPr>
        <p:spPr>
          <a:xfrm>
            <a:off x="274320" y="850392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274320" y="850392"/>
            <a:ext cx="128016" cy="12618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61" name="Image 0" descr="C:\Users\長澤開\Downloads\pptx-editor\public\illustrations\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069848"/>
            <a:ext cx="777240" cy="777240"/>
          </a:xfrm>
          <a:prstGeom prst="rect">
            <a:avLst/>
          </a:prstGeom>
        </p:spPr>
      </p:pic>
      <p:sp>
        <p:nvSpPr>
          <p:cNvPr id="62" name="Shape 59"/>
          <p:cNvSpPr/>
          <p:nvPr/>
        </p:nvSpPr>
        <p:spPr>
          <a:xfrm>
            <a:off x="3712464" y="969264"/>
            <a:ext cx="658368" cy="320040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712464" y="969264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1325880" y="101498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同日投稿禁止</a:t>
            </a:r>
            <a:endParaRPr lang="en-US" sz="1300" dirty="0"/>
          </a:p>
        </p:txBody>
      </p:sp>
      <p:sp>
        <p:nvSpPr>
          <p:cNvPr id="65" name="Text 62"/>
          <p:cNvSpPr/>
          <p:nvPr/>
        </p:nvSpPr>
        <p:spPr>
          <a:xfrm>
            <a:off x="1325880" y="1426464"/>
            <a:ext cx="2514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PR投稿日は他のPR・オーガニック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投稿を同日公開してはいけない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4709160" y="850392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4709160" y="850392"/>
            <a:ext cx="128016" cy="1261872"/>
          </a:xfrm>
          <a:prstGeom prst="rect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pic>
        <p:nvPicPr>
          <p:cNvPr id="68" name="Image 1" descr="C:\Users\長澤開\Downloads\pptx-editor\public\illustrations\docu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069848"/>
            <a:ext cx="777240" cy="777240"/>
          </a:xfrm>
          <a:prstGeom prst="rect">
            <a:avLst/>
          </a:prstGeom>
        </p:spPr>
      </p:pic>
      <p:sp>
        <p:nvSpPr>
          <p:cNvPr id="69" name="Shape 65"/>
          <p:cNvSpPr/>
          <p:nvPr/>
        </p:nvSpPr>
        <p:spPr>
          <a:xfrm>
            <a:off x="8147304" y="969264"/>
            <a:ext cx="658368" cy="320040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8147304" y="969264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</a:t>
            </a:r>
            <a:endParaRPr lang="en-US" sz="1200" dirty="0"/>
          </a:p>
        </p:txBody>
      </p:sp>
      <p:sp>
        <p:nvSpPr>
          <p:cNvPr id="71" name="Text 67"/>
          <p:cNvSpPr/>
          <p:nvPr/>
        </p:nvSpPr>
        <p:spPr>
          <a:xfrm>
            <a:off x="5760720" y="101498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素材の使い回し禁止</a:t>
            </a:r>
            <a:endParaRPr lang="en-US" sz="1300" dirty="0"/>
          </a:p>
        </p:txBody>
      </p:sp>
      <p:sp>
        <p:nvSpPr>
          <p:cNvPr id="72" name="Text 68"/>
          <p:cNvSpPr/>
          <p:nvPr/>
        </p:nvSpPr>
        <p:spPr>
          <a:xfrm>
            <a:off x="5760720" y="1426464"/>
            <a:ext cx="2514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他案件の素材や過去動画の素材を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本件に流用するのはNG</a:t>
            </a:r>
            <a:endParaRPr lang="en-US" sz="1000" dirty="0"/>
          </a:p>
        </p:txBody>
      </p:sp>
      <p:sp>
        <p:nvSpPr>
          <p:cNvPr id="73" name="Shape 69"/>
          <p:cNvSpPr/>
          <p:nvPr/>
        </p:nvSpPr>
        <p:spPr>
          <a:xfrm>
            <a:off x="274320" y="2240280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4" name="Shape 70"/>
          <p:cNvSpPr/>
          <p:nvPr/>
        </p:nvSpPr>
        <p:spPr>
          <a:xfrm>
            <a:off x="274320" y="2240280"/>
            <a:ext cx="128016" cy="12618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75" name="Image 2" descr="C:\Users\長澤開\Downloads\pptx-editor\public\illustrations\speech-bub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459736"/>
            <a:ext cx="777240" cy="777240"/>
          </a:xfrm>
          <a:prstGeom prst="rect">
            <a:avLst/>
          </a:prstGeom>
        </p:spPr>
      </p:pic>
      <p:sp>
        <p:nvSpPr>
          <p:cNvPr id="76" name="Shape 71"/>
          <p:cNvSpPr/>
          <p:nvPr/>
        </p:nvSpPr>
        <p:spPr>
          <a:xfrm>
            <a:off x="3712464" y="2359152"/>
            <a:ext cx="658368" cy="320040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7" name="Text 72"/>
          <p:cNvSpPr/>
          <p:nvPr/>
        </p:nvSpPr>
        <p:spPr>
          <a:xfrm>
            <a:off x="3712464" y="2359152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</a:t>
            </a:r>
            <a:endParaRPr lang="en-US" sz="1200" dirty="0"/>
          </a:p>
        </p:txBody>
      </p:sp>
      <p:sp>
        <p:nvSpPr>
          <p:cNvPr id="78" name="Text 73"/>
          <p:cNvSpPr/>
          <p:nvPr/>
        </p:nvSpPr>
        <p:spPr>
          <a:xfrm>
            <a:off x="1325880" y="240487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PR表記の義務（WOMJ）</a:t>
            </a:r>
            <a:endParaRPr lang="en-US" sz="1300" dirty="0"/>
          </a:p>
        </p:txBody>
      </p:sp>
      <p:sp>
        <p:nvSpPr>
          <p:cNvPr id="79" name="Text 74"/>
          <p:cNvSpPr/>
          <p:nvPr/>
        </p:nvSpPr>
        <p:spPr>
          <a:xfrm>
            <a:off x="1325880" y="2816352"/>
            <a:ext cx="2514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「#PR」等WOMJガイドラインに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従った表記が必須</a:t>
            </a:r>
            <a:endParaRPr lang="en-US" sz="1000" dirty="0"/>
          </a:p>
        </p:txBody>
      </p:sp>
      <p:sp>
        <p:nvSpPr>
          <p:cNvPr id="80" name="Shape 75"/>
          <p:cNvSpPr/>
          <p:nvPr/>
        </p:nvSpPr>
        <p:spPr>
          <a:xfrm>
            <a:off x="4709160" y="2240280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81" name="Shape 76"/>
          <p:cNvSpPr/>
          <p:nvPr/>
        </p:nvSpPr>
        <p:spPr>
          <a:xfrm>
            <a:off x="4709160" y="2240280"/>
            <a:ext cx="128016" cy="1261872"/>
          </a:xfrm>
          <a:prstGeom prst="rect">
            <a:avLst/>
          </a:prstGeom>
          <a:solidFill>
            <a:srgbClr val="E88020"/>
          </a:solidFill>
          <a:ln w="12700">
            <a:solidFill>
              <a:srgbClr val="E88020"/>
            </a:solidFill>
            <a:prstDash val="solid"/>
          </a:ln>
        </p:spPr>
      </p:sp>
      <p:pic>
        <p:nvPicPr>
          <p:cNvPr id="82" name="Image 3" descr="C:\Users\長澤開\Downloads\pptx-editor\public\illustrations\check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459736"/>
            <a:ext cx="777240" cy="777240"/>
          </a:xfrm>
          <a:prstGeom prst="rect">
            <a:avLst/>
          </a:prstGeom>
        </p:spPr>
      </p:pic>
      <p:sp>
        <p:nvSpPr>
          <p:cNvPr id="83" name="Shape 77"/>
          <p:cNvSpPr/>
          <p:nvPr/>
        </p:nvSpPr>
        <p:spPr>
          <a:xfrm>
            <a:off x="8147304" y="2359152"/>
            <a:ext cx="658368" cy="320040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4" name="Text 78"/>
          <p:cNvSpPr/>
          <p:nvPr/>
        </p:nvSpPr>
        <p:spPr>
          <a:xfrm>
            <a:off x="8147304" y="2359152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</a:t>
            </a:r>
            <a:endParaRPr lang="en-US" sz="1200" dirty="0"/>
          </a:p>
        </p:txBody>
      </p:sp>
      <p:sp>
        <p:nvSpPr>
          <p:cNvPr id="85" name="Text 79"/>
          <p:cNvSpPr/>
          <p:nvPr/>
        </p:nvSpPr>
        <p:spPr>
          <a:xfrm>
            <a:off x="5760720" y="240487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撮影許諾の取得</a:t>
            </a:r>
            <a:endParaRPr lang="en-US" sz="1300" dirty="0"/>
          </a:p>
        </p:txBody>
      </p:sp>
      <p:sp>
        <p:nvSpPr>
          <p:cNvPr id="86" name="Text 80"/>
          <p:cNvSpPr/>
          <p:nvPr/>
        </p:nvSpPr>
        <p:spPr>
          <a:xfrm>
            <a:off x="5760720" y="2816352"/>
            <a:ext cx="2514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私有地以外での撮影は撮影・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商用利用の許諾が必要</a:t>
            </a:r>
            <a:endParaRPr lang="en-US" sz="1000" dirty="0"/>
          </a:p>
        </p:txBody>
      </p:sp>
      <p:sp>
        <p:nvSpPr>
          <p:cNvPr id="87" name="Shape 81"/>
          <p:cNvSpPr/>
          <p:nvPr/>
        </p:nvSpPr>
        <p:spPr>
          <a:xfrm>
            <a:off x="274320" y="3630168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88" name="Shape 82"/>
          <p:cNvSpPr/>
          <p:nvPr/>
        </p:nvSpPr>
        <p:spPr>
          <a:xfrm>
            <a:off x="274320" y="3630168"/>
            <a:ext cx="128016" cy="126187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89" name="Image 4" descr="C:\Users\長澤開\Downloads\pptx-editor\public\illustrations\gea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849624"/>
            <a:ext cx="777240" cy="777240"/>
          </a:xfrm>
          <a:prstGeom prst="rect">
            <a:avLst/>
          </a:prstGeom>
        </p:spPr>
      </p:pic>
      <p:sp>
        <p:nvSpPr>
          <p:cNvPr id="90" name="Shape 83"/>
          <p:cNvSpPr/>
          <p:nvPr/>
        </p:nvSpPr>
        <p:spPr>
          <a:xfrm>
            <a:off x="3712464" y="3749040"/>
            <a:ext cx="658368" cy="320040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1" name="Text 84"/>
          <p:cNvSpPr/>
          <p:nvPr/>
        </p:nvSpPr>
        <p:spPr>
          <a:xfrm>
            <a:off x="3712464" y="3749040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</a:t>
            </a:r>
            <a:endParaRPr lang="en-US" sz="1200" dirty="0"/>
          </a:p>
        </p:txBody>
      </p:sp>
      <p:sp>
        <p:nvSpPr>
          <p:cNvPr id="92" name="Text 85"/>
          <p:cNvSpPr/>
          <p:nvPr/>
        </p:nvSpPr>
        <p:spPr>
          <a:xfrm>
            <a:off x="1325880" y="37947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商品訴求変化行為禁止</a:t>
            </a:r>
            <a:endParaRPr lang="en-US" sz="1300" dirty="0"/>
          </a:p>
        </p:txBody>
      </p:sp>
      <p:sp>
        <p:nvSpPr>
          <p:cNvPr id="93" name="Text 86"/>
          <p:cNvSpPr/>
          <p:nvPr/>
        </p:nvSpPr>
        <p:spPr>
          <a:xfrm>
            <a:off x="1325880" y="4206240"/>
            <a:ext cx="2514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案件期間中に訴求内容と矛盾する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行為はNG（例：ヘアケア×染髪）</a:t>
            </a:r>
            <a:endParaRPr lang="en-US" sz="1000" dirty="0"/>
          </a:p>
        </p:txBody>
      </p:sp>
      <p:sp>
        <p:nvSpPr>
          <p:cNvPr id="94" name="Shape 87"/>
          <p:cNvSpPr/>
          <p:nvPr/>
        </p:nvSpPr>
        <p:spPr>
          <a:xfrm>
            <a:off x="4709160" y="3630168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5" name="Shape 88"/>
          <p:cNvSpPr/>
          <p:nvPr/>
        </p:nvSpPr>
        <p:spPr>
          <a:xfrm>
            <a:off x="4709160" y="3630168"/>
            <a:ext cx="128016" cy="1261872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pic>
        <p:nvPicPr>
          <p:cNvPr id="96" name="Image 5" descr="C:\Users\長澤開\Downloads\pptx-editor\public\illustrations\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849624"/>
            <a:ext cx="777240" cy="777240"/>
          </a:xfrm>
          <a:prstGeom prst="rect">
            <a:avLst/>
          </a:prstGeom>
        </p:spPr>
      </p:pic>
      <p:sp>
        <p:nvSpPr>
          <p:cNvPr id="97" name="Shape 89"/>
          <p:cNvSpPr/>
          <p:nvPr/>
        </p:nvSpPr>
        <p:spPr>
          <a:xfrm>
            <a:off x="8147304" y="3749040"/>
            <a:ext cx="658368" cy="320040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8" name="Text 90"/>
          <p:cNvSpPr/>
          <p:nvPr/>
        </p:nvSpPr>
        <p:spPr>
          <a:xfrm>
            <a:off x="8147304" y="3749040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</a:t>
            </a:r>
            <a:endParaRPr lang="en-US" sz="1200" dirty="0"/>
          </a:p>
        </p:txBody>
      </p:sp>
      <p:sp>
        <p:nvSpPr>
          <p:cNvPr id="99" name="Text 91"/>
          <p:cNvSpPr/>
          <p:nvPr/>
        </p:nvSpPr>
        <p:spPr>
          <a:xfrm>
            <a:off x="5760720" y="37947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投稿動画の削除不可</a:t>
            </a:r>
            <a:endParaRPr lang="en-US" sz="1300" dirty="0"/>
          </a:p>
        </p:txBody>
      </p:sp>
      <p:sp>
        <p:nvSpPr>
          <p:cNvPr id="100" name="Text 92"/>
          <p:cNvSpPr/>
          <p:nvPr/>
        </p:nvSpPr>
        <p:spPr>
          <a:xfrm>
            <a:off x="5760720" y="4206240"/>
            <a:ext cx="2514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投稿動画は原則削除できない。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削除は発注者のみ権限を持つ</a:t>
            </a:r>
            <a:endParaRPr lang="en-US" sz="1000" dirty="0"/>
          </a:p>
        </p:txBody>
      </p:sp>
      <p:sp>
        <p:nvSpPr>
          <p:cNvPr id="101" name="Shape 93"/>
          <p:cNvSpPr/>
          <p:nvPr/>
        </p:nvSpPr>
        <p:spPr>
          <a:xfrm>
            <a:off x="274320" y="4873752"/>
            <a:ext cx="8595360" cy="246888"/>
          </a:xfrm>
          <a:prstGeom prst="roundRect">
            <a:avLst>
              <a:gd name="adj" fmla="val 18519"/>
            </a:avLst>
          </a:prstGeom>
          <a:solidFill>
            <a:srgbClr val="FFE6F3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102" name="Text 94"/>
          <p:cNvSpPr/>
          <p:nvPr/>
        </p:nvSpPr>
        <p:spPr>
          <a:xfrm>
            <a:off x="457200" y="487375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 上記はすべて発注書の特記事項に明記されたルールです。案件受注前に必ず確認してください。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9144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 違反するとどうなるか</a:t>
            </a:r>
            <a:endParaRPr lang="en-US" sz="2400" dirty="0"/>
          </a:p>
        </p:txBody>
      </p:sp>
      <p:sp>
        <p:nvSpPr>
          <p:cNvPr id="59" name="Shape 57"/>
          <p:cNvSpPr/>
          <p:nvPr/>
        </p:nvSpPr>
        <p:spPr>
          <a:xfrm>
            <a:off x="7223760" y="164592"/>
            <a:ext cx="1737360" cy="384048"/>
          </a:xfrm>
          <a:prstGeom prst="roundRect">
            <a:avLst>
              <a:gd name="adj" fmla="val 16667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23760" y="1645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同日投稿ケース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82880" y="868680"/>
            <a:ext cx="4160520" cy="384048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8869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📋  同日投稿違反が発覚した後の流れ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49808" y="1417320"/>
            <a:ext cx="0" cy="2834640"/>
          </a:xfrm>
          <a:prstGeom prst="line">
            <a:avLst/>
          </a:prstGeom>
          <a:noFill/>
          <a:ln w="31750">
            <a:solidFill>
              <a:srgbClr val="FFCC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2920" y="1463040"/>
            <a:ext cx="502920" cy="5029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pic>
        <p:nvPicPr>
          <p:cNvPr id="66" name="Image 0" descr="C:\Users\長澤開\Downloads\pptx-editor\public\illustrations\speech-bubble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1115568" y="1435608"/>
            <a:ext cx="502920" cy="502920"/>
          </a:xfrm>
          <a:prstGeom prst="rect">
            <a:avLst/>
          </a:prstGeom>
        </p:spPr>
      </p:pic>
      <p:sp>
        <p:nvSpPr>
          <p:cNvPr id="67" name="Text 64"/>
          <p:cNvSpPr/>
          <p:nvPr/>
        </p:nvSpPr>
        <p:spPr>
          <a:xfrm>
            <a:off x="1719072" y="14356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TORIHADA担当者から連絡が入る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1719072" y="172821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「同日に別ブランドのPR投稿を確認しました」と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即日連絡。状況説明を求められる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502920" y="2212848"/>
            <a:ext cx="502920" cy="502920"/>
          </a:xfrm>
          <a:prstGeom prst="ellipse">
            <a:avLst/>
          </a:prstGeom>
          <a:solidFill>
            <a:srgbClr val="E88020"/>
          </a:solidFill>
          <a:ln w="12700">
            <a:solidFill>
              <a:srgbClr val="E88020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0292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pic>
        <p:nvPicPr>
          <p:cNvPr id="71" name="Image 1" descr="C:\Users\長澤開\Downloads\pptx-editor\public\illustrations\document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115568" y="2185416"/>
            <a:ext cx="502920" cy="502920"/>
          </a:xfrm>
          <a:prstGeom prst="rect">
            <a:avLst/>
          </a:prstGeom>
        </p:spPr>
      </p:pic>
      <p:sp>
        <p:nvSpPr>
          <p:cNvPr id="72" name="Text 68"/>
          <p:cNvSpPr/>
          <p:nvPr/>
        </p:nvSpPr>
        <p:spPr>
          <a:xfrm>
            <a:off x="1719072" y="218541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投稿の削除依頼・クライアントへ謝罪</a:t>
            </a:r>
            <a:endParaRPr lang="en-US" sz="1100" dirty="0"/>
          </a:p>
        </p:txBody>
      </p:sp>
      <p:sp>
        <p:nvSpPr>
          <p:cNvPr id="73" name="Text 69"/>
          <p:cNvSpPr/>
          <p:nvPr/>
        </p:nvSpPr>
        <p:spPr>
          <a:xfrm>
            <a:off x="1719072" y="247802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ブランドXへの謝罪対応をTORIHADA担当者が実施。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クリエイターも経緯を文書で説明する場合がある</a:t>
            </a:r>
            <a:endParaRPr lang="en-US" sz="950" dirty="0"/>
          </a:p>
        </p:txBody>
      </p:sp>
      <p:sp>
        <p:nvSpPr>
          <p:cNvPr id="74" name="Shape 70"/>
          <p:cNvSpPr/>
          <p:nvPr/>
        </p:nvSpPr>
        <p:spPr>
          <a:xfrm>
            <a:off x="502920" y="2962656"/>
            <a:ext cx="502920" cy="502920"/>
          </a:xfrm>
          <a:prstGeom prst="ellipse">
            <a:avLst/>
          </a:prstGeom>
          <a:solidFill>
            <a:srgbClr val="E88020"/>
          </a:solidFill>
          <a:ln w="12700">
            <a:solidFill>
              <a:srgbClr val="E88020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502920" y="2962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pic>
        <p:nvPicPr>
          <p:cNvPr id="76" name="Image 2" descr="C:\Users\長澤開\Downloads\pptx-editor\public\illustrations\coins-money.png">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115568" y="2935224"/>
            <a:ext cx="502920" cy="502920"/>
          </a:xfrm>
          <a:prstGeom prst="rect">
            <a:avLst/>
          </a:prstGeom>
        </p:spPr>
      </p:pic>
      <p:sp>
        <p:nvSpPr>
          <p:cNvPr id="77" name="Text 72"/>
          <p:cNvSpPr/>
          <p:nvPr/>
        </p:nvSpPr>
        <p:spPr>
          <a:xfrm>
            <a:off x="1719072" y="293522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案件降板・報酬支払いが停止される</a:t>
            </a:r>
            <a:endParaRPr lang="en-US" sz="1100" dirty="0"/>
          </a:p>
        </p:txBody>
      </p:sp>
      <p:sp>
        <p:nvSpPr>
          <p:cNvPr id="78" name="Text 73"/>
          <p:cNvSpPr/>
          <p:nvPr/>
        </p:nvSpPr>
        <p:spPr>
          <a:xfrm>
            <a:off x="1719072" y="322783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ルール違反による降板のため、報酬は支払われない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場合がある。損害賠償の請求対象にもなりうる</a:t>
            </a:r>
            <a:endParaRPr lang="en-US" sz="950" dirty="0"/>
          </a:p>
        </p:txBody>
      </p:sp>
      <p:sp>
        <p:nvSpPr>
          <p:cNvPr id="79" name="Shape 74"/>
          <p:cNvSpPr/>
          <p:nvPr/>
        </p:nvSpPr>
        <p:spPr>
          <a:xfrm>
            <a:off x="502920" y="3712464"/>
            <a:ext cx="502920" cy="50292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80" name="Text 75"/>
          <p:cNvSpPr/>
          <p:nvPr/>
        </p:nvSpPr>
        <p:spPr>
          <a:xfrm>
            <a:off x="502920" y="3712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pic>
        <p:nvPicPr>
          <p:cNvPr id="81" name="Image 3" descr="C:\Users\長澤開\Downloads\pptx-editor\public\illustrations\checklist.png">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1115568" y="3685032"/>
            <a:ext cx="502920" cy="502920"/>
          </a:xfrm>
          <a:prstGeom prst="rect">
            <a:avLst/>
          </a:prstGeom>
        </p:spPr>
      </p:pic>
      <p:sp>
        <p:nvSpPr>
          <p:cNvPr id="82" name="Text 76"/>
          <p:cNvSpPr/>
          <p:nvPr/>
        </p:nvSpPr>
        <p:spPr>
          <a:xfrm>
            <a:off x="1719072" y="368503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以降の案件オファーが全停止される</a:t>
            </a:r>
            <a:endParaRPr lang="en-US" sz="1100" dirty="0"/>
          </a:p>
        </p:txBody>
      </p:sp>
      <p:sp>
        <p:nvSpPr>
          <p:cNvPr id="83" name="Text 77"/>
          <p:cNvSpPr/>
          <p:nvPr/>
        </p:nvSpPr>
        <p:spPr>
          <a:xfrm>
            <a:off x="1719072" y="39776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TORIHADAのクリエイターリストから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信頼評価が下がり、以降のオファーが来なくなる</a:t>
            </a:r>
            <a:endParaRPr lang="en-US" sz="950" dirty="0"/>
          </a:p>
        </p:txBody>
      </p:sp>
      <p:sp>
        <p:nvSpPr>
          <p:cNvPr id="84" name="Shape 78"/>
          <p:cNvSpPr/>
          <p:nvPr/>
        </p:nvSpPr>
        <p:spPr>
          <a:xfrm>
            <a:off x="4572000" y="868680"/>
            <a:ext cx="4343400" cy="384048"/>
          </a:xfrm>
          <a:prstGeom prst="roundRect">
            <a:avLst>
              <a:gd name="adj" fmla="val 16667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85" name="Text 79"/>
          <p:cNvSpPr/>
          <p:nvPr/>
        </p:nvSpPr>
        <p:spPr>
          <a:xfrm>
            <a:off x="4663440" y="8869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📑  契約違反のリスク（規約より）</a:t>
            </a:r>
            <a:endParaRPr lang="en-US" sz="1200" dirty="0"/>
          </a:p>
        </p:txBody>
      </p:sp>
      <p:sp>
        <p:nvSpPr>
          <p:cNvPr id="86" name="Shape 80"/>
          <p:cNvSpPr/>
          <p:nvPr/>
        </p:nvSpPr>
        <p:spPr>
          <a:xfrm>
            <a:off x="4572000" y="1371600"/>
            <a:ext cx="4343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FFCCCC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87" name="Shape 81"/>
          <p:cNvSpPr/>
          <p:nvPr/>
        </p:nvSpPr>
        <p:spPr>
          <a:xfrm>
            <a:off x="4572000" y="1371600"/>
            <a:ext cx="118872" cy="1051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88" name="Image 4" descr="C:\Users\長澤開\Downloads\pptx-editor\public\illustrations\document.png">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4736592" y="1508760"/>
            <a:ext cx="658368" cy="658368"/>
          </a:xfrm>
          <a:prstGeom prst="rect">
            <a:avLst/>
          </a:prstGeom>
        </p:spPr>
      </p:pic>
      <p:sp>
        <p:nvSpPr>
          <p:cNvPr id="89" name="Shape 82"/>
          <p:cNvSpPr/>
          <p:nvPr/>
        </p:nvSpPr>
        <p:spPr>
          <a:xfrm>
            <a:off x="8549640" y="1463040"/>
            <a:ext cx="292608" cy="868680"/>
          </a:xfrm>
          <a:prstGeom prst="roundRect">
            <a:avLst>
              <a:gd name="adj" fmla="val 15625"/>
            </a:avLst>
          </a:prstGeom>
          <a:solidFill>
            <a:srgbClr val="FFF0F5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90" name="Text 83"/>
          <p:cNvSpPr/>
          <p:nvPr/>
        </p:nvSpPr>
        <p:spPr>
          <a:xfrm>
            <a:off x="8549640" y="1463040"/>
            <a:ext cx="292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第17条</a:t>
            </a:r>
            <a:endParaRPr lang="en-US" sz="800" dirty="0"/>
          </a:p>
        </p:txBody>
      </p:sp>
      <p:sp>
        <p:nvSpPr>
          <p:cNvPr id="91" name="Text 84"/>
          <p:cNvSpPr/>
          <p:nvPr/>
        </p:nvSpPr>
        <p:spPr>
          <a:xfrm>
            <a:off x="5486400" y="146304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損害賠償の請求</a:t>
            </a:r>
            <a:endParaRPr lang="en-US" sz="1400" dirty="0"/>
          </a:p>
        </p:txBody>
      </p:sp>
      <p:sp>
        <p:nvSpPr>
          <p:cNvPr id="92" name="Text 85"/>
          <p:cNvSpPr/>
          <p:nvPr/>
        </p:nvSpPr>
        <p:spPr>
          <a:xfrm>
            <a:off x="5486400" y="1828800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直接損害・間接損害・逸失利益・弁護士費用まで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すべて賠償対象。案件規模によっては数百万円規模。</a:t>
            </a:r>
            <a:endParaRPr lang="en-US" sz="1000" dirty="0"/>
          </a:p>
        </p:txBody>
      </p:sp>
      <p:sp>
        <p:nvSpPr>
          <p:cNvPr id="93" name="Shape 86"/>
          <p:cNvSpPr/>
          <p:nvPr/>
        </p:nvSpPr>
        <p:spPr>
          <a:xfrm>
            <a:off x="4572000" y="2542032"/>
            <a:ext cx="4343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FFCCCC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94" name="Shape 87"/>
          <p:cNvSpPr/>
          <p:nvPr/>
        </p:nvSpPr>
        <p:spPr>
          <a:xfrm>
            <a:off x="4572000" y="2542032"/>
            <a:ext cx="118872" cy="1051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95" name="Image 5" descr="C:\Users\長澤開\Downloads\pptx-editor\public\illustrations\arrow.png">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4736592" y="2679192"/>
            <a:ext cx="658368" cy="658368"/>
          </a:xfrm>
          <a:prstGeom prst="rect">
            <a:avLst/>
          </a:prstGeom>
        </p:spPr>
      </p:pic>
      <p:sp>
        <p:nvSpPr>
          <p:cNvPr id="96" name="Shape 88"/>
          <p:cNvSpPr/>
          <p:nvPr/>
        </p:nvSpPr>
        <p:spPr>
          <a:xfrm>
            <a:off x="8549640" y="2633472"/>
            <a:ext cx="292608" cy="868680"/>
          </a:xfrm>
          <a:prstGeom prst="roundRect">
            <a:avLst>
              <a:gd name="adj" fmla="val 15625"/>
            </a:avLst>
          </a:prstGeom>
          <a:solidFill>
            <a:srgbClr val="FFF0F5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97" name="Text 89"/>
          <p:cNvSpPr/>
          <p:nvPr/>
        </p:nvSpPr>
        <p:spPr>
          <a:xfrm>
            <a:off x="8549640" y="2633472"/>
            <a:ext cx="292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第22条</a:t>
            </a:r>
            <a:endParaRPr lang="en-US" sz="800" dirty="0"/>
          </a:p>
        </p:txBody>
      </p:sp>
      <p:sp>
        <p:nvSpPr>
          <p:cNvPr id="98" name="Text 90"/>
          <p:cNvSpPr/>
          <p:nvPr/>
        </p:nvSpPr>
        <p:spPr>
          <a:xfrm>
            <a:off x="5486400" y="263347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即時契約解除</a:t>
            </a:r>
            <a:endParaRPr lang="en-US" sz="1400" dirty="0"/>
          </a:p>
        </p:txBody>
      </p:sp>
      <p:sp>
        <p:nvSpPr>
          <p:cNvPr id="99" name="Text 91"/>
          <p:cNvSpPr/>
          <p:nvPr/>
        </p:nvSpPr>
        <p:spPr>
          <a:xfrm>
            <a:off x="5486400" y="2999232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重大な違反・信用失墜は催告なしで即時解除。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その後のオファーは一切届かなくなる。</a:t>
            </a:r>
            <a:endParaRPr lang="en-US" sz="1000" dirty="0"/>
          </a:p>
        </p:txBody>
      </p:sp>
      <p:sp>
        <p:nvSpPr>
          <p:cNvPr id="100" name="Shape 92"/>
          <p:cNvSpPr/>
          <p:nvPr/>
        </p:nvSpPr>
        <p:spPr>
          <a:xfrm>
            <a:off x="4572000" y="3712464"/>
            <a:ext cx="4343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FFCCCC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01" name="Shape 93"/>
          <p:cNvSpPr/>
          <p:nvPr/>
        </p:nvSpPr>
        <p:spPr>
          <a:xfrm>
            <a:off x="4572000" y="3712464"/>
            <a:ext cx="118872" cy="1051560"/>
          </a:xfrm>
          <a:prstGeom prst="rect">
            <a:avLst/>
          </a:prstGeom>
          <a:solidFill>
            <a:srgbClr val="E88020"/>
          </a:solidFill>
          <a:ln w="12700">
            <a:solidFill>
              <a:srgbClr val="E88020"/>
            </a:solidFill>
            <a:prstDash val="solid"/>
          </a:ln>
        </p:spPr>
      </p:sp>
      <p:pic>
        <p:nvPicPr>
          <p:cNvPr id="102" name="Image 6" descr="C:\Users\長澤開\Downloads\pptx-editor\public\illustrations\growth-graph.png">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4736592" y="3849624"/>
            <a:ext cx="658368" cy="658368"/>
          </a:xfrm>
          <a:prstGeom prst="rect">
            <a:avLst/>
          </a:prstGeom>
        </p:spPr>
      </p:pic>
      <p:sp>
        <p:nvSpPr>
          <p:cNvPr id="103" name="Shape 94"/>
          <p:cNvSpPr/>
          <p:nvPr/>
        </p:nvSpPr>
        <p:spPr>
          <a:xfrm>
            <a:off x="8549640" y="3803904"/>
            <a:ext cx="292608" cy="868680"/>
          </a:xfrm>
          <a:prstGeom prst="roundRect">
            <a:avLst>
              <a:gd name="adj" fmla="val 15625"/>
            </a:avLst>
          </a:prstGeom>
          <a:solidFill>
            <a:srgbClr val="FFF0F5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104" name="Text 95"/>
          <p:cNvSpPr/>
          <p:nvPr/>
        </p:nvSpPr>
        <p:spPr>
          <a:xfrm>
            <a:off x="8549640" y="3803904"/>
            <a:ext cx="292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第8条</a:t>
            </a:r>
            <a:endParaRPr lang="en-US" sz="800" dirty="0"/>
          </a:p>
        </p:txBody>
      </p:sp>
      <p:sp>
        <p:nvSpPr>
          <p:cNvPr id="105" name="Text 96"/>
          <p:cNvSpPr/>
          <p:nvPr/>
        </p:nvSpPr>
        <p:spPr>
          <a:xfrm>
            <a:off x="5486400" y="3803904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ブランド・TORIHADAへのダメージ</a:t>
            </a:r>
            <a:endParaRPr lang="en-US" sz="1400" dirty="0"/>
          </a:p>
        </p:txBody>
      </p:sp>
      <p:sp>
        <p:nvSpPr>
          <p:cNvPr id="106" name="Text 97"/>
          <p:cNvSpPr/>
          <p:nvPr/>
        </p:nvSpPr>
        <p:spPr>
          <a:xfrm>
            <a:off x="5486400" y="4169664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広告主のイメージ低下・TORIHADAへのクライアント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離れにつながり、業界全体への影響も生じる。</a:t>
            </a:r>
            <a:endParaRPr lang="en-US" sz="1000" dirty="0"/>
          </a:p>
        </p:txBody>
      </p:sp>
      <p:sp>
        <p:nvSpPr>
          <p:cNvPr id="107" name="Shape 9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FF0F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8" name="Text 99"/>
          <p:cNvSpPr/>
          <p:nvPr/>
        </p:nvSpPr>
        <p:spPr>
          <a:xfrm>
            <a:off x="365760" y="47365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「知らなかった」は免責にならない。この研修を受けたあなたには、知っている責任がある。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73152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　動画②</a:t>
            </a:r>
            <a:endParaRPr lang="en-US" sz="2200" dirty="0"/>
          </a:p>
        </p:txBody>
      </p:sp>
      <p:sp>
        <p:nvSpPr>
          <p:cNvPr id="59" name="Shape 57"/>
          <p:cNvSpPr/>
          <p:nvPr/>
        </p:nvSpPr>
        <p:spPr>
          <a:xfrm>
            <a:off x="457200" y="1005840"/>
            <a:ext cx="594360" cy="59436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188720" y="914400"/>
            <a:ext cx="74980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371600" y="987552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競合案件の同時受注・無断再委託・情報漏洩・品位を損なう言動はすべてNG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457200" y="2148840"/>
            <a:ext cx="594360" cy="59436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188720" y="2057400"/>
            <a:ext cx="74980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371600" y="2130552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違反は損害賠償・即時契約解除につながる（第17条・第22条）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457200" y="3291840"/>
            <a:ext cx="594360" cy="59436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188720" y="3200400"/>
            <a:ext cx="74980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371600" y="3273552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「知らなかった」は免責にならない。知っている責任がある</a:t>
            </a:r>
            <a:endParaRPr lang="en-US" sz="1500" dirty="0"/>
          </a:p>
        </p:txBody>
      </p:sp>
      <p:pic>
        <p:nvPicPr>
          <p:cNvPr id="71" name="Image 0" descr="C:\Users\長澤開\Downloads\pptx-editor\public\illustrations\document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315200" y="3493008"/>
            <a:ext cx="1463040" cy="804672"/>
          </a:xfrm>
          <a:prstGeom prst="rect">
            <a:avLst/>
          </a:prstGeom>
        </p:spPr>
      </p:pic>
      <p:sp>
        <p:nvSpPr>
          <p:cNvPr id="72" name="Shape 69"/>
          <p:cNvSpPr/>
          <p:nvPr/>
        </p:nvSpPr>
        <p:spPr>
          <a:xfrm>
            <a:off x="365760" y="4370832"/>
            <a:ext cx="8412480" cy="548640"/>
          </a:xfrm>
          <a:prstGeom prst="roundRect">
            <a:avLst>
              <a:gd name="adj" fmla="val 11667"/>
            </a:avLst>
          </a:prstGeom>
          <a:solidFill>
            <a:srgbClr val="FFF0F5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502920" y="441655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 Next  |  動画③：社内規約を理解しよう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4D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0" y="91440"/>
            <a:ext cx="41148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0" b="1" dirty="0">
                <a:solidFill>
                  <a:srgbClr val="FFFFFF">
                    <a:alpha val="80000"/>
                  </a:srgbClr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30000" dirty="0"/>
          </a:p>
        </p:txBody>
      </p:sp>
      <p:pic>
        <p:nvPicPr>
          <p:cNvPr id="3" name="Image 0" descr="C:\Users\長澤開\Downloads\pptx-editor\public\illustrations\checklist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400800" y="91440"/>
            <a:ext cx="2468880" cy="2194560"/>
          </a:xfrm>
          <a:prstGeom prst="rect">
            <a:avLst/>
          </a:prstGeom>
        </p:spPr>
      </p:pic>
      <p:pic>
        <p:nvPicPr>
          <p:cNvPr id="4" name="Image 1" descr="C:\Users\長澤開\Downloads\pptx-editor\public\illustrations\document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132320" y="3108960"/>
            <a:ext cx="1828800" cy="1920240"/>
          </a:xfrm>
          <a:prstGeom prst="rect">
            <a:avLst/>
          </a:prstGeom>
        </p:spPr>
      </p:pic>
      <p:pic>
        <p:nvPicPr>
          <p:cNvPr id="5" name="Image 2" descr="C:\Users\長澤開\Downloads\pptx-editor\public\illustrations\star.png">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82880" y="3200400"/>
            <a:ext cx="1645920" cy="164592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2743200" y="1371600"/>
            <a:ext cx="576072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926080" y="160020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社内規約を理解しよう</a:t>
            </a:r>
            <a:endParaRPr lang="en-US" sz="3800" dirty="0"/>
          </a:p>
        </p:txBody>
      </p:sp>
      <p:sp>
        <p:nvSpPr>
          <p:cNvPr id="8" name="Text 3"/>
          <p:cNvSpPr/>
          <p:nvPr/>
        </p:nvSpPr>
        <p:spPr>
          <a:xfrm>
            <a:off x="2926080" y="260604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守るべきルールをしっかりと把握する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この動画で学ぶこと</a:t>
            </a:r>
            <a:endParaRPr lang="en-US" sz="3200" dirty="0"/>
          </a:p>
        </p:txBody>
      </p:sp>
      <p:sp>
        <p:nvSpPr>
          <p:cNvPr id="58" name="Shape 56"/>
          <p:cNvSpPr/>
          <p:nvPr/>
        </p:nvSpPr>
        <p:spPr>
          <a:xfrm>
            <a:off x="457200" y="850392"/>
            <a:ext cx="8229600" cy="36576"/>
          </a:xfrm>
          <a:prstGeom prst="rect">
            <a:avLst/>
          </a:prstGeom>
          <a:solidFill>
            <a:srgbClr val="FFB3E0"/>
          </a:solidFill>
          <a:ln w="12700">
            <a:solidFill>
              <a:srgbClr val="FFB3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" y="96012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60" name="Image 0" descr="C:\Users\長澤開\Downloads\pptx-editor\public\illustrations\shield-loc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680" y="1051560"/>
            <a:ext cx="1828800" cy="1417320"/>
          </a:xfrm>
          <a:prstGeom prst="rect">
            <a:avLst/>
          </a:prstGeom>
        </p:spPr>
      </p:pic>
      <p:sp>
        <p:nvSpPr>
          <p:cNvPr id="61" name="Shape 58"/>
          <p:cNvSpPr/>
          <p:nvPr/>
        </p:nvSpPr>
        <p:spPr>
          <a:xfrm>
            <a:off x="566928" y="2578608"/>
            <a:ext cx="548640" cy="54864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66928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800" dirty="0"/>
          </a:p>
        </p:txBody>
      </p:sp>
      <p:sp>
        <p:nvSpPr>
          <p:cNvPr id="63" name="Text 60"/>
          <p:cNvSpPr/>
          <p:nvPr/>
        </p:nvSpPr>
        <p:spPr>
          <a:xfrm>
            <a:off x="594360" y="3200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守秘義務の範囲</a:t>
            </a:r>
            <a:endParaRPr lang="en-US" sz="1500" dirty="0"/>
          </a:p>
        </p:txBody>
      </p:sp>
      <p:sp>
        <p:nvSpPr>
          <p:cNvPr id="64" name="Text 61"/>
          <p:cNvSpPr/>
          <p:nvPr/>
        </p:nvSpPr>
        <p:spPr>
          <a:xfrm>
            <a:off x="594360" y="3794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秘密情報の定義と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義務の継続期間を理解する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3291840" y="96012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66" name="Image 1" descr="C:\Users\長澤開\Downloads\pptx-editor\public\illustrations\warning-perso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3320" y="1051560"/>
            <a:ext cx="1828800" cy="1417320"/>
          </a:xfrm>
          <a:prstGeom prst="rect">
            <a:avLst/>
          </a:prstGeom>
        </p:spPr>
      </p:pic>
      <p:sp>
        <p:nvSpPr>
          <p:cNvPr id="67" name="Shape 63"/>
          <p:cNvSpPr/>
          <p:nvPr/>
        </p:nvSpPr>
        <p:spPr>
          <a:xfrm>
            <a:off x="3401568" y="2578608"/>
            <a:ext cx="548640" cy="54864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3401568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800" dirty="0"/>
          </a:p>
        </p:txBody>
      </p:sp>
      <p:sp>
        <p:nvSpPr>
          <p:cNvPr id="69" name="Text 65"/>
          <p:cNvSpPr/>
          <p:nvPr/>
        </p:nvSpPr>
        <p:spPr>
          <a:xfrm>
            <a:off x="3429000" y="3200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個人情報の取り扱い</a:t>
            </a:r>
            <a:endParaRPr lang="en-US" sz="1500" dirty="0"/>
          </a:p>
        </p:txBody>
      </p:sp>
      <p:sp>
        <p:nvSpPr>
          <p:cNvPr id="70" name="Text 66"/>
          <p:cNvSpPr/>
          <p:nvPr/>
        </p:nvSpPr>
        <p:spPr>
          <a:xfrm>
            <a:off x="3429000" y="3794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委託業務で触れる個人情報の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正しい管理方法を学ぶ</a:t>
            </a:r>
            <a:endParaRPr lang="en-US" sz="1200" dirty="0"/>
          </a:p>
        </p:txBody>
      </p:sp>
      <p:sp>
        <p:nvSpPr>
          <p:cNvPr id="71" name="Shape 67"/>
          <p:cNvSpPr/>
          <p:nvPr/>
        </p:nvSpPr>
        <p:spPr>
          <a:xfrm>
            <a:off x="6126480" y="96012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72" name="Image 2" descr="C:\Users\長澤開\Downloads\pptx-editor\public\illustrations\checkli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051560"/>
            <a:ext cx="1828800" cy="1417320"/>
          </a:xfrm>
          <a:prstGeom prst="rect">
            <a:avLst/>
          </a:prstGeom>
        </p:spPr>
      </p:pic>
      <p:sp>
        <p:nvSpPr>
          <p:cNvPr id="73" name="Shape 68"/>
          <p:cNvSpPr/>
          <p:nvPr/>
        </p:nvSpPr>
        <p:spPr>
          <a:xfrm>
            <a:off x="6236208" y="2578608"/>
            <a:ext cx="548640" cy="54864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74" name="Text 69"/>
          <p:cNvSpPr/>
          <p:nvPr/>
        </p:nvSpPr>
        <p:spPr>
          <a:xfrm>
            <a:off x="6236208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800" dirty="0"/>
          </a:p>
        </p:txBody>
      </p:sp>
      <p:sp>
        <p:nvSpPr>
          <p:cNvPr id="75" name="Text 70"/>
          <p:cNvSpPr/>
          <p:nvPr/>
        </p:nvSpPr>
        <p:spPr>
          <a:xfrm>
            <a:off x="6263640" y="3200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禁止事項チェック</a:t>
            </a:r>
            <a:endParaRPr lang="en-US" sz="1500" dirty="0"/>
          </a:p>
        </p:txBody>
      </p:sp>
      <p:sp>
        <p:nvSpPr>
          <p:cNvPr id="76" name="Text 71"/>
          <p:cNvSpPr/>
          <p:nvPr/>
        </p:nvSpPr>
        <p:spPr>
          <a:xfrm>
            <a:off x="6263640" y="3794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再委託・競合PR・品位を損なう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行為のルールを確認する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1480" y="373075"/>
            <a:ext cx="8321040" cy="344729"/>
          </a:xfrm>
          <a:prstGeom prst="rect">
            <a:avLst/>
          </a:prstGeom>
          <a:solidFill>
            <a:srgbClr val="FFE455"/>
          </a:solidFill>
          <a:ln w="12700">
            <a:solidFill>
              <a:srgbClr val="FFE4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守秘義務：いつまで？何が対象？（第19条・第27条）</a:t>
            </a:r>
            <a:endParaRPr lang="en-US" sz="2200" dirty="0"/>
          </a:p>
        </p:txBody>
      </p:sp>
      <p:sp>
        <p:nvSpPr>
          <p:cNvPr id="59" name="Shape 57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FFB3E0"/>
          </a:solidFill>
          <a:ln w="12700">
            <a:solidFill>
              <a:srgbClr val="FFB3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" y="960120"/>
            <a:ext cx="3657600" cy="3429000"/>
          </a:xfrm>
          <a:prstGeom prst="roundRect">
            <a:avLst>
              <a:gd name="adj" fmla="val 2667"/>
            </a:avLst>
          </a:prstGeom>
          <a:solidFill>
            <a:srgbClr val="FFE6F3"/>
          </a:solidFill>
          <a:ln w="19050">
            <a:solidFill>
              <a:srgbClr val="FF4DB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10515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義務の継続期間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457200" y="14630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契約終了後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1年間</a:t>
            </a:r>
            <a:endParaRPr lang="en-US" sz="4800" dirty="0"/>
          </a:p>
        </p:txBody>
      </p:sp>
      <p:sp>
        <p:nvSpPr>
          <p:cNvPr id="63" name="Text 61"/>
          <p:cNvSpPr/>
          <p:nvPr/>
        </p:nvSpPr>
        <p:spPr>
          <a:xfrm>
            <a:off x="457200" y="28346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有効に存続します（第27条）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457200" y="3246120"/>
            <a:ext cx="3474720" cy="502920"/>
          </a:xfrm>
          <a:prstGeom prst="roundRect">
            <a:avLst>
              <a:gd name="adj" fmla="val 12727"/>
            </a:avLst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32461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案件が終わっても情報は守り続ける！</a:t>
            </a:r>
            <a:endParaRPr lang="en-US" sz="1200" dirty="0"/>
          </a:p>
        </p:txBody>
      </p:sp>
      <p:pic>
        <p:nvPicPr>
          <p:cNvPr id="66" name="Image 0" descr="C:\Users\長澤開\Downloads\pptx-editor\public\illustrations\shield-lock.svg">    </p:cNvPr>
          <p:cNvPicPr>
            <a:picLocks noChangeAspect="1"/>
          </p:cNvPicPr>
          <p:nvPr/>
        </p:nvPicPr>
        <p:blipFill>
          <a:blip r:embed="rId1">
            <a:alphaModFix amt="9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840480"/>
            <a:ext cx="868680" cy="1005840"/>
          </a:xfrm>
          <a:prstGeom prst="rect">
            <a:avLst/>
          </a:prstGeom>
        </p:spPr>
      </p:pic>
      <p:sp>
        <p:nvSpPr>
          <p:cNvPr id="67" name="Text 64"/>
          <p:cNvSpPr/>
          <p:nvPr/>
        </p:nvSpPr>
        <p:spPr>
          <a:xfrm>
            <a:off x="4297680" y="9601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秘密情報に該当するもの（例）</a:t>
            </a:r>
            <a:endParaRPr lang="en-US" sz="1400" dirty="0"/>
          </a:p>
        </p:txBody>
      </p:sp>
      <p:sp>
        <p:nvSpPr>
          <p:cNvPr id="68" name="Shape 65"/>
          <p:cNvSpPr/>
          <p:nvPr/>
        </p:nvSpPr>
        <p:spPr>
          <a:xfrm>
            <a:off x="4297680" y="1389888"/>
            <a:ext cx="43891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434840" y="140817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🔒  クライアント名・商品情報</a:t>
            </a:r>
            <a:endParaRPr lang="en-US" sz="1300" dirty="0"/>
          </a:p>
        </p:txBody>
      </p:sp>
      <p:sp>
        <p:nvSpPr>
          <p:cNvPr id="70" name="Shape 67"/>
          <p:cNvSpPr/>
          <p:nvPr/>
        </p:nvSpPr>
        <p:spPr>
          <a:xfrm>
            <a:off x="4297680" y="1938528"/>
            <a:ext cx="43891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434840" y="19568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🔒  撮影内容・スケジュール</a:t>
            </a:r>
            <a:endParaRPr lang="en-US" sz="1300" dirty="0"/>
          </a:p>
        </p:txBody>
      </p:sp>
      <p:sp>
        <p:nvSpPr>
          <p:cNvPr id="72" name="Shape 69"/>
          <p:cNvSpPr/>
          <p:nvPr/>
        </p:nvSpPr>
        <p:spPr>
          <a:xfrm>
            <a:off x="4297680" y="2487168"/>
            <a:ext cx="43891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4434840" y="250545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🔒  報酬金額・契約条件</a:t>
            </a:r>
            <a:endParaRPr lang="en-US" sz="1300" dirty="0"/>
          </a:p>
        </p:txBody>
      </p:sp>
      <p:sp>
        <p:nvSpPr>
          <p:cNvPr id="74" name="Shape 71"/>
          <p:cNvSpPr/>
          <p:nvPr/>
        </p:nvSpPr>
        <p:spPr>
          <a:xfrm>
            <a:off x="4297680" y="3035808"/>
            <a:ext cx="43891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434840" y="305409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🔒  未公開のキャンペーン情報</a:t>
            </a:r>
            <a:endParaRPr lang="en-US" sz="1300" dirty="0"/>
          </a:p>
        </p:txBody>
      </p:sp>
      <p:sp>
        <p:nvSpPr>
          <p:cNvPr id="76" name="Text 73"/>
          <p:cNvSpPr/>
          <p:nvPr/>
        </p:nvSpPr>
        <p:spPr>
          <a:xfrm>
            <a:off x="4297680" y="3657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開示が認められる例外ケース</a:t>
            </a:r>
            <a:endParaRPr lang="en-US" sz="1300" dirty="0"/>
          </a:p>
        </p:txBody>
      </p:sp>
      <p:sp>
        <p:nvSpPr>
          <p:cNvPr id="77" name="Text 74"/>
          <p:cNvSpPr/>
          <p:nvPr/>
        </p:nvSpPr>
        <p:spPr>
          <a:xfrm>
            <a:off x="4434840" y="404164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TORIHADAの承諾を得た再委託先への開示</a:t>
            </a:r>
            <a:endParaRPr lang="en-US" sz="1100" dirty="0"/>
          </a:p>
        </p:txBody>
      </p:sp>
      <p:sp>
        <p:nvSpPr>
          <p:cNvPr id="78" name="Text 75"/>
          <p:cNvSpPr/>
          <p:nvPr/>
        </p:nvSpPr>
        <p:spPr>
          <a:xfrm>
            <a:off x="4434840" y="449884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法令・裁判所命令による場合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1480" y="373075"/>
            <a:ext cx="8321040" cy="344729"/>
          </a:xfrm>
          <a:prstGeom prst="rect">
            <a:avLst/>
          </a:prstGeom>
          <a:solidFill>
            <a:srgbClr val="FFE455"/>
          </a:solidFill>
          <a:ln w="12700">
            <a:solidFill>
              <a:srgbClr val="FFE4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個人情報の取り扱いルール（第16条）</a:t>
            </a:r>
            <a:endParaRPr lang="en-US" sz="2600" dirty="0"/>
          </a:p>
        </p:txBody>
      </p:sp>
      <p:sp>
        <p:nvSpPr>
          <p:cNvPr id="59" name="Shape 57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FFB3E0"/>
          </a:solidFill>
          <a:ln w="12700">
            <a:solidFill>
              <a:srgbClr val="FFB3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" y="960120"/>
            <a:ext cx="4114800" cy="3794760"/>
          </a:xfrm>
          <a:prstGeom prst="roundRect">
            <a:avLst>
              <a:gd name="adj" fmla="val 2410"/>
            </a:avLst>
          </a:prstGeom>
          <a:solidFill>
            <a:srgbClr val="F0FFF4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65760" y="960120"/>
            <a:ext cx="4114800" cy="530352"/>
          </a:xfrm>
          <a:prstGeom prst="roundRect">
            <a:avLst>
              <a:gd name="adj" fmla="val 1724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96012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やるべきこと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48640" y="162763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委託業務の目的範囲内のみで使用する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（案件遂行のために必要な範囲だけ）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48640" y="261518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合理的な安全管理措置を講じる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（不正アクセス・紛失・漏洩を防ぐ対策）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48640" y="3602736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漏洩事故はすぐにTORIHADAへ報告する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（発生日時・内容を速やかに連絡）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663440" y="960120"/>
            <a:ext cx="4114800" cy="3794760"/>
          </a:xfrm>
          <a:prstGeom prst="roundRect">
            <a:avLst>
              <a:gd name="adj" fmla="val 2410"/>
            </a:avLst>
          </a:prstGeom>
          <a:solidFill>
            <a:srgbClr val="FFF5F5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663440" y="960120"/>
            <a:ext cx="4114800" cy="530352"/>
          </a:xfrm>
          <a:prstGeom prst="roundRect">
            <a:avLst>
              <a:gd name="adj" fmla="val 17241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63440" y="96012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🚫 やってはいけないこと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846320" y="162763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 目的外に個人情報を使用・加工・複写する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（案件と無関係な用途での利用は禁止）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846320" y="261518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 第三者に無断で個人情報を提供する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（顧客情報等を外部へ渡すのは厳禁）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846320" y="3602736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 漏洩を隠す・報告を遅らせる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（発覚を遅らせると損害賠償リスクが拡大）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1480" y="312725"/>
            <a:ext cx="8321040" cy="318211"/>
          </a:xfrm>
          <a:prstGeom prst="rect">
            <a:avLst/>
          </a:prstGeom>
          <a:solidFill>
            <a:srgbClr val="FFE455"/>
          </a:solidFill>
          <a:ln w="12700">
            <a:solidFill>
              <a:srgbClr val="FFE4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禁止事項チェックリスト（総まとめ）</a:t>
            </a:r>
            <a:endParaRPr lang="en-US" sz="2600" dirty="0"/>
          </a:p>
        </p:txBody>
      </p:sp>
      <p:sp>
        <p:nvSpPr>
          <p:cNvPr id="59" name="Shape 57"/>
          <p:cNvSpPr/>
          <p:nvPr/>
        </p:nvSpPr>
        <p:spPr>
          <a:xfrm>
            <a:off x="457200" y="667512"/>
            <a:ext cx="8229600" cy="36576"/>
          </a:xfrm>
          <a:prstGeom prst="rect">
            <a:avLst/>
          </a:prstGeom>
          <a:solidFill>
            <a:srgbClr val="FFB3E0"/>
          </a:solidFill>
          <a:ln w="12700">
            <a:solidFill>
              <a:srgbClr val="FFB3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案件を受ける前に必ず確認してください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365760" y="1097280"/>
            <a:ext cx="4206240" cy="347472"/>
          </a:xfrm>
          <a:prstGeom prst="roundRect">
            <a:avLst>
              <a:gd name="adj" fmla="val 1842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10972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やっていいこと / 守ること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65760" y="1490472"/>
            <a:ext cx="4206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" y="1499616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競合他社の案件と重複していないか確認した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5760" y="1965960"/>
            <a:ext cx="4206240" cy="429768"/>
          </a:xfrm>
          <a:prstGeom prst="rect">
            <a:avLst/>
          </a:prstGeom>
          <a:solidFill>
            <a:srgbClr val="F5FFF7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5488" y="19751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案件情報・クライアント名は外部に一切話さない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2441448"/>
            <a:ext cx="4206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5488" y="2450592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第三者に仕事を回す場合は事前にTORIHADAへ相談する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65760" y="2916936"/>
            <a:ext cx="4206240" cy="429768"/>
          </a:xfrm>
          <a:prstGeom prst="rect">
            <a:avLst/>
          </a:prstGeom>
          <a:solidFill>
            <a:srgbClr val="F5FFF7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5488" y="292608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成果物の著作権はTORIHADAに帰属することを理解した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754880" y="1097280"/>
            <a:ext cx="4023360" cy="347472"/>
          </a:xfrm>
          <a:prstGeom prst="roundRect">
            <a:avLst>
              <a:gd name="adj" fmla="val 18421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54880" y="10972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🚫 絶対にやってはいけないこと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4754880" y="1490472"/>
            <a:ext cx="40233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FFCC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64608" y="1499616"/>
            <a:ext cx="3822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 SNSに「撮影楽しかった！」と案件を匂わせる投稿をする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754880" y="1965960"/>
            <a:ext cx="4023360" cy="429768"/>
          </a:xfrm>
          <a:prstGeom prst="rect">
            <a:avLst/>
          </a:prstGeom>
          <a:solidFill>
            <a:srgbClr val="FFF5F5"/>
          </a:solidFill>
          <a:ln w="6350">
            <a:solidFill>
              <a:srgbClr val="FFCCC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64608" y="1975104"/>
            <a:ext cx="3822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 仕事の途中でキャストを勝手に変更する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754880" y="2441448"/>
            <a:ext cx="40233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FFCCC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864608" y="2450592"/>
            <a:ext cx="3822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 納品後に自分のポートフォリオとして無断使用する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65760" y="35204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FE6F3"/>
          </a:solidFill>
          <a:ln w="19050">
            <a:solidFill>
              <a:srgbClr val="FF4DB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02920" y="3776838"/>
            <a:ext cx="8138160" cy="381853"/>
          </a:xfrm>
          <a:prstGeom prst="rect">
            <a:avLst/>
          </a:prstGeom>
          <a:solidFill>
            <a:srgbClr val="FFE455"/>
          </a:solidFill>
          <a:ln w="12700">
            <a:solidFill>
              <a:srgbClr val="FFE45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8640" y="356616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「知らなかった」は免責にならない。知っている責任がある。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73152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　動画③</a:t>
            </a:r>
            <a:endParaRPr lang="en-US" sz="2200" dirty="0"/>
          </a:p>
        </p:txBody>
      </p:sp>
      <p:sp>
        <p:nvSpPr>
          <p:cNvPr id="59" name="Shape 57"/>
          <p:cNvSpPr/>
          <p:nvPr/>
        </p:nvSpPr>
        <p:spPr>
          <a:xfrm>
            <a:off x="457200" y="1005840"/>
            <a:ext cx="594360" cy="59436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188720" y="914400"/>
            <a:ext cx="74980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371600" y="987552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守秘義務は契約終了後も1年間継続する（第19条・第27条）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457200" y="2148840"/>
            <a:ext cx="594360" cy="59436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188720" y="2057400"/>
            <a:ext cx="74980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371600" y="2130552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個人情報は目的範囲内のみで扱い、漏洩はすぐ報告（第16条）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457200" y="3291840"/>
            <a:ext cx="594360" cy="59436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188720" y="3200400"/>
            <a:ext cx="74980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371600" y="3273552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再委託・競合PR・匂わせ投稿はすべて禁止事項</a:t>
            </a:r>
            <a:endParaRPr lang="en-US" sz="1500" dirty="0"/>
          </a:p>
        </p:txBody>
      </p:sp>
      <p:pic>
        <p:nvPicPr>
          <p:cNvPr id="71" name="Image 0" descr="C:\Users\長澤開\Downloads\pptx-editor\public\illustrations\document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315200" y="3493008"/>
            <a:ext cx="1463040" cy="804672"/>
          </a:xfrm>
          <a:prstGeom prst="rect">
            <a:avLst/>
          </a:prstGeom>
        </p:spPr>
      </p:pic>
      <p:sp>
        <p:nvSpPr>
          <p:cNvPr id="72" name="Shape 69"/>
          <p:cNvSpPr/>
          <p:nvPr/>
        </p:nvSpPr>
        <p:spPr>
          <a:xfrm>
            <a:off x="365760" y="4370832"/>
            <a:ext cx="8412480" cy="548640"/>
          </a:xfrm>
          <a:prstGeom prst="roundRect">
            <a:avLst>
              <a:gd name="adj" fmla="val 11667"/>
            </a:avLst>
          </a:prstGeom>
          <a:solidFill>
            <a:srgbClr val="FFF0F5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502920" y="441655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 Next  |  動画④：契約書の読み方＆コーポレート連携フロー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4D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0" y="91440"/>
            <a:ext cx="41148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0" b="1" dirty="0">
                <a:solidFill>
                  <a:srgbClr val="FFFFFF">
                    <a:alpha val="80000"/>
                  </a:srgbClr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30000" dirty="0"/>
          </a:p>
        </p:txBody>
      </p:sp>
      <p:pic>
        <p:nvPicPr>
          <p:cNvPr id="3" name="Image 0" descr="C:\Users\長澤開\Downloads\pptx-editor\public\illustrations\document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400800" y="91440"/>
            <a:ext cx="2468880" cy="2194560"/>
          </a:xfrm>
          <a:prstGeom prst="rect">
            <a:avLst/>
          </a:prstGeom>
        </p:spPr>
      </p:pic>
      <p:pic>
        <p:nvPicPr>
          <p:cNvPr id="4" name="Image 1" descr="C:\Users\長澤開\Downloads\pptx-editor\public\illustrations\calendar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132320" y="3108960"/>
            <a:ext cx="1828800" cy="1828800"/>
          </a:xfrm>
          <a:prstGeom prst="rect">
            <a:avLst/>
          </a:prstGeom>
        </p:spPr>
      </p:pic>
      <p:pic>
        <p:nvPicPr>
          <p:cNvPr id="5" name="Image 2" descr="C:\Users\長澤開\Downloads\pptx-editor\public\illustrations\arrow.png">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82880" y="3474720"/>
            <a:ext cx="1645920" cy="155448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2743200" y="1371600"/>
            <a:ext cx="576072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926080" y="150876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契約書の読み方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＆コーポレート連携フロー</a:t>
            </a:r>
            <a:endParaRPr lang="en-US" sz="3200" dirty="0"/>
          </a:p>
        </p:txBody>
      </p:sp>
      <p:sp>
        <p:nvSpPr>
          <p:cNvPr id="8" name="Text 3"/>
          <p:cNvSpPr/>
          <p:nvPr/>
        </p:nvSpPr>
        <p:spPr>
          <a:xfrm>
            <a:off x="2926080" y="288036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自分を守るための知識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この動画で学ぶこと</a:t>
            </a:r>
            <a:endParaRPr lang="en-US" sz="3200" dirty="0"/>
          </a:p>
        </p:txBody>
      </p:sp>
      <p:sp>
        <p:nvSpPr>
          <p:cNvPr id="58" name="Shape 56"/>
          <p:cNvSpPr/>
          <p:nvPr/>
        </p:nvSpPr>
        <p:spPr>
          <a:xfrm>
            <a:off x="457200" y="850392"/>
            <a:ext cx="8229600" cy="36576"/>
          </a:xfrm>
          <a:prstGeom prst="rect">
            <a:avLst/>
          </a:prstGeom>
          <a:solidFill>
            <a:srgbClr val="FFB3E0"/>
          </a:solidFill>
          <a:ln w="12700">
            <a:solidFill>
              <a:srgbClr val="FFB3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" y="96012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60" name="Image 0" descr="C:\Users\長澤開\Downloads\pptx-editor\public\illustrations\contract-pe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680" y="1051560"/>
            <a:ext cx="1828800" cy="1417320"/>
          </a:xfrm>
          <a:prstGeom prst="rect">
            <a:avLst/>
          </a:prstGeom>
        </p:spPr>
      </p:pic>
      <p:sp>
        <p:nvSpPr>
          <p:cNvPr id="61" name="Shape 58"/>
          <p:cNvSpPr/>
          <p:nvPr/>
        </p:nvSpPr>
        <p:spPr>
          <a:xfrm>
            <a:off x="566928" y="2578608"/>
            <a:ext cx="548640" cy="54864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66928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800" dirty="0"/>
          </a:p>
        </p:txBody>
      </p:sp>
      <p:sp>
        <p:nvSpPr>
          <p:cNvPr id="63" name="Text 60"/>
          <p:cNvSpPr/>
          <p:nvPr/>
        </p:nvSpPr>
        <p:spPr>
          <a:xfrm>
            <a:off x="594360" y="3200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個別契約書の重要条項</a:t>
            </a:r>
            <a:endParaRPr lang="en-US" sz="1500" dirty="0"/>
          </a:p>
        </p:txBody>
      </p:sp>
      <p:sp>
        <p:nvSpPr>
          <p:cNvPr id="64" name="Text 61"/>
          <p:cNvSpPr/>
          <p:nvPr/>
        </p:nvSpPr>
        <p:spPr>
          <a:xfrm>
            <a:off x="594360" y="3794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何を確認すべきか・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サイン前のチェックポイント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3291840" y="96012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66" name="Image 1" descr="C:\Users\長澤開\Downloads\pptx-editor\public\illustrations\coins-mon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051560"/>
            <a:ext cx="1828800" cy="1417320"/>
          </a:xfrm>
          <a:prstGeom prst="rect">
            <a:avLst/>
          </a:prstGeom>
        </p:spPr>
      </p:pic>
      <p:sp>
        <p:nvSpPr>
          <p:cNvPr id="67" name="Shape 63"/>
          <p:cNvSpPr/>
          <p:nvPr/>
        </p:nvSpPr>
        <p:spPr>
          <a:xfrm>
            <a:off x="3401568" y="2578608"/>
            <a:ext cx="548640" cy="54864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3401568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800" dirty="0"/>
          </a:p>
        </p:txBody>
      </p:sp>
      <p:sp>
        <p:nvSpPr>
          <p:cNvPr id="69" name="Text 65"/>
          <p:cNvSpPr/>
          <p:nvPr/>
        </p:nvSpPr>
        <p:spPr>
          <a:xfrm>
            <a:off x="3429000" y="3200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報酬・支払いルール</a:t>
            </a:r>
            <a:endParaRPr lang="en-US" sz="1500" dirty="0"/>
          </a:p>
        </p:txBody>
      </p:sp>
      <p:sp>
        <p:nvSpPr>
          <p:cNvPr id="70" name="Text 66"/>
          <p:cNvSpPr/>
          <p:nvPr/>
        </p:nvSpPr>
        <p:spPr>
          <a:xfrm>
            <a:off x="3429000" y="3794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委託料の支払い期限・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遅延損害金・費用の扱い</a:t>
            </a:r>
            <a:endParaRPr lang="en-US" sz="1200" dirty="0"/>
          </a:p>
        </p:txBody>
      </p:sp>
      <p:sp>
        <p:nvSpPr>
          <p:cNvPr id="71" name="Shape 67"/>
          <p:cNvSpPr/>
          <p:nvPr/>
        </p:nvSpPr>
        <p:spPr>
          <a:xfrm>
            <a:off x="6126480" y="96012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72" name="Image 2" descr="C:\Users\長澤開\Downloads\pptx-editor\public\illustrations\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051560"/>
            <a:ext cx="1828800" cy="1417320"/>
          </a:xfrm>
          <a:prstGeom prst="rect">
            <a:avLst/>
          </a:prstGeom>
        </p:spPr>
      </p:pic>
      <p:sp>
        <p:nvSpPr>
          <p:cNvPr id="73" name="Shape 68"/>
          <p:cNvSpPr/>
          <p:nvPr/>
        </p:nvSpPr>
        <p:spPr>
          <a:xfrm>
            <a:off x="6236208" y="2578608"/>
            <a:ext cx="548640" cy="54864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74" name="Text 69"/>
          <p:cNvSpPr/>
          <p:nvPr/>
        </p:nvSpPr>
        <p:spPr>
          <a:xfrm>
            <a:off x="6236208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800" dirty="0"/>
          </a:p>
        </p:txBody>
      </p:sp>
      <p:sp>
        <p:nvSpPr>
          <p:cNvPr id="75" name="Text 70"/>
          <p:cNvSpPr/>
          <p:nvPr/>
        </p:nvSpPr>
        <p:spPr>
          <a:xfrm>
            <a:off x="6263640" y="3200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コーポレート連携フロー</a:t>
            </a:r>
            <a:endParaRPr lang="en-US" sz="1500" dirty="0"/>
          </a:p>
        </p:txBody>
      </p:sp>
      <p:sp>
        <p:nvSpPr>
          <p:cNvPr id="76" name="Text 71"/>
          <p:cNvSpPr/>
          <p:nvPr/>
        </p:nvSpPr>
        <p:spPr>
          <a:xfrm>
            <a:off x="6263640" y="3794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契約締結〜請求〜入金まで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の流れを把握する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1480" y="312725"/>
            <a:ext cx="7589520" cy="318211"/>
          </a:xfrm>
          <a:prstGeom prst="rect">
            <a:avLst/>
          </a:prstGeom>
          <a:solidFill>
            <a:srgbClr val="FFE455"/>
          </a:solidFill>
          <a:ln w="12700">
            <a:solidFill>
              <a:srgbClr val="FFE4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1371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個別契約書：サイン前に必ず確認すべき重要条項（第7条）</a:t>
            </a:r>
            <a:endParaRPr lang="en-US" sz="2100" dirty="0"/>
          </a:p>
        </p:txBody>
      </p:sp>
      <p:pic>
        <p:nvPicPr>
          <p:cNvPr id="59" name="Image 0" descr="C:\Users\長澤開\Downloads\pptx-editor\public\illustrations\contract-pen.svg">    </p:cNvPr>
          <p:cNvPicPr>
            <a:picLocks noChangeAspect="1"/>
          </p:cNvPicPr>
          <p:nvPr/>
        </p:nvPicPr>
        <p:blipFill>
          <a:blip r:embed="rId1">
            <a:alphaModFix amt="9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55280" y="0"/>
            <a:ext cx="1097280" cy="1143000"/>
          </a:xfrm>
          <a:prstGeom prst="rect">
            <a:avLst/>
          </a:prstGeom>
        </p:spPr>
      </p:pic>
      <p:sp>
        <p:nvSpPr>
          <p:cNvPr id="60" name="Shape 57"/>
          <p:cNvSpPr/>
          <p:nvPr/>
        </p:nvSpPr>
        <p:spPr>
          <a:xfrm>
            <a:off x="457200" y="667512"/>
            <a:ext cx="8229600" cy="36576"/>
          </a:xfrm>
          <a:prstGeom prst="rect">
            <a:avLst/>
          </a:prstGeom>
          <a:solidFill>
            <a:srgbClr val="FFB3E0"/>
          </a:solidFill>
          <a:ln w="12700">
            <a:solidFill>
              <a:srgbClr val="FFB3E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65760" y="822960"/>
            <a:ext cx="4160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457200" y="914400"/>
            <a:ext cx="502920" cy="502920"/>
          </a:xfrm>
          <a:prstGeom prst="ellipse">
            <a:avLst/>
          </a:prstGeom>
          <a:solidFill>
            <a:srgbClr val="FFE6F3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5720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3931920" y="91440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E6F3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931920" y="914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第7条①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1051560" y="93268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委託業務の内容・範囲</a:t>
            </a:r>
            <a:endParaRPr lang="en-US" sz="1400" dirty="0"/>
          </a:p>
        </p:txBody>
      </p:sp>
      <p:sp>
        <p:nvSpPr>
          <p:cNvPr id="67" name="Text 64"/>
          <p:cNvSpPr/>
          <p:nvPr/>
        </p:nvSpPr>
        <p:spPr>
          <a:xfrm>
            <a:off x="457200" y="141732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何をどこまでやるか。「その他付随する業務」の範囲も要チェック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4754880" y="822960"/>
            <a:ext cx="4160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9" name="Shape 66"/>
          <p:cNvSpPr/>
          <p:nvPr/>
        </p:nvSpPr>
        <p:spPr>
          <a:xfrm>
            <a:off x="4846320" y="914400"/>
            <a:ext cx="502920" cy="502920"/>
          </a:xfrm>
          <a:prstGeom prst="ellipse">
            <a:avLst/>
          </a:prstGeom>
          <a:solidFill>
            <a:srgbClr val="FFE6F3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84632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8321040" y="91440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E6F3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8321040" y="914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第7条②③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5440680" y="93268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納入期限・作業スケジュール</a:t>
            </a:r>
            <a:endParaRPr lang="en-US" sz="1400" dirty="0"/>
          </a:p>
        </p:txBody>
      </p:sp>
      <p:sp>
        <p:nvSpPr>
          <p:cNvPr id="74" name="Text 71"/>
          <p:cNvSpPr/>
          <p:nvPr/>
        </p:nvSpPr>
        <p:spPr>
          <a:xfrm>
            <a:off x="4846320" y="141732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いつまでに何を納品するか。遅延すると契約不適合責任が生じる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365760" y="2240280"/>
            <a:ext cx="4160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57200" y="2331720"/>
            <a:ext cx="502920" cy="502920"/>
          </a:xfrm>
          <a:prstGeom prst="ellipse">
            <a:avLst/>
          </a:prstGeom>
          <a:solidFill>
            <a:srgbClr val="FFE6F3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45720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600" dirty="0"/>
          </a:p>
        </p:txBody>
      </p:sp>
      <p:sp>
        <p:nvSpPr>
          <p:cNvPr id="78" name="Shape 75"/>
          <p:cNvSpPr/>
          <p:nvPr/>
        </p:nvSpPr>
        <p:spPr>
          <a:xfrm>
            <a:off x="3931920" y="233172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E6F3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3931920" y="2331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第7条⑥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1051560" y="23500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委託料・支払い方法</a:t>
            </a:r>
            <a:endParaRPr lang="en-US" sz="1400" dirty="0"/>
          </a:p>
        </p:txBody>
      </p:sp>
      <p:sp>
        <p:nvSpPr>
          <p:cNvPr id="81" name="Text 78"/>
          <p:cNvSpPr/>
          <p:nvPr/>
        </p:nvSpPr>
        <p:spPr>
          <a:xfrm>
            <a:off x="457200" y="283464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いくら・いつ・どの口座に。下請法対象者は60日以内</a:t>
            </a:r>
            <a:endParaRPr lang="en-US" sz="1100" dirty="0"/>
          </a:p>
        </p:txBody>
      </p:sp>
      <p:sp>
        <p:nvSpPr>
          <p:cNvPr id="82" name="Shape 79"/>
          <p:cNvSpPr/>
          <p:nvPr/>
        </p:nvSpPr>
        <p:spPr>
          <a:xfrm>
            <a:off x="4754880" y="2240280"/>
            <a:ext cx="4160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3" name="Shape 80"/>
          <p:cNvSpPr/>
          <p:nvPr/>
        </p:nvSpPr>
        <p:spPr>
          <a:xfrm>
            <a:off x="4846320" y="2331720"/>
            <a:ext cx="502920" cy="502920"/>
          </a:xfrm>
          <a:prstGeom prst="ellipse">
            <a:avLst/>
          </a:prstGeom>
          <a:solidFill>
            <a:srgbClr val="FFE6F3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484632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</a:t>
            </a:r>
            <a:endParaRPr lang="en-US" sz="1600" dirty="0"/>
          </a:p>
        </p:txBody>
      </p:sp>
      <p:sp>
        <p:nvSpPr>
          <p:cNvPr id="85" name="Shape 82"/>
          <p:cNvSpPr/>
          <p:nvPr/>
        </p:nvSpPr>
        <p:spPr>
          <a:xfrm>
            <a:off x="8321040" y="233172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E6F3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8321040" y="2331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第7条⑨</a:t>
            </a:r>
            <a:endParaRPr lang="en-US" sz="900" dirty="0"/>
          </a:p>
        </p:txBody>
      </p:sp>
      <p:sp>
        <p:nvSpPr>
          <p:cNvPr id="87" name="Text 84"/>
          <p:cNvSpPr/>
          <p:nvPr/>
        </p:nvSpPr>
        <p:spPr>
          <a:xfrm>
            <a:off x="5440680" y="23500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著作権・二次利用の扱い</a:t>
            </a:r>
            <a:endParaRPr lang="en-US" sz="1400" dirty="0"/>
          </a:p>
        </p:txBody>
      </p:sp>
      <p:sp>
        <p:nvSpPr>
          <p:cNvPr id="88" name="Text 85"/>
          <p:cNvSpPr/>
          <p:nvPr/>
        </p:nvSpPr>
        <p:spPr>
          <a:xfrm>
            <a:off x="4846320" y="283464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成果物の著作権はTORIHADAへ帰属。二次利用の範囲も確認必須</a:t>
            </a:r>
            <a:endParaRPr lang="en-US" sz="1100" dirty="0"/>
          </a:p>
        </p:txBody>
      </p:sp>
      <p:sp>
        <p:nvSpPr>
          <p:cNvPr id="89" name="Shape 86"/>
          <p:cNvSpPr/>
          <p:nvPr/>
        </p:nvSpPr>
        <p:spPr>
          <a:xfrm>
            <a:off x="365760" y="3657600"/>
            <a:ext cx="4160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0" name="Shape 87"/>
          <p:cNvSpPr/>
          <p:nvPr/>
        </p:nvSpPr>
        <p:spPr>
          <a:xfrm>
            <a:off x="457200" y="3749040"/>
            <a:ext cx="502920" cy="502920"/>
          </a:xfrm>
          <a:prstGeom prst="ellipse">
            <a:avLst/>
          </a:prstGeom>
          <a:solidFill>
            <a:srgbClr val="FFE6F3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45720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</a:t>
            </a:r>
            <a:endParaRPr lang="en-US" sz="1600" dirty="0"/>
          </a:p>
        </p:txBody>
      </p:sp>
      <p:sp>
        <p:nvSpPr>
          <p:cNvPr id="92" name="Shape 89"/>
          <p:cNvSpPr/>
          <p:nvPr/>
        </p:nvSpPr>
        <p:spPr>
          <a:xfrm>
            <a:off x="3931920" y="374904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E6F3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3931920" y="37490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第7条⑦⑧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1051560" y="37673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肖像等の使用期間・範囲</a:t>
            </a:r>
            <a:endParaRPr lang="en-US" sz="1400" dirty="0"/>
          </a:p>
        </p:txBody>
      </p:sp>
      <p:sp>
        <p:nvSpPr>
          <p:cNvPr id="95" name="Text 92"/>
          <p:cNvSpPr/>
          <p:nvPr/>
        </p:nvSpPr>
        <p:spPr>
          <a:xfrm>
            <a:off x="457200" y="425196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いつまで・どの媒体で自分の顔・名前が使われるかを必ず確認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4754880" y="3657600"/>
            <a:ext cx="4160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4846320" y="3749040"/>
            <a:ext cx="502920" cy="502920"/>
          </a:xfrm>
          <a:prstGeom prst="ellipse">
            <a:avLst/>
          </a:prstGeom>
          <a:solidFill>
            <a:srgbClr val="FFE6F3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484632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</a:t>
            </a:r>
            <a:endParaRPr lang="en-US" sz="1600" dirty="0"/>
          </a:p>
        </p:txBody>
      </p:sp>
      <p:sp>
        <p:nvSpPr>
          <p:cNvPr id="99" name="Shape 96"/>
          <p:cNvSpPr/>
          <p:nvPr/>
        </p:nvSpPr>
        <p:spPr>
          <a:xfrm>
            <a:off x="8321040" y="374904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E6F3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8321040" y="37490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第22条</a:t>
            </a:r>
            <a:endParaRPr lang="en-US" sz="900" dirty="0"/>
          </a:p>
        </p:txBody>
      </p:sp>
      <p:sp>
        <p:nvSpPr>
          <p:cNvPr id="101" name="Text 98"/>
          <p:cNvSpPr/>
          <p:nvPr/>
        </p:nvSpPr>
        <p:spPr>
          <a:xfrm>
            <a:off x="5440680" y="37673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解除・キャンセル条件</a:t>
            </a:r>
            <a:endParaRPr lang="en-US" sz="1400" dirty="0"/>
          </a:p>
        </p:txBody>
      </p:sp>
      <p:sp>
        <p:nvSpPr>
          <p:cNvPr id="102" name="Text 99"/>
          <p:cNvSpPr/>
          <p:nvPr/>
        </p:nvSpPr>
        <p:spPr>
          <a:xfrm>
            <a:off x="4846320" y="425196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どんな場合に契約が終了するか。催告なし解除のケースは特に注意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1480" y="373075"/>
            <a:ext cx="8321040" cy="344729"/>
          </a:xfrm>
          <a:prstGeom prst="rect">
            <a:avLst/>
          </a:prstGeom>
          <a:solidFill>
            <a:srgbClr val="FFE455"/>
          </a:solidFill>
          <a:ln w="12700">
            <a:solidFill>
              <a:srgbClr val="FFE4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報酬受け取りまでの流れ</a:t>
            </a:r>
            <a:endParaRPr lang="en-US" sz="2800" dirty="0"/>
          </a:p>
        </p:txBody>
      </p:sp>
      <p:sp>
        <p:nvSpPr>
          <p:cNvPr id="59" name="Shape 57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FFB3E0"/>
          </a:solidFill>
          <a:ln w="12700">
            <a:solidFill>
              <a:srgbClr val="FFB3E0"/>
            </a:solidFill>
            <a:prstDash val="solid"/>
          </a:ln>
        </p:spPr>
      </p:sp>
      <p:pic>
        <p:nvPicPr>
          <p:cNvPr id="60" name="Image 0" descr="C:\Users\長澤開\Downloads\pptx-editor\public\illustrations\coins-money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132320" y="822960"/>
            <a:ext cx="1828800" cy="1463040"/>
          </a:xfrm>
          <a:prstGeom prst="rect">
            <a:avLst/>
          </a:prstGeom>
        </p:spPr>
      </p:pic>
      <p:sp>
        <p:nvSpPr>
          <p:cNvPr id="61" name="Shape 58"/>
          <p:cNvSpPr/>
          <p:nvPr/>
        </p:nvSpPr>
        <p:spPr>
          <a:xfrm>
            <a:off x="731520" y="2331720"/>
            <a:ext cx="7772400" cy="0"/>
          </a:xfrm>
          <a:prstGeom prst="line">
            <a:avLst/>
          </a:prstGeom>
          <a:noFill/>
          <a:ln w="38100">
            <a:solidFill>
              <a:srgbClr val="FF4DB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05840" y="2194560"/>
            <a:ext cx="274320" cy="27432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85800" y="86868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📨</a:t>
            </a:r>
            <a:endParaRPr lang="en-US" sz="4000" dirty="0"/>
          </a:p>
        </p:txBody>
      </p:sp>
      <p:sp>
        <p:nvSpPr>
          <p:cNvPr id="64" name="Shape 61"/>
          <p:cNvSpPr/>
          <p:nvPr/>
        </p:nvSpPr>
        <p:spPr>
          <a:xfrm>
            <a:off x="685800" y="256032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9050">
            <a:solidFill>
              <a:srgbClr val="FF4DB8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85800" y="256032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640080" y="30632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案件オファー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640080" y="37033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TORIHADAから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メール・チャットで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案件情報が届く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2606040" y="2194560"/>
            <a:ext cx="274320" cy="27432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286000" y="86868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✍️</a:t>
            </a:r>
            <a:endParaRPr lang="en-US" sz="4000" dirty="0"/>
          </a:p>
        </p:txBody>
      </p:sp>
      <p:sp>
        <p:nvSpPr>
          <p:cNvPr id="70" name="Shape 67"/>
          <p:cNvSpPr/>
          <p:nvPr/>
        </p:nvSpPr>
        <p:spPr>
          <a:xfrm>
            <a:off x="2286000" y="256032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9050">
            <a:solidFill>
              <a:srgbClr val="FF4DB8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2286000" y="256032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100" dirty="0"/>
          </a:p>
        </p:txBody>
      </p:sp>
      <p:sp>
        <p:nvSpPr>
          <p:cNvPr id="72" name="Text 69"/>
          <p:cNvSpPr/>
          <p:nvPr/>
        </p:nvSpPr>
        <p:spPr>
          <a:xfrm>
            <a:off x="2240280" y="30632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個別契約書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への合意</a:t>
            </a:r>
            <a:endParaRPr lang="en-US" sz="1200" dirty="0"/>
          </a:p>
        </p:txBody>
      </p:sp>
      <p:sp>
        <p:nvSpPr>
          <p:cNvPr id="73" name="Text 70"/>
          <p:cNvSpPr/>
          <p:nvPr/>
        </p:nvSpPr>
        <p:spPr>
          <a:xfrm>
            <a:off x="2240280" y="37033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電子押印または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書面でサイン・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締結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4206240" y="2194560"/>
            <a:ext cx="274320" cy="27432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3886200" y="86868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🎬</a:t>
            </a:r>
            <a:endParaRPr lang="en-US" sz="4000" dirty="0"/>
          </a:p>
        </p:txBody>
      </p:sp>
      <p:sp>
        <p:nvSpPr>
          <p:cNvPr id="76" name="Shape 73"/>
          <p:cNvSpPr/>
          <p:nvPr/>
        </p:nvSpPr>
        <p:spPr>
          <a:xfrm>
            <a:off x="3886200" y="256032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9050">
            <a:solidFill>
              <a:srgbClr val="FF4DB8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3886200" y="256032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1100" dirty="0"/>
          </a:p>
        </p:txBody>
      </p:sp>
      <p:sp>
        <p:nvSpPr>
          <p:cNvPr id="78" name="Text 75"/>
          <p:cNvSpPr/>
          <p:nvPr/>
        </p:nvSpPr>
        <p:spPr>
          <a:xfrm>
            <a:off x="3840480" y="30632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業務遂行・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納品</a:t>
            </a:r>
            <a:endParaRPr lang="en-US" sz="1200" dirty="0"/>
          </a:p>
        </p:txBody>
      </p:sp>
      <p:sp>
        <p:nvSpPr>
          <p:cNvPr id="79" name="Text 76"/>
          <p:cNvSpPr/>
          <p:nvPr/>
        </p:nvSpPr>
        <p:spPr>
          <a:xfrm>
            <a:off x="3840480" y="37033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期限内に成果物を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納品。検収7営業日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5806440" y="2194560"/>
            <a:ext cx="274320" cy="27432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486400" y="86868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🧾</a:t>
            </a:r>
            <a:endParaRPr lang="en-US" sz="4000" dirty="0"/>
          </a:p>
        </p:txBody>
      </p:sp>
      <p:sp>
        <p:nvSpPr>
          <p:cNvPr id="82" name="Shape 79"/>
          <p:cNvSpPr/>
          <p:nvPr/>
        </p:nvSpPr>
        <p:spPr>
          <a:xfrm>
            <a:off x="5486400" y="256032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9050">
            <a:solidFill>
              <a:srgbClr val="FF4DB8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5486400" y="256032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</a:t>
            </a:r>
            <a:endParaRPr lang="en-US" sz="1100" dirty="0"/>
          </a:p>
        </p:txBody>
      </p:sp>
      <p:sp>
        <p:nvSpPr>
          <p:cNvPr id="84" name="Text 81"/>
          <p:cNvSpPr/>
          <p:nvPr/>
        </p:nvSpPr>
        <p:spPr>
          <a:xfrm>
            <a:off x="5440680" y="30632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</a:t>
            </a:r>
            <a:endParaRPr lang="en-US" sz="1200" dirty="0"/>
          </a:p>
        </p:txBody>
      </p:sp>
      <p:sp>
        <p:nvSpPr>
          <p:cNvPr id="85" name="Text 82"/>
          <p:cNvSpPr/>
          <p:nvPr/>
        </p:nvSpPr>
        <p:spPr>
          <a:xfrm>
            <a:off x="5440680" y="37033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所定フォームで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TORIHADA担当者へ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7406640" y="2194560"/>
            <a:ext cx="274320" cy="274320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7086600" y="86868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💰</a:t>
            </a:r>
            <a:endParaRPr lang="en-US" sz="4000" dirty="0"/>
          </a:p>
        </p:txBody>
      </p:sp>
      <p:sp>
        <p:nvSpPr>
          <p:cNvPr id="88" name="Shape 85"/>
          <p:cNvSpPr/>
          <p:nvPr/>
        </p:nvSpPr>
        <p:spPr>
          <a:xfrm>
            <a:off x="7086600" y="256032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9050">
            <a:solidFill>
              <a:srgbClr val="FF4DB8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7086600" y="256032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5</a:t>
            </a:r>
            <a:endParaRPr lang="en-US" sz="1100" dirty="0"/>
          </a:p>
        </p:txBody>
      </p:sp>
      <p:sp>
        <p:nvSpPr>
          <p:cNvPr id="90" name="Text 87"/>
          <p:cNvSpPr/>
          <p:nvPr/>
        </p:nvSpPr>
        <p:spPr>
          <a:xfrm>
            <a:off x="7040880" y="30632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報酬振込</a:t>
            </a:r>
            <a:endParaRPr lang="en-US" sz="1200" dirty="0"/>
          </a:p>
        </p:txBody>
      </p:sp>
      <p:sp>
        <p:nvSpPr>
          <p:cNvPr id="91" name="Text 88"/>
          <p:cNvSpPr/>
          <p:nvPr/>
        </p:nvSpPr>
        <p:spPr>
          <a:xfrm>
            <a:off x="7040880" y="37033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個別契約の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支払い期日に振込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1480" y="373075"/>
            <a:ext cx="8321040" cy="344729"/>
          </a:xfrm>
          <a:prstGeom prst="rect">
            <a:avLst/>
          </a:prstGeom>
          <a:solidFill>
            <a:srgbClr val="FFE455"/>
          </a:solidFill>
          <a:ln w="12700">
            <a:solidFill>
              <a:srgbClr val="FFE4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お金に関する重要ルール</a:t>
            </a:r>
            <a:endParaRPr lang="en-US" sz="2800" dirty="0"/>
          </a:p>
        </p:txBody>
      </p:sp>
      <p:sp>
        <p:nvSpPr>
          <p:cNvPr id="59" name="Shape 57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FFB3E0"/>
          </a:solidFill>
          <a:ln w="12700">
            <a:solidFill>
              <a:srgbClr val="FFB3E0"/>
            </a:solidFill>
            <a:prstDash val="solid"/>
          </a:ln>
        </p:spPr>
      </p:sp>
      <p:pic>
        <p:nvPicPr>
          <p:cNvPr id="60" name="Image 0" descr="C:\Users\長澤開\Downloads\pptx-editor\public\illustrations\coins-money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91440" y="1280160"/>
            <a:ext cx="2103120" cy="1737360"/>
          </a:xfrm>
          <a:prstGeom prst="rect">
            <a:avLst/>
          </a:prstGeom>
        </p:spPr>
      </p:pic>
      <p:sp>
        <p:nvSpPr>
          <p:cNvPr id="61" name="Shape 58"/>
          <p:cNvSpPr/>
          <p:nvPr/>
        </p:nvSpPr>
        <p:spPr>
          <a:xfrm>
            <a:off x="2651760" y="914400"/>
            <a:ext cx="6217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2743200" y="1024128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FFE6F3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2743200" y="102412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第11条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3611880" y="102412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支払いは60日以内</a:t>
            </a:r>
            <a:endParaRPr lang="en-US" sz="1300" dirty="0"/>
          </a:p>
        </p:txBody>
      </p:sp>
      <p:sp>
        <p:nvSpPr>
          <p:cNvPr id="65" name="Text 62"/>
          <p:cNvSpPr/>
          <p:nvPr/>
        </p:nvSpPr>
        <p:spPr>
          <a:xfrm>
            <a:off x="2743200" y="14173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業務遂行費用の確定から60日以内が原則。これを超える場合は遅延損害金が発生。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2651760" y="1920240"/>
            <a:ext cx="6217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2743200" y="2029968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FFE6F3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2743200" y="202996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第7条</a:t>
            </a:r>
            <a:endParaRPr lang="en-US" sz="1100" dirty="0"/>
          </a:p>
        </p:txBody>
      </p:sp>
      <p:sp>
        <p:nvSpPr>
          <p:cNvPr id="69" name="Text 66"/>
          <p:cNvSpPr/>
          <p:nvPr/>
        </p:nvSpPr>
        <p:spPr>
          <a:xfrm>
            <a:off x="3611880" y="202996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業務遂行費用はクリエイター負担</a:t>
            </a:r>
            <a:endParaRPr lang="en-US" sz="1300" dirty="0"/>
          </a:p>
        </p:txBody>
      </p:sp>
      <p:sp>
        <p:nvSpPr>
          <p:cNvPr id="70" name="Text 67"/>
          <p:cNvSpPr/>
          <p:nvPr/>
        </p:nvSpPr>
        <p:spPr>
          <a:xfrm>
            <a:off x="2743200" y="24231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交通費・機材費・スタジオ代など業務に必要な費用は原則クリエイター負担。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2651760" y="2926080"/>
            <a:ext cx="6217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72" name="Shape 69"/>
          <p:cNvSpPr/>
          <p:nvPr/>
        </p:nvSpPr>
        <p:spPr>
          <a:xfrm>
            <a:off x="2743200" y="3035808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FFE6F3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2743200" y="303580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第11条</a:t>
            </a:r>
            <a:endParaRPr lang="en-US" sz="1100" dirty="0"/>
          </a:p>
        </p:txBody>
      </p:sp>
      <p:sp>
        <p:nvSpPr>
          <p:cNvPr id="74" name="Text 71"/>
          <p:cNvSpPr/>
          <p:nvPr/>
        </p:nvSpPr>
        <p:spPr>
          <a:xfrm>
            <a:off x="3611880" y="30358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遅延時は年3%の損害金</a:t>
            </a:r>
            <a:endParaRPr lang="en-US" sz="1300" dirty="0"/>
          </a:p>
        </p:txBody>
      </p:sp>
      <p:sp>
        <p:nvSpPr>
          <p:cNvPr id="75" name="Text 72"/>
          <p:cNvSpPr/>
          <p:nvPr/>
        </p:nvSpPr>
        <p:spPr>
          <a:xfrm>
            <a:off x="2743200" y="34290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TORIHADAが支払いを遅延した場合、年3%の遅延損害金を請求できる。</a:t>
            </a:r>
            <a:endParaRPr lang="en-US" sz="1100" dirty="0"/>
          </a:p>
        </p:txBody>
      </p:sp>
      <p:sp>
        <p:nvSpPr>
          <p:cNvPr id="76" name="Shape 73"/>
          <p:cNvSpPr/>
          <p:nvPr/>
        </p:nvSpPr>
        <p:spPr>
          <a:xfrm>
            <a:off x="2651760" y="3931920"/>
            <a:ext cx="6217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77" name="Shape 74"/>
          <p:cNvSpPr/>
          <p:nvPr/>
        </p:nvSpPr>
        <p:spPr>
          <a:xfrm>
            <a:off x="2743200" y="4041648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FFE6F3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2743200" y="404164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第7条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3611880" y="404164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変更は必ず書面で合意</a:t>
            </a:r>
            <a:endParaRPr lang="en-US" sz="1300" dirty="0"/>
          </a:p>
        </p:txBody>
      </p:sp>
      <p:sp>
        <p:nvSpPr>
          <p:cNvPr id="80" name="Text 77"/>
          <p:cNvSpPr/>
          <p:nvPr/>
        </p:nvSpPr>
        <p:spPr>
          <a:xfrm>
            <a:off x="2743200" y="44348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委託料の変更は必ず書面または電磁的方法による合意が必要。口頭合意は無効。</a:t>
            </a:r>
            <a:endParaRPr lang="en-US" sz="1100" dirty="0"/>
          </a:p>
        </p:txBody>
      </p:sp>
      <p:sp>
        <p:nvSpPr>
          <p:cNvPr id="81" name="Shape 78"/>
          <p:cNvSpPr/>
          <p:nvPr/>
        </p:nvSpPr>
        <p:spPr>
          <a:xfrm>
            <a:off x="365760" y="4828032"/>
            <a:ext cx="8412480" cy="228600"/>
          </a:xfrm>
          <a:prstGeom prst="roundRect">
            <a:avLst>
              <a:gd name="adj" fmla="val 28000"/>
            </a:avLst>
          </a:prstGeom>
          <a:solidFill>
            <a:srgbClr val="FFE6F3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57200" y="4828032"/>
            <a:ext cx="731520" cy="228600"/>
          </a:xfrm>
          <a:prstGeom prst="roundRect">
            <a:avLst/>
          </a:prstGeom>
          <a:solidFill>
            <a:srgbClr val="FF4DB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✏️ 更新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1234440" y="4846320"/>
            <a:ext cx="7452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4D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不明点はTORIHADA担当者へ確認・相談してください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第1週の研修　お疲れさまでした！</a:t>
            </a:r>
            <a:endParaRPr lang="en-US" sz="3000" dirty="0"/>
          </a:p>
        </p:txBody>
      </p:sp>
      <p:sp>
        <p:nvSpPr>
          <p:cNvPr id="59" name="Text 57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TORIHADA クリエイターネットワーク研修</a:t>
            </a:r>
            <a:endParaRPr lang="en-US" sz="1400" dirty="0"/>
          </a:p>
        </p:txBody>
      </p:sp>
      <p:pic>
        <p:nvPicPr>
          <p:cNvPr id="60" name="Image 0" descr="C:\Users\長澤開\Downloads\pptx-editor\public\illustrations\handshak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91440" y="1417320"/>
            <a:ext cx="2011680" cy="1508760"/>
          </a:xfrm>
          <a:prstGeom prst="rect">
            <a:avLst/>
          </a:prstGeom>
        </p:spPr>
      </p:pic>
      <p:pic>
        <p:nvPicPr>
          <p:cNvPr id="61" name="Image 1" descr="C:\Users\長澤開\Downloads\pptx-editor\public\illustrations\growth-graph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6675120" y="1371600"/>
            <a:ext cx="2286000" cy="1828800"/>
          </a:xfrm>
          <a:prstGeom prst="rect">
            <a:avLst/>
          </a:prstGeom>
        </p:spPr>
      </p:pic>
      <p:pic>
        <p:nvPicPr>
          <p:cNvPr id="62" name="Image 2" descr="C:\Users\長澤開\Downloads\pptx-editor\public\illustrations\star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3931920" y="1645920"/>
            <a:ext cx="1188720" cy="1188720"/>
          </a:xfrm>
          <a:prstGeom prst="rect">
            <a:avLst/>
          </a:prstGeom>
        </p:spPr>
      </p:pic>
      <p:sp>
        <p:nvSpPr>
          <p:cNvPr id="63" name="Shape 58"/>
          <p:cNvSpPr/>
          <p:nvPr/>
        </p:nvSpPr>
        <p:spPr>
          <a:xfrm>
            <a:off x="1645920" y="2834640"/>
            <a:ext cx="58521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1097280" y="2852928"/>
            <a:ext cx="475488" cy="475488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1097280" y="2852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66" name="Text 61"/>
          <p:cNvSpPr/>
          <p:nvPr/>
        </p:nvSpPr>
        <p:spPr>
          <a:xfrm>
            <a:off x="1828800" y="2871216"/>
            <a:ext cx="5486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契約書は6つのポイントを必ず確認してからサインする</a:t>
            </a:r>
            <a:endParaRPr lang="en-US" sz="1300" dirty="0"/>
          </a:p>
        </p:txBody>
      </p:sp>
      <p:sp>
        <p:nvSpPr>
          <p:cNvPr id="67" name="Shape 62"/>
          <p:cNvSpPr/>
          <p:nvPr/>
        </p:nvSpPr>
        <p:spPr>
          <a:xfrm>
            <a:off x="1645920" y="3401568"/>
            <a:ext cx="58521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1097280" y="3419856"/>
            <a:ext cx="475488" cy="475488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1097280" y="3419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70" name="Text 65"/>
          <p:cNvSpPr/>
          <p:nvPr/>
        </p:nvSpPr>
        <p:spPr>
          <a:xfrm>
            <a:off x="1828800" y="3438144"/>
            <a:ext cx="5486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業務費用はクリエイター負担。変更は書面合意が必須</a:t>
            </a:r>
            <a:endParaRPr lang="en-US" sz="1300" dirty="0"/>
          </a:p>
        </p:txBody>
      </p:sp>
      <p:sp>
        <p:nvSpPr>
          <p:cNvPr id="71" name="Shape 66"/>
          <p:cNvSpPr/>
          <p:nvPr/>
        </p:nvSpPr>
        <p:spPr>
          <a:xfrm>
            <a:off x="1645920" y="3968496"/>
            <a:ext cx="58521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E8C0DA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1097280" y="3986784"/>
            <a:ext cx="475488" cy="475488"/>
          </a:xfrm>
          <a:prstGeom prst="ellipse">
            <a:avLst/>
          </a:prstGeom>
          <a:solidFill>
            <a:srgbClr val="FF4DB8"/>
          </a:solidFill>
          <a:ln w="12700">
            <a:solidFill>
              <a:srgbClr val="FF4DB8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>
            <a:off x="1097280" y="3986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74" name="Text 69"/>
          <p:cNvSpPr/>
          <p:nvPr/>
        </p:nvSpPr>
        <p:spPr>
          <a:xfrm>
            <a:off x="1828800" y="4005072"/>
            <a:ext cx="5486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フローはSTEP1〜5。不明点はTORIHADA担当者へ確認・相談する</a:t>
            </a:r>
            <a:endParaRPr lang="en-US" sz="1300" dirty="0"/>
          </a:p>
        </p:txBody>
      </p:sp>
      <p:sp>
        <p:nvSpPr>
          <p:cNvPr id="75" name="Shape 70"/>
          <p:cNvSpPr/>
          <p:nvPr/>
        </p:nvSpPr>
        <p:spPr>
          <a:xfrm>
            <a:off x="868680" y="4718304"/>
            <a:ext cx="7406640" cy="265176"/>
          </a:xfrm>
          <a:prstGeom prst="rect">
            <a:avLst/>
          </a:prstGeom>
          <a:solidFill>
            <a:srgbClr val="FFE455"/>
          </a:solidFill>
          <a:ln w="12700">
            <a:solidFill>
              <a:srgbClr val="FFE455"/>
            </a:solidFill>
            <a:prstDash val="solid"/>
          </a:ln>
        </p:spPr>
      </p:sp>
      <p:sp>
        <p:nvSpPr>
          <p:cNvPr id="76" name="Text 71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才能が扉を開く。あなたを部屋に留まらせるのは、プロとしての信頼です。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TORIHADA クリエイターネットワーク研修 第1週</dc:title>
  <dc:subject>PptxGenJS Presentation</dc:subject>
  <dc:creator>PptxGenJS</dc:creator>
  <cp:lastModifiedBy>PptxGenJS</cp:lastModifiedBy>
  <cp:revision>1</cp:revision>
  <dcterms:created xsi:type="dcterms:W3CDTF">2026-05-25T14:57:11Z</dcterms:created>
  <dcterms:modified xsi:type="dcterms:W3CDTF">2026-05-25T14:57:11Z</dcterms:modified>
</cp:coreProperties>
</file>